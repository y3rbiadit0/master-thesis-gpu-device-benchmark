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67" r:id="rId18"/>
    <p:sldId id="275" r:id="rId26"/>
    <p:sldId id="269" r:id="rId20"/>
    <p:sldId id="270" r:id="rId21"/>
    <p:sldId id="268" r:id="rId19"/>
    <p:sldId id="274" r:id="rId25"/>
    <p:sldId id="272" r:id="rId23"/>
    <p:sldId id="276" r:id="rId27"/>
    <p:sldId id="277" r:id="rId28"/>
    <p:sldId id="279" r:id="rId30"/>
    <p:sldId id="278" r:id="rId29"/>
    <p:sldId id="280" r:id="rId31"/>
    <p:sldId id="283" r:id="rId34"/>
    <p:sldId id="260" r:id="rId11"/>
    <p:sldId id="263" r:id="rId14"/>
    <p:sldId id="264" r:id="rId15"/>
    <p:sldId id="273" r:id="rId24"/>
    <p:sldId id="271" r:id="rId22"/>
    <p:sldId id="281" r:id="rId32"/>
  </p:sldIdLst>
  <p:sldSz cy="5143500" cx="9144000"/>
  <p:notesSz cx="6858000" cy="9144000"/>
  <p:embeddedFontLst>
    <p:embeddedFont>
      <p:font typeface="Proxima Nova"/>
      <p:regular r:id="rId56"/>
      <p:bold r:id="rId57"/>
      <p:italic r:id="rId58"/>
      <p:boldItalic r:id="rId59"/>
    </p:embeddedFont>
    <p:embeddedFont>
      <p:font typeface="Roboto Medium"/>
      <p:regular r:id="rId60"/>
      <p:bold r:id="rId61"/>
      <p:italic r:id="rId62"/>
      <p:boldItalic r:id="rId63"/>
    </p:embeddedFont>
    <p:embeddedFont>
      <p:font typeface="Amatic SC"/>
      <p:regular r:id="rId64"/>
      <p:bold r:id="rId65"/>
    </p:embeddedFont>
    <p:embeddedFont>
      <p:font typeface="Public Sans"/>
      <p:regular r:id="rId66"/>
      <p:bold r:id="rId67"/>
      <p:italic r:id="rId68"/>
      <p:boldItalic r:id="rId69"/>
    </p:embeddedFont>
    <p:embeddedFont>
      <p:font typeface="Commissioner"/>
      <p:regular r:id="rId70"/>
      <p:bold r:id="rId71"/>
    </p:embeddedFont>
    <p:embeddedFont>
      <p:font typeface="DM Sans"/>
      <p:regular r:id="rId72"/>
      <p:bold r:id="rId73"/>
      <p:italic r:id="rId74"/>
      <p:boldItalic r:id="rId75"/>
    </p:embeddedFont>
    <p:embeddedFont>
      <p:font typeface="Karla"/>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EC7CB3-EAE6-4A39-B62A-DE208ABE0CEE}">
  <a:tblStyle styleId="{9EEC7CB3-EAE6-4A39-B62A-DE208ABE0C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11" Type="http://schemas.openxmlformats.org/officeDocument/2006/relationships/slide" Target="slides/slide5.xml"/><Relationship Id="rId14" Type="http://schemas.openxmlformats.org/officeDocument/2006/relationships/slide" Target="slides/slide8.xml"/><Relationship Id="rId15" Type="http://schemas.openxmlformats.org/officeDocument/2006/relationships/slide" Target="slides/slide9.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4" Type="http://schemas.openxmlformats.org/officeDocument/2006/relationships/slide" Target="slides/slide28.xml"/><Relationship Id="rId56" Type="http://schemas.openxmlformats.org/officeDocument/2006/relationships/font" Target="fonts/ProximaNova-regular.fntdata"/><Relationship Id="rId57" Type="http://schemas.openxmlformats.org/officeDocument/2006/relationships/font" Target="fonts/ProximaNova-bold.fntdata"/><Relationship Id="rId58" Type="http://schemas.openxmlformats.org/officeDocument/2006/relationships/font" Target="fonts/ProximaNova-italic.fntdata"/><Relationship Id="rId59" Type="http://schemas.openxmlformats.org/officeDocument/2006/relationships/font" Target="fonts/ProximaNova-boldItalic.fntdata"/><Relationship Id="rId60" Type="http://schemas.openxmlformats.org/officeDocument/2006/relationships/font" Target="fonts/RobotoMedium-regular.fntdata"/><Relationship Id="rId61" Type="http://schemas.openxmlformats.org/officeDocument/2006/relationships/font" Target="fonts/RobotoMedium-bold.fntdata"/><Relationship Id="rId62" Type="http://schemas.openxmlformats.org/officeDocument/2006/relationships/font" Target="fonts/RobotoMedium-italic.fntdata"/><Relationship Id="rId63" Type="http://schemas.openxmlformats.org/officeDocument/2006/relationships/font" Target="fonts/RobotoMedium-boldItalic.fntdata"/><Relationship Id="rId64" Type="http://schemas.openxmlformats.org/officeDocument/2006/relationships/font" Target="fonts/AmaticSC-regular.fntdata"/><Relationship Id="rId65" Type="http://schemas.openxmlformats.org/officeDocument/2006/relationships/font" Target="fonts/AmaticSC-bold.fntdata"/><Relationship Id="rId66" Type="http://schemas.openxmlformats.org/officeDocument/2006/relationships/font" Target="fonts/PublicSans-regular.fntdata"/><Relationship Id="rId67" Type="http://schemas.openxmlformats.org/officeDocument/2006/relationships/font" Target="fonts/PublicSans-bold.fntdata"/><Relationship Id="rId68" Type="http://schemas.openxmlformats.org/officeDocument/2006/relationships/font" Target="fonts/PublicSans-italic.fntdata"/><Relationship Id="rId69" Type="http://schemas.openxmlformats.org/officeDocument/2006/relationships/font" Target="fonts/PublicSans-boldItalic.fntdata"/><Relationship Id="rId70" Type="http://schemas.openxmlformats.org/officeDocument/2006/relationships/font" Target="fonts/Commissioner-regular.fntdata"/><Relationship Id="rId71" Type="http://schemas.openxmlformats.org/officeDocument/2006/relationships/font" Target="fonts/Commissioner-bold.fntdata"/><Relationship Id="rId72" Type="http://schemas.openxmlformats.org/officeDocument/2006/relationships/font" Target="fonts/DMSans-regular.fntdata"/><Relationship Id="rId73" Type="http://schemas.openxmlformats.org/officeDocument/2006/relationships/font" Target="fonts/DMSans-bold.fntdata"/><Relationship Id="rId74" Type="http://schemas.openxmlformats.org/officeDocument/2006/relationships/font" Target="fonts/DMSans-italic.fntdata"/><Relationship Id="rId75" Type="http://schemas.openxmlformats.org/officeDocument/2006/relationships/font" Target="fonts/DMSans-boldItalic.fntdata"/><Relationship Id="rId76" Type="http://schemas.openxmlformats.org/officeDocument/2006/relationships/font" Target="fonts/Karla-regular.fntdata"/><Relationship Id="rId77" Type="http://schemas.openxmlformats.org/officeDocument/2006/relationships/font" Target="fonts/Karla-bold.fntdata"/><Relationship Id="rId78" Type="http://schemas.openxmlformats.org/officeDocument/2006/relationships/font" Target="fonts/Karla-italic.fntdata"/><Relationship Id="rId79" Type="http://schemas.openxmlformats.org/officeDocument/2006/relationships/font" Target="fonts/Karla-boldItalic.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b="0">
                <a:solidFill>
                  <a:srgbClr val="526258"/>
                </a:solidFill>
                <a:latin typeface="Arial"/>
              </a:defRPr>
            </a:pPr>
            <a:r>
              <a:t>Steady halo · 16 MiB aggregate · effective GB/s ↑</a:t>
            </a:r>
          </a:p>
        </c:rich>
      </c:tx>
      <c:layout/>
      <c:overlay val="0"/>
    </c:title>
    <c:autoTitleDeleted val="0"/>
    <c:plotArea>
      <c:barChart>
        <c:barDir val="col"/>
        <c:grouping val="clustered"/>
        <c:ser>
          <c:idx val="0"/>
          <c:order val="0"/>
          <c:tx>
            <c:strRef>
              <c:f>Sheet1!$B$1</c:f>
              <c:strCache>
                <c:ptCount val="1"/>
                <c:pt idx="0">
                  <c:v>CUDA MPI</c:v>
                </c:pt>
              </c:strCache>
            </c:strRef>
          </c:tx>
          <c:spPr>
            <a:solidFill>
              <a:srgbClr val="277D8B"/>
            </a:solidFill>
            <a:ln>
              <a:noFill/>
            </a:ln>
          </c:spPr>
          <c:cat>
            <c:strRef>
              <c:f>Sheet1!$A$2:$A$4</c:f>
              <c:strCache>
                <c:ptCount val="3"/>
                <c:pt idx="0">
                  <c:v>2n4g</c:v>
                </c:pt>
                <c:pt idx="1">
                  <c:v>4n4g</c:v>
                </c:pt>
                <c:pt idx="2">
                  <c:v>8n4g</c:v>
                </c:pt>
              </c:strCache>
            </c:strRef>
          </c:cat>
          <c:val>
            <c:numRef>
              <c:f>Sheet1!$B$2:$B$4</c:f>
              <c:numCache>
                <c:formatCode>General</c:formatCode>
                <c:ptCount val="3"/>
                <c:pt idx="0">
                  <c:v>34.4</c:v>
                </c:pt>
                <c:pt idx="1">
                  <c:v>36.5</c:v>
                </c:pt>
                <c:pt idx="2">
                  <c:v>35.7</c:v>
                </c:pt>
              </c:numCache>
            </c:numRef>
          </c:val>
        </c:ser>
        <c:ser>
          <c:idx val="1"/>
          <c:order val="1"/>
          <c:tx>
            <c:strRef>
              <c:f>Sheet1!$C$1</c:f>
              <c:strCache>
                <c:ptCount val="1"/>
                <c:pt idx="0">
                  <c:v>Device NVSHMEM</c:v>
                </c:pt>
              </c:strCache>
            </c:strRef>
          </c:tx>
          <c:spPr>
            <a:solidFill>
              <a:srgbClr val="07902A"/>
            </a:solidFill>
            <a:ln>
              <a:noFill/>
            </a:ln>
          </c:spPr>
          <c:cat>
            <c:strRef>
              <c:f>Sheet1!$A$2:$A$4</c:f>
              <c:strCache>
                <c:ptCount val="3"/>
                <c:pt idx="0">
                  <c:v>2n4g</c:v>
                </c:pt>
                <c:pt idx="1">
                  <c:v>4n4g</c:v>
                </c:pt>
                <c:pt idx="2">
                  <c:v>8n4g</c:v>
                </c:pt>
              </c:strCache>
            </c:strRef>
          </c:cat>
          <c:val>
            <c:numRef>
              <c:f>Sheet1!$C$2:$C$4</c:f>
              <c:numCache>
                <c:formatCode>General</c:formatCode>
                <c:ptCount val="3"/>
                <c:pt idx="0">
                  <c:v>41.1</c:v>
                </c:pt>
                <c:pt idx="1">
                  <c:v>40.9</c:v>
                </c:pt>
                <c:pt idx="2">
                  <c:v>40.6</c:v>
                </c:pt>
              </c:numCache>
            </c:numRef>
          </c:val>
        </c:ser>
        <c:ser>
          <c:idx val="2"/>
          <c:order val="2"/>
          <c:tx>
            <c:strRef>
              <c:f>Sheet1!$D$1</c:f>
              <c:strCache>
                <c:ptCount val="1"/>
                <c:pt idx="0">
                  <c:v>OSHMPI</c:v>
                </c:pt>
              </c:strCache>
            </c:strRef>
          </c:tx>
          <c:spPr>
            <a:solidFill>
              <a:srgbClr val="75827B"/>
            </a:solidFill>
            <a:ln>
              <a:noFill/>
            </a:ln>
          </c:spPr>
          <c:cat>
            <c:strRef>
              <c:f>Sheet1!$A$2:$A$4</c:f>
              <c:strCache>
                <c:ptCount val="3"/>
                <c:pt idx="0">
                  <c:v>2n4g</c:v>
                </c:pt>
                <c:pt idx="1">
                  <c:v>4n4g</c:v>
                </c:pt>
                <c:pt idx="2">
                  <c:v>8n4g</c:v>
                </c:pt>
              </c:strCache>
            </c:strRef>
          </c:cat>
          <c:val>
            <c:numRef>
              <c:f>Sheet1!$D$2:$D$4</c:f>
              <c:numCache>
                <c:formatCode>General</c:formatCode>
                <c:ptCount val="3"/>
                <c:pt idx="0">
                  <c:v>24.5</c:v>
                </c:pt>
                <c:pt idx="1">
                  <c:v>24.4</c:v>
                </c:pt>
                <c:pt idx="2">
                  <c:v>24.4</c:v>
                </c:pt>
              </c:numCache>
            </c:numRef>
          </c:val>
        </c:ser>
        <c:dLbls>
          <c:numFmt formatCode="0.0" sourceLinked="0"/>
          <c:txPr>
            <a:bodyPr/>
            <a:lstStyle/>
            <a:p>
              <a:pPr>
                <a:defRPr sz="1000">
                  <a:solidFill>
                    <a:srgbClr val="2E2E2E"/>
                  </a:solidFill>
                  <a:latin typeface="Aria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000">
                <a:solidFill>
                  <a:srgbClr val="2E2E2E"/>
                </a:solidFill>
                <a:latin typeface="Arial"/>
              </a:defRPr>
            </a:pPr>
          </a:p>
        </c:txPr>
        <c:crossAx val="-2113994440"/>
        <c:crosses val="autoZero"/>
        <c:auto val="1"/>
        <c:lblAlgn val="ctr"/>
        <c:lblOffset val="100"/>
        <c:noMultiLvlLbl val="0"/>
      </c:catAx>
      <c:valAx>
        <c:axId val="-2113994440"/>
        <c:scaling>
          <c:max val="50.0"/>
          <c:min val="0.0"/>
        </c:scaling>
        <c:delete val="0"/>
        <c:axPos val="l"/>
        <c:majorGridlines>
          <c:spPr>
            <a:ln w="6350">
              <a:solidFill>
                <a:srgbClr val="DDE5DD"/>
              </a:solidFill>
            </a:ln>
          </c:spPr>
        </c:majorGridlines>
        <c:numFmt formatCode="0.0" sourceLinked="0"/>
        <c:majorTickMark val="none"/>
        <c:minorTickMark val="none"/>
        <c:tickLblPos val="nextTo"/>
        <c:spPr>
          <a:ln>
            <a:noFill/>
          </a:ln>
        </c:spPr>
        <c:txPr>
          <a:bodyPr/>
          <a:lstStyle/>
          <a:p>
            <a:pPr>
              <a:defRPr sz="1000">
                <a:solidFill>
                  <a:srgbClr val="2E2E2E"/>
                </a:solidFill>
                <a:latin typeface="Arial"/>
              </a:defRPr>
            </a:pPr>
          </a:p>
        </c:txPr>
        <c:crossAx val="-2068027336"/>
        <c:crosses val="autoZero"/>
      </c:valAx>
    </c:plotArea>
    <c:dispBlanksAs val="gap"/>
  </c:chart>
  <c:txPr>
    <a:bodyPr/>
    <a:lstStyle/>
    <a:p>
      <a:pPr>
        <a:defRPr sz="1100">
          <a:solidFill>
            <a:srgbClr val="2E2E2E"/>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b="0">
                <a:solidFill>
                  <a:srgbClr val="526258"/>
                </a:solidFill>
                <a:latin typeface="Arial"/>
              </a:defRPr>
            </a:pPr>
            <a:r>
              <a:t>Dispatch + combine time / MPI · 8n4g · 32 MiB useful volume per rank · lower is better</a:t>
            </a:r>
          </a:p>
        </c:rich>
      </c:tx>
      <c:layout/>
      <c:overlay val="0"/>
    </c:title>
    <c:autoTitleDeleted val="0"/>
    <c:plotArea>
      <c:barChart>
        <c:barDir val="col"/>
        <c:grouping val="clustered"/>
        <c:ser>
          <c:idx val="0"/>
          <c:order val="0"/>
          <c:tx>
            <c:strRef>
              <c:f>Sheet1!$B$1</c:f>
              <c:strCache>
                <c:ptCount val="1"/>
                <c:pt idx="0">
                  <c:v>MPI</c:v>
                </c:pt>
              </c:strCache>
            </c:strRef>
          </c:tx>
          <c:spPr>
            <a:solidFill>
              <a:srgbClr val="277D8B"/>
            </a:solidFill>
            <a:ln>
              <a:noFill/>
            </a:ln>
          </c:spPr>
          <c:cat>
            <c:strRef>
              <c:f>Sheet1!$A$2:$A$4</c:f>
              <c:strCache>
                <c:ptCount val="3"/>
                <c:pt idx="0">
                  <c:v>Uniform</c:v>
                </c:pt>
                <c:pt idx="1">
                  <c:v>Locality-biased</c:v>
                </c:pt>
                <c:pt idx="2">
                  <c:v>Hotspot 80%</c:v>
                </c:pt>
              </c:strCache>
            </c:strRef>
          </c:cat>
          <c:val>
            <c:numRef>
              <c:f>Sheet1!$B$2:$B$4</c:f>
              <c:numCache>
                <c:formatCode>General</c:formatCode>
                <c:ptCount val="3"/>
                <c:pt idx="0">
                  <c:v>1.0</c:v>
                </c:pt>
                <c:pt idx="1">
                  <c:v>1.0</c:v>
                </c:pt>
                <c:pt idx="2">
                  <c:v>1.0</c:v>
                </c:pt>
              </c:numCache>
            </c:numRef>
          </c:val>
        </c:ser>
        <c:ser>
          <c:idx val="1"/>
          <c:order val="1"/>
          <c:tx>
            <c:strRef>
              <c:f>Sheet1!$C$1</c:f>
              <c:strCache>
                <c:ptCount val="1"/>
                <c:pt idx="0">
                  <c:v>NCCL</c:v>
                </c:pt>
              </c:strCache>
            </c:strRef>
          </c:tx>
          <c:spPr>
            <a:solidFill>
              <a:srgbClr val="134E2D"/>
            </a:solidFill>
            <a:ln>
              <a:noFill/>
            </a:ln>
          </c:spPr>
          <c:cat>
            <c:strRef>
              <c:f>Sheet1!$A$2:$A$4</c:f>
              <c:strCache>
                <c:ptCount val="3"/>
                <c:pt idx="0">
                  <c:v>Uniform</c:v>
                </c:pt>
                <c:pt idx="1">
                  <c:v>Locality-biased</c:v>
                </c:pt>
                <c:pt idx="2">
                  <c:v>Hotspot 80%</c:v>
                </c:pt>
              </c:strCache>
            </c:strRef>
          </c:cat>
          <c:val>
            <c:numRef>
              <c:f>Sheet1!$C$2:$C$4</c:f>
              <c:numCache>
                <c:formatCode>General</c:formatCode>
                <c:ptCount val="3"/>
                <c:pt idx="0">
                  <c:v>0.5004117937736782</c:v>
                </c:pt>
                <c:pt idx="1">
                  <c:v>1.5545274289491078</c:v>
                </c:pt>
                <c:pt idx="2">
                  <c:v>1.1642470906312448</c:v>
                </c:pt>
              </c:numCache>
            </c:numRef>
          </c:val>
        </c:ser>
        <c:ser>
          <c:idx val="2"/>
          <c:order val="2"/>
          <c:tx>
            <c:strRef>
              <c:f>Sheet1!$D$1</c:f>
              <c:strCache>
                <c:ptCount val="1"/>
                <c:pt idx="0">
                  <c:v>NVSHMEM</c:v>
                </c:pt>
              </c:strCache>
            </c:strRef>
          </c:tx>
          <c:spPr>
            <a:solidFill>
              <a:srgbClr val="07902A"/>
            </a:solidFill>
            <a:ln>
              <a:noFill/>
            </a:ln>
          </c:spPr>
          <c:cat>
            <c:strRef>
              <c:f>Sheet1!$A$2:$A$4</c:f>
              <c:strCache>
                <c:ptCount val="3"/>
                <c:pt idx="0">
                  <c:v>Uniform</c:v>
                </c:pt>
                <c:pt idx="1">
                  <c:v>Locality-biased</c:v>
                </c:pt>
                <c:pt idx="2">
                  <c:v>Hotspot 80%</c:v>
                </c:pt>
              </c:strCache>
            </c:strRef>
          </c:cat>
          <c:val>
            <c:numRef>
              <c:f>Sheet1!$D$2:$D$4</c:f>
              <c:numCache>
                <c:formatCode>General</c:formatCode>
                <c:ptCount val="3"/>
                <c:pt idx="0">
                  <c:v>0.8318234228298468</c:v>
                </c:pt>
                <c:pt idx="1">
                  <c:v>0.7177792465300727</c:v>
                </c:pt>
                <c:pt idx="2">
                  <c:v>1.8222346303044552</c:v>
                </c:pt>
              </c:numCache>
            </c:numRef>
          </c:val>
        </c:ser>
        <c:ser>
          <c:idx val="3"/>
          <c:order val="3"/>
          <c:tx>
            <c:strRef>
              <c:f>Sheet1!$E$1</c:f>
              <c:strCache>
                <c:ptCount val="1"/>
                <c:pt idx="0">
                  <c:v>OSHMPI</c:v>
                </c:pt>
              </c:strCache>
            </c:strRef>
          </c:tx>
          <c:spPr>
            <a:solidFill>
              <a:srgbClr val="75827B"/>
            </a:solidFill>
            <a:ln>
              <a:noFill/>
            </a:ln>
          </c:spPr>
          <c:cat>
            <c:strRef>
              <c:f>Sheet1!$A$2:$A$4</c:f>
              <c:strCache>
                <c:ptCount val="3"/>
                <c:pt idx="0">
                  <c:v>Uniform</c:v>
                </c:pt>
                <c:pt idx="1">
                  <c:v>Locality-biased</c:v>
                </c:pt>
                <c:pt idx="2">
                  <c:v>Hotspot 80%</c:v>
                </c:pt>
              </c:strCache>
            </c:strRef>
          </c:cat>
          <c:val>
            <c:numRef>
              <c:f>Sheet1!$E$2:$E$4</c:f>
              <c:numCache>
                <c:formatCode>General</c:formatCode>
                <c:ptCount val="3"/>
                <c:pt idx="0">
                  <c:v>1.7048262230275077</c:v>
                </c:pt>
                <c:pt idx="1">
                  <c:v>1.6926635822868472</c:v>
                </c:pt>
                <c:pt idx="2">
                  <c:v>1.8421887857058892</c:v>
                </c:pt>
              </c:numCache>
            </c:numRef>
          </c:val>
        </c:ser>
        <c:dLbls>
          <c:numFmt formatCode="0.00&quot;×&quot;" sourceLinked="0"/>
          <c:txPr>
            <a:bodyPr/>
            <a:lstStyle/>
            <a:p>
              <a:pPr>
                <a:defRPr sz="1000">
                  <a:solidFill>
                    <a:srgbClr val="2E2E2E"/>
                  </a:solidFill>
                  <a:latin typeface="Aria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000">
                <a:solidFill>
                  <a:srgbClr val="2E2E2E"/>
                </a:solidFill>
                <a:latin typeface="Arial"/>
              </a:defRPr>
            </a:pPr>
          </a:p>
        </c:txPr>
        <c:crossAx val="-2113994440"/>
        <c:crosses val="autoZero"/>
        <c:auto val="1"/>
        <c:lblAlgn val="ctr"/>
        <c:lblOffset val="100"/>
        <c:noMultiLvlLbl val="0"/>
      </c:catAx>
      <c:valAx>
        <c:axId val="-2113994440"/>
        <c:scaling>
          <c:max val="2.1"/>
          <c:min val="0.0"/>
        </c:scaling>
        <c:delete val="0"/>
        <c:axPos val="l"/>
        <c:majorGridlines>
          <c:spPr>
            <a:ln w="6350">
              <a:solidFill>
                <a:srgbClr val="DDE5DD"/>
              </a:solidFill>
            </a:ln>
          </c:spPr>
        </c:majorGridlines>
        <c:numFmt formatCode="0.00&quot;×&quot;" sourceLinked="0"/>
        <c:majorTickMark val="none"/>
        <c:minorTickMark val="none"/>
        <c:tickLblPos val="nextTo"/>
        <c:spPr>
          <a:ln>
            <a:noFill/>
          </a:ln>
        </c:spPr>
        <c:txPr>
          <a:bodyPr/>
          <a:lstStyle/>
          <a:p>
            <a:pPr>
              <a:defRPr sz="1000">
                <a:solidFill>
                  <a:srgbClr val="2E2E2E"/>
                </a:solidFill>
                <a:latin typeface="Arial"/>
              </a:defRPr>
            </a:pPr>
          </a:p>
        </c:txPr>
        <c:crossAx val="-2068027336"/>
        <c:crosses val="autoZero"/>
      </c:valAx>
    </c:plotArea>
    <c:dispBlanksAs val="gap"/>
  </c:chart>
  <c:txPr>
    <a:bodyPr/>
    <a:lstStyle/>
    <a:p>
      <a:pPr>
        <a:defRPr sz="1100">
          <a:solidFill>
            <a:srgbClr val="2E2E2E"/>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b="0">
                <a:solidFill>
                  <a:srgbClr val="526258"/>
                </a:solidFill>
                <a:latin typeface="Arial"/>
              </a:defRPr>
            </a:pPr>
            <a:r>
              <a:t>Bump_2911 · solver time (s) ↓</a:t>
            </a:r>
          </a:p>
        </c:rich>
      </c:tx>
      <c:layout/>
      <c:overlay val="0"/>
    </c:title>
    <c:autoTitleDeleted val="0"/>
    <c:plotArea>
      <c:lineChart>
        <c:grouping val="standard"/>
        <c:varyColors val="0"/>
        <c:ser>
          <c:idx val="0"/>
          <c:order val="0"/>
          <c:tx>
            <c:strRef>
              <c:f>Sheet1!$B$1</c:f>
              <c:strCache>
                <c:ptCount val="1"/>
                <c:pt idx="0">
                  <c:v>NCCL</c:v>
                </c:pt>
              </c:strCache>
            </c:strRef>
          </c:tx>
          <c:spPr>
            <a:ln w="25400">
              <a:solidFill>
                <a:srgbClr val="134E2D"/>
              </a:solidFill>
            </a:ln>
          </c:spPr>
          <c:marker>
            <c:symbol val="circle"/>
            <c:size val="5"/>
            <c:spPr>
              <a:solidFill>
                <a:srgbClr val="134E2D"/>
              </a:solidFill>
              <a:ln>
                <a:noFill/>
              </a:ln>
            </c:spPr>
          </c:marker>
          <c:cat>
            <c:strRef>
              <c:f>Sheet1!$A$2:$A$6</c:f>
              <c:strCache>
                <c:ptCount val="5"/>
                <c:pt idx="0">
                  <c:v>1n2g</c:v>
                </c:pt>
                <c:pt idx="1">
                  <c:v>1n4g</c:v>
                </c:pt>
                <c:pt idx="2">
                  <c:v>2n4g</c:v>
                </c:pt>
                <c:pt idx="3">
                  <c:v>4n4g</c:v>
                </c:pt>
                <c:pt idx="4">
                  <c:v>8n4g</c:v>
                </c:pt>
              </c:strCache>
            </c:strRef>
          </c:cat>
          <c:val>
            <c:numRef>
              <c:f>Sheet1!$B$2:$B$6</c:f>
              <c:numCache>
                <c:formatCode>General</c:formatCode>
                <c:ptCount val="5"/>
                <c:pt idx="0">
                  <c:v>21.068109</c:v>
                </c:pt>
                <c:pt idx="1">
                  <c:v>11.966338</c:v>
                </c:pt>
                <c:pt idx="2">
                  <c:v>7.825346</c:v>
                </c:pt>
                <c:pt idx="3">
                  <c:v>6.015579</c:v>
                </c:pt>
                <c:pt idx="4">
                  <c:v>6.001323</c:v>
                </c:pt>
              </c:numCache>
            </c:numRef>
          </c:val>
          <c:smooth val="0"/>
        </c:ser>
        <c:ser>
          <c:idx val="1"/>
          <c:order val="1"/>
          <c:tx>
            <c:strRef>
              <c:f>Sheet1!$C$1</c:f>
              <c:strCache>
                <c:ptCount val="1"/>
                <c:pt idx="0">
                  <c:v>Device NVSHMEM</c:v>
                </c:pt>
              </c:strCache>
            </c:strRef>
          </c:tx>
          <c:spPr>
            <a:ln w="25400">
              <a:solidFill>
                <a:srgbClr val="07902A"/>
              </a:solidFill>
            </a:ln>
          </c:spPr>
          <c:marker>
            <c:symbol val="circle"/>
            <c:size val="5"/>
            <c:spPr>
              <a:solidFill>
                <a:srgbClr val="07902A"/>
              </a:solidFill>
              <a:ln>
                <a:noFill/>
              </a:ln>
            </c:spPr>
          </c:marker>
          <c:cat>
            <c:strRef>
              <c:f>Sheet1!$A$2:$A$6</c:f>
              <c:strCache>
                <c:ptCount val="5"/>
                <c:pt idx="0">
                  <c:v>1n2g</c:v>
                </c:pt>
                <c:pt idx="1">
                  <c:v>1n4g</c:v>
                </c:pt>
                <c:pt idx="2">
                  <c:v>2n4g</c:v>
                </c:pt>
                <c:pt idx="3">
                  <c:v>4n4g</c:v>
                </c:pt>
                <c:pt idx="4">
                  <c:v>8n4g</c:v>
                </c:pt>
              </c:strCache>
            </c:strRef>
          </c:cat>
          <c:val>
            <c:numRef>
              <c:f>Sheet1!$C$2:$C$6</c:f>
              <c:numCache>
                <c:formatCode>General</c:formatCode>
                <c:ptCount val="5"/>
                <c:pt idx="0">
                  <c:v>24.176462</c:v>
                </c:pt>
                <c:pt idx="1">
                  <c:v>13.280447</c:v>
                </c:pt>
                <c:pt idx="2">
                  <c:v>8.955209</c:v>
                </c:pt>
                <c:pt idx="3">
                  <c:v>6.77065</c:v>
                </c:pt>
                <c:pt idx="4">
                  <c:v>6.320421</c:v>
                </c:pt>
              </c:numCache>
            </c:numRef>
          </c:val>
          <c:smooth val="0"/>
        </c:ser>
        <c:ser>
          <c:idx val="2"/>
          <c:order val="2"/>
          <c:tx>
            <c:strRef>
              <c:f>Sheet1!$D$1</c:f>
              <c:strCache>
                <c:ptCount val="1"/>
                <c:pt idx="0">
                  <c:v>OSHMPI</c:v>
                </c:pt>
              </c:strCache>
            </c:strRef>
          </c:tx>
          <c:spPr>
            <a:ln w="25400">
              <a:solidFill>
                <a:srgbClr val="75827B"/>
              </a:solidFill>
            </a:ln>
          </c:spPr>
          <c:marker>
            <c:symbol val="circle"/>
            <c:size val="5"/>
            <c:spPr>
              <a:solidFill>
                <a:srgbClr val="75827B"/>
              </a:solidFill>
              <a:ln>
                <a:noFill/>
              </a:ln>
            </c:spPr>
          </c:marker>
          <c:cat>
            <c:strRef>
              <c:f>Sheet1!$A$2:$A$6</c:f>
              <c:strCache>
                <c:ptCount val="5"/>
                <c:pt idx="0">
                  <c:v>1n2g</c:v>
                </c:pt>
                <c:pt idx="1">
                  <c:v>1n4g</c:v>
                </c:pt>
                <c:pt idx="2">
                  <c:v>2n4g</c:v>
                </c:pt>
                <c:pt idx="3">
                  <c:v>4n4g</c:v>
                </c:pt>
                <c:pt idx="4">
                  <c:v>8n4g</c:v>
                </c:pt>
              </c:strCache>
            </c:strRef>
          </c:cat>
          <c:val>
            <c:numRef>
              <c:f>Sheet1!$D$2:$D$6</c:f>
              <c:numCache>
                <c:formatCode>General</c:formatCode>
                <c:ptCount val="5"/>
                <c:pt idx="0">
                  <c:v>22.176521</c:v>
                </c:pt>
                <c:pt idx="1">
                  <c:v>12.715619</c:v>
                </c:pt>
                <c:pt idx="2">
                  <c:v>9.185323</c:v>
                </c:pt>
                <c:pt idx="3">
                  <c:v>8.197612</c:v>
                </c:pt>
                <c:pt idx="4">
                  <c:v>8.003543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noFill/>
          </a:ln>
        </c:spPr>
        <c:txPr>
          <a:bodyPr/>
          <a:lstStyle/>
          <a:p>
            <a:pPr>
              <a:defRPr sz="1000">
                <a:solidFill>
                  <a:srgbClr val="2E2E2E"/>
                </a:solidFill>
                <a:latin typeface="Arial"/>
              </a:defRPr>
            </a:pPr>
          </a:p>
        </c:txPr>
        <c:crossAx val="2140495176"/>
        <c:crosses val="autoZero"/>
        <c:auto val="1"/>
        <c:lblAlgn val="ctr"/>
        <c:lblOffset val="100"/>
        <c:noMultiLvlLbl val="0"/>
      </c:catAx>
      <c:valAx>
        <c:axId val="2140495176"/>
        <c:scaling>
          <c:max val="30.0"/>
          <c:min val="0.0"/>
        </c:scaling>
        <c:delete val="0"/>
        <c:axPos val="l"/>
        <c:majorGridlines>
          <c:spPr>
            <a:ln w="6350">
              <a:solidFill>
                <a:srgbClr val="DDE5DD"/>
              </a:solidFill>
            </a:ln>
          </c:spPr>
        </c:majorGridlines>
        <c:numFmt formatCode="0" sourceLinked="0"/>
        <c:majorTickMark val="none"/>
        <c:minorTickMark val="none"/>
        <c:tickLblPos val="nextTo"/>
        <c:spPr>
          <a:ln>
            <a:noFill/>
          </a:ln>
        </c:spPr>
        <c:txPr>
          <a:bodyPr/>
          <a:lstStyle/>
          <a:p>
            <a:pPr>
              <a:defRPr sz="1000">
                <a:solidFill>
                  <a:srgbClr val="2E2E2E"/>
                </a:solidFill>
                <a:latin typeface="Arial"/>
              </a:defRPr>
            </a:pPr>
          </a:p>
        </c:txPr>
        <c:crossAx val="2118791784"/>
        <c:crosses val="autoZero"/>
      </c:valAx>
    </c:plotArea>
    <c:plotVisOnly val="1"/>
    <c:dispBlanksAs val="gap"/>
    <c:showDLblsOverMax val="0"/>
  </c:chart>
  <c:txPr>
    <a:bodyPr/>
    <a:lstStyle/>
    <a:p>
      <a:pPr>
        <a:defRPr sz="1100">
          <a:solidFill>
            <a:srgbClr val="2E2E2E"/>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b="0">
                <a:solidFill>
                  <a:srgbClr val="526258"/>
                </a:solidFill>
                <a:latin typeface="Arial"/>
              </a:defRPr>
            </a:pPr>
            <a:r>
              <a:t>Queen_4147 · solver time (s) ↓</a:t>
            </a:r>
          </a:p>
        </c:rich>
      </c:tx>
      <c:layout/>
      <c:overlay val="0"/>
    </c:title>
    <c:autoTitleDeleted val="0"/>
    <c:plotArea>
      <c:lineChart>
        <c:grouping val="standard"/>
        <c:varyColors val="0"/>
        <c:ser>
          <c:idx val="0"/>
          <c:order val="0"/>
          <c:tx>
            <c:strRef>
              <c:f>Sheet1!$B$1</c:f>
              <c:strCache>
                <c:ptCount val="1"/>
                <c:pt idx="0">
                  <c:v>NCCL</c:v>
                </c:pt>
              </c:strCache>
            </c:strRef>
          </c:tx>
          <c:spPr>
            <a:ln w="25400">
              <a:solidFill>
                <a:srgbClr val="134E2D"/>
              </a:solidFill>
            </a:ln>
          </c:spPr>
          <c:marker>
            <c:symbol val="circle"/>
            <c:size val="5"/>
            <c:spPr>
              <a:solidFill>
                <a:srgbClr val="134E2D"/>
              </a:solidFill>
              <a:ln>
                <a:noFill/>
              </a:ln>
            </c:spPr>
          </c:marker>
          <c:cat>
            <c:strRef>
              <c:f>Sheet1!$A$2:$A$6</c:f>
              <c:strCache>
                <c:ptCount val="5"/>
                <c:pt idx="0">
                  <c:v>1n2g</c:v>
                </c:pt>
                <c:pt idx="1">
                  <c:v>1n4g</c:v>
                </c:pt>
                <c:pt idx="2">
                  <c:v>2n4g</c:v>
                </c:pt>
                <c:pt idx="3">
                  <c:v>4n4g</c:v>
                </c:pt>
                <c:pt idx="4">
                  <c:v>8n4g</c:v>
                </c:pt>
              </c:strCache>
            </c:strRef>
          </c:cat>
          <c:val>
            <c:numRef>
              <c:f>Sheet1!$B$2:$B$6</c:f>
              <c:numCache>
                <c:formatCode>General</c:formatCode>
                <c:ptCount val="5"/>
                <c:pt idx="0">
                  <c:v>47.526483</c:v>
                </c:pt>
                <c:pt idx="1">
                  <c:v>25.048083</c:v>
                </c:pt>
                <c:pt idx="2">
                  <c:v>15.008961</c:v>
                </c:pt>
                <c:pt idx="3">
                  <c:v>9.591972</c:v>
                </c:pt>
                <c:pt idx="4">
                  <c:v>7.24921</c:v>
                </c:pt>
              </c:numCache>
            </c:numRef>
          </c:val>
          <c:smooth val="0"/>
        </c:ser>
        <c:ser>
          <c:idx val="1"/>
          <c:order val="1"/>
          <c:tx>
            <c:strRef>
              <c:f>Sheet1!$C$1</c:f>
              <c:strCache>
                <c:ptCount val="1"/>
                <c:pt idx="0">
                  <c:v>Device NVSHMEM</c:v>
                </c:pt>
              </c:strCache>
            </c:strRef>
          </c:tx>
          <c:spPr>
            <a:ln w="25400">
              <a:solidFill>
                <a:srgbClr val="07902A"/>
              </a:solidFill>
            </a:ln>
          </c:spPr>
          <c:marker>
            <c:symbol val="circle"/>
            <c:size val="5"/>
            <c:spPr>
              <a:solidFill>
                <a:srgbClr val="07902A"/>
              </a:solidFill>
              <a:ln>
                <a:noFill/>
              </a:ln>
            </c:spPr>
          </c:marker>
          <c:cat>
            <c:strRef>
              <c:f>Sheet1!$A$2:$A$6</c:f>
              <c:strCache>
                <c:ptCount val="5"/>
                <c:pt idx="0">
                  <c:v>1n2g</c:v>
                </c:pt>
                <c:pt idx="1">
                  <c:v>1n4g</c:v>
                </c:pt>
                <c:pt idx="2">
                  <c:v>2n4g</c:v>
                </c:pt>
                <c:pt idx="3">
                  <c:v>4n4g</c:v>
                </c:pt>
                <c:pt idx="4">
                  <c:v>8n4g</c:v>
                </c:pt>
              </c:strCache>
            </c:strRef>
          </c:cat>
          <c:val>
            <c:numRef>
              <c:f>Sheet1!$C$2:$C$6</c:f>
              <c:numCache>
                <c:formatCode>General</c:formatCode>
                <c:ptCount val="5"/>
                <c:pt idx="0">
                  <c:v>52.51311</c:v>
                </c:pt>
                <c:pt idx="1">
                  <c:v>28.551494</c:v>
                </c:pt>
                <c:pt idx="2">
                  <c:v>16.820274</c:v>
                </c:pt>
                <c:pt idx="3">
                  <c:v>10.816626</c:v>
                </c:pt>
                <c:pt idx="4">
                  <c:v>8.794917</c:v>
                </c:pt>
              </c:numCache>
            </c:numRef>
          </c:val>
          <c:smooth val="0"/>
        </c:ser>
        <c:ser>
          <c:idx val="2"/>
          <c:order val="2"/>
          <c:tx>
            <c:strRef>
              <c:f>Sheet1!$D$1</c:f>
              <c:strCache>
                <c:ptCount val="1"/>
                <c:pt idx="0">
                  <c:v>OSHMPI</c:v>
                </c:pt>
              </c:strCache>
            </c:strRef>
          </c:tx>
          <c:spPr>
            <a:ln w="25400">
              <a:solidFill>
                <a:srgbClr val="75827B"/>
              </a:solidFill>
            </a:ln>
          </c:spPr>
          <c:marker>
            <c:symbol val="circle"/>
            <c:size val="5"/>
            <c:spPr>
              <a:solidFill>
                <a:srgbClr val="75827B"/>
              </a:solidFill>
              <a:ln>
                <a:noFill/>
              </a:ln>
            </c:spPr>
          </c:marker>
          <c:cat>
            <c:strRef>
              <c:f>Sheet1!$A$2:$A$6</c:f>
              <c:strCache>
                <c:ptCount val="5"/>
                <c:pt idx="0">
                  <c:v>1n2g</c:v>
                </c:pt>
                <c:pt idx="1">
                  <c:v>1n4g</c:v>
                </c:pt>
                <c:pt idx="2">
                  <c:v>2n4g</c:v>
                </c:pt>
                <c:pt idx="3">
                  <c:v>4n4g</c:v>
                </c:pt>
                <c:pt idx="4">
                  <c:v>8n4g</c:v>
                </c:pt>
              </c:strCache>
            </c:strRef>
          </c:cat>
          <c:val>
            <c:numRef>
              <c:f>Sheet1!$D$2:$D$6</c:f>
              <c:numCache>
                <c:formatCode>General</c:formatCode>
                <c:ptCount val="5"/>
                <c:pt idx="0">
                  <c:v>48.310523</c:v>
                </c:pt>
                <c:pt idx="1">
                  <c:v>26.165186</c:v>
                </c:pt>
                <c:pt idx="2">
                  <c:v>15.902366</c:v>
                </c:pt>
                <c:pt idx="3">
                  <c:v>11.665915</c:v>
                </c:pt>
                <c:pt idx="4">
                  <c:v>9.603186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noFill/>
          </a:ln>
        </c:spPr>
        <c:txPr>
          <a:bodyPr/>
          <a:lstStyle/>
          <a:p>
            <a:pPr>
              <a:defRPr sz="1000">
                <a:solidFill>
                  <a:srgbClr val="2E2E2E"/>
                </a:solidFill>
                <a:latin typeface="Arial"/>
              </a:defRPr>
            </a:pPr>
          </a:p>
        </c:txPr>
        <c:crossAx val="2140495176"/>
        <c:crosses val="autoZero"/>
        <c:auto val="1"/>
        <c:lblAlgn val="ctr"/>
        <c:lblOffset val="100"/>
        <c:noMultiLvlLbl val="0"/>
      </c:catAx>
      <c:valAx>
        <c:axId val="2140495176"/>
        <c:scaling>
          <c:max val="60.0"/>
          <c:min val="0.0"/>
        </c:scaling>
        <c:delete val="0"/>
        <c:axPos val="l"/>
        <c:majorGridlines>
          <c:spPr>
            <a:ln w="6350">
              <a:solidFill>
                <a:srgbClr val="DDE5DD"/>
              </a:solidFill>
            </a:ln>
          </c:spPr>
        </c:majorGridlines>
        <c:numFmt formatCode="0" sourceLinked="0"/>
        <c:majorTickMark val="none"/>
        <c:minorTickMark val="none"/>
        <c:tickLblPos val="nextTo"/>
        <c:spPr>
          <a:ln>
            <a:noFill/>
          </a:ln>
        </c:spPr>
        <c:txPr>
          <a:bodyPr/>
          <a:lstStyle/>
          <a:p>
            <a:pPr>
              <a:defRPr sz="1000">
                <a:solidFill>
                  <a:srgbClr val="2E2E2E"/>
                </a:solidFill>
                <a:latin typeface="Arial"/>
              </a:defRPr>
            </a:pPr>
          </a:p>
        </c:txPr>
        <c:crossAx val="2118791784"/>
        <c:crosses val="autoZero"/>
      </c:valAx>
    </c:plotArea>
    <c:plotVisOnly val="1"/>
    <c:dispBlanksAs val="gap"/>
    <c:showDLblsOverMax val="0"/>
  </c:chart>
  <c:txPr>
    <a:bodyPr/>
    <a:lstStyle/>
    <a:p>
      <a:pPr>
        <a:defRPr sz="1100">
          <a:solidFill>
            <a:srgbClr val="2E2E2E"/>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b="0">
                <a:solidFill>
                  <a:srgbClr val="526258"/>
                </a:solidFill>
                <a:latin typeface="Arial"/>
              </a:defRPr>
            </a:pPr>
            <a:r>
              <a:t>Allreduce latency (µs)</a:t>
            </a:r>
          </a:p>
        </c:rich>
      </c:tx>
      <c:layout/>
      <c:overlay val="0"/>
    </c:title>
    <c:autoTitleDeleted val="0"/>
    <c:plotArea>
      <c:barChart>
        <c:barDir val="col"/>
        <c:grouping val="clustered"/>
        <c:ser>
          <c:idx val="0"/>
          <c:order val="0"/>
          <c:tx>
            <c:strRef>
              <c:f>Sheet1!$B$1</c:f>
              <c:strCache>
                <c:ptCount val="1"/>
                <c:pt idx="0">
                  <c:v>2.18.5 ordinary</c:v>
                </c:pt>
              </c:strCache>
            </c:strRef>
          </c:tx>
          <c:spPr>
            <a:solidFill>
              <a:srgbClr val="75827B"/>
            </a:solidFill>
            <a:ln>
              <a:noFill/>
            </a:ln>
          </c:spPr>
          <c:cat>
            <c:strRef>
              <c:f>Sheet1!$A$2:$A$4</c:f>
              <c:strCache>
                <c:ptCount val="3"/>
                <c:pt idx="0">
                  <c:v>8 B</c:v>
                </c:pt>
                <c:pt idx="1">
                  <c:v>32 KiB</c:v>
                </c:pt>
                <c:pt idx="2">
                  <c:v>256 KiB</c:v>
                </c:pt>
              </c:strCache>
            </c:strRef>
          </c:cat>
          <c:val>
            <c:numRef>
              <c:f>Sheet1!$B$2:$B$4</c:f>
              <c:numCache>
                <c:formatCode>General</c:formatCode>
                <c:ptCount val="3"/>
                <c:pt idx="0">
                  <c:v>12.4</c:v>
                </c:pt>
                <c:pt idx="1">
                  <c:v>18.4</c:v>
                </c:pt>
                <c:pt idx="2">
                  <c:v>19.2</c:v>
                </c:pt>
              </c:numCache>
            </c:numRef>
          </c:val>
        </c:ser>
        <c:ser>
          <c:idx val="1"/>
          <c:order val="1"/>
          <c:tx>
            <c:strRef>
              <c:f>Sheet1!$C$1</c:f>
              <c:strCache>
                <c:ptCount val="1"/>
                <c:pt idx="0">
                  <c:v>2.31.2 ordinary</c:v>
                </c:pt>
              </c:strCache>
            </c:strRef>
          </c:tx>
          <c:spPr>
            <a:solidFill>
              <a:srgbClr val="277D8B"/>
            </a:solidFill>
            <a:ln>
              <a:noFill/>
            </a:ln>
          </c:spPr>
          <c:cat>
            <c:strRef>
              <c:f>Sheet1!$A$2:$A$4</c:f>
              <c:strCache>
                <c:ptCount val="3"/>
                <c:pt idx="0">
                  <c:v>8 B</c:v>
                </c:pt>
                <c:pt idx="1">
                  <c:v>32 KiB</c:v>
                </c:pt>
                <c:pt idx="2">
                  <c:v>256 KiB</c:v>
                </c:pt>
              </c:strCache>
            </c:strRef>
          </c:cat>
          <c:val>
            <c:numRef>
              <c:f>Sheet1!$C$2:$C$4</c:f>
              <c:numCache>
                <c:formatCode>General</c:formatCode>
                <c:ptCount val="3"/>
                <c:pt idx="0">
                  <c:v>12.6</c:v>
                </c:pt>
                <c:pt idx="1">
                  <c:v>18.5</c:v>
                </c:pt>
                <c:pt idx="2">
                  <c:v>19.3</c:v>
                </c:pt>
              </c:numCache>
            </c:numRef>
          </c:val>
        </c:ser>
        <c:ser>
          <c:idx val="2"/>
          <c:order val="2"/>
          <c:tx>
            <c:strRef>
              <c:f>Sheet1!$D$1</c:f>
              <c:strCache>
                <c:ptCount val="1"/>
                <c:pt idx="0">
                  <c:v>2.31.2 symmetric</c:v>
                </c:pt>
              </c:strCache>
            </c:strRef>
          </c:tx>
          <c:spPr>
            <a:solidFill>
              <a:srgbClr val="07902A"/>
            </a:solidFill>
            <a:ln>
              <a:noFill/>
            </a:ln>
          </c:spPr>
          <c:cat>
            <c:strRef>
              <c:f>Sheet1!$A$2:$A$4</c:f>
              <c:strCache>
                <c:ptCount val="3"/>
                <c:pt idx="0">
                  <c:v>8 B</c:v>
                </c:pt>
                <c:pt idx="1">
                  <c:v>32 KiB</c:v>
                </c:pt>
                <c:pt idx="2">
                  <c:v>256 KiB</c:v>
                </c:pt>
              </c:strCache>
            </c:strRef>
          </c:cat>
          <c:val>
            <c:numRef>
              <c:f>Sheet1!$D$2:$D$4</c:f>
              <c:numCache>
                <c:formatCode>General</c:formatCode>
                <c:ptCount val="3"/>
                <c:pt idx="0">
                  <c:v>7.5</c:v>
                </c:pt>
                <c:pt idx="1">
                  <c:v>10.6</c:v>
                </c:pt>
                <c:pt idx="2">
                  <c:v>22.7</c:v>
                </c:pt>
              </c:numCache>
            </c:numRef>
          </c:val>
        </c:ser>
        <c:dLbls>
          <c:numFmt formatCode="0.0" sourceLinked="0"/>
          <c:txPr>
            <a:bodyPr/>
            <a:lstStyle/>
            <a:p>
              <a:pPr>
                <a:defRPr sz="1000">
                  <a:solidFill>
                    <a:srgbClr val="2E2E2E"/>
                  </a:solidFill>
                  <a:latin typeface="Aria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000">
                <a:solidFill>
                  <a:srgbClr val="2E2E2E"/>
                </a:solidFill>
                <a:latin typeface="Arial"/>
              </a:defRPr>
            </a:pPr>
          </a:p>
        </c:txPr>
        <c:crossAx val="-2113994440"/>
        <c:crosses val="autoZero"/>
        <c:auto val="1"/>
        <c:lblAlgn val="ctr"/>
        <c:lblOffset val="100"/>
        <c:noMultiLvlLbl val="0"/>
      </c:catAx>
      <c:valAx>
        <c:axId val="-2113994440"/>
        <c:scaling>
          <c:max val="28.0"/>
          <c:min val="0.0"/>
        </c:scaling>
        <c:delete val="0"/>
        <c:axPos val="l"/>
        <c:majorGridlines>
          <c:spPr>
            <a:ln w="6350">
              <a:solidFill>
                <a:srgbClr val="DDE5DD"/>
              </a:solidFill>
            </a:ln>
          </c:spPr>
        </c:majorGridlines>
        <c:numFmt formatCode="0.0" sourceLinked="0"/>
        <c:majorTickMark val="none"/>
        <c:minorTickMark val="none"/>
        <c:tickLblPos val="nextTo"/>
        <c:spPr>
          <a:ln>
            <a:noFill/>
          </a:ln>
        </c:spPr>
        <c:txPr>
          <a:bodyPr/>
          <a:lstStyle/>
          <a:p>
            <a:pPr>
              <a:defRPr sz="1000">
                <a:solidFill>
                  <a:srgbClr val="2E2E2E"/>
                </a:solidFill>
                <a:latin typeface="Arial"/>
              </a:defRPr>
            </a:pPr>
          </a:p>
        </c:txPr>
        <c:crossAx val="-2068027336"/>
        <c:crosses val="autoZero"/>
      </c:valAx>
    </c:plotArea>
    <c:dispBlanksAs val="gap"/>
  </c:chart>
  <c:txPr>
    <a:bodyPr/>
    <a:lstStyle/>
    <a:p>
      <a:pPr>
        <a:defRPr sz="1100">
          <a:solidFill>
            <a:srgbClr val="2E2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20 seconds</a:t>
            </a:r>
          </a:p>
          <a:p/>
          <a:p>
            <a:r>
              <a:t>My thesis investigates how communication affects applications distributed across GPUs. I compare communication paths, extend interfaces that expose them, and test whether the benchmark results survive in a complete conjugate gradient solver. The key question is when moving communication into GPU kernels actually helps the application.</a:t>
            </a:r>
          </a:p>
          <a:p/>
          <a:p>
            <a:r>
              <a:t>SOURCES / EVIDENCE</a:t>
            </a:r>
          </a:p>
          <a:p>
            <a:r>
              <a:t>main.tex: thesis metadata</a:t>
            </a:r>
          </a:p>
          <a:p>
            <a:r>
              <a:t>chapters/01-introduction.tex</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33f6155f6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33f6155f6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BACKUP — use during questions</a:t>
            </a:r>
          </a:p>
          <a:p/>
          <a:p>
            <a:r>
              <a:t>This table exposes the other native backends and the difference between best and median statistics. Native MPI enters a slow mode in several multi-node configurations; the very large best-to-median spread must not be hidden by reporting only a fastest trial. At 8n4g, Bump MPI has eight retained trials; the other listed endpoint cells have nine, all across three allocations. Each solver run uses a manufactured solution and relative residual tolerance 1e-6. Timing covers solver execution, not initialization. Pattern centers are medians of allocation means, with trial means averaged within an allocation. Different backends have documented completion boundaries. The steady halo is a 100-exchange batch, not raw wire latency. NVSHMEM default benchmark collectives dispatch to NCCL; aCG disables that dispatch. The separate SYCL campaign uses NCCL 2.22.3 under oneCCL, unlike the main NCCL 2.18.5 campaign.</a:t>
            </a:r>
          </a:p>
          <a:p/>
          <a:p>
            <a:r>
              <a:t>SOURCES / EVIDENCE</a:t>
            </a:r>
          </a:p>
          <a:p>
            <a:r>
              <a:t>data/main-campaign/acg-summary.csv</a:t>
            </a:r>
          </a:p>
          <a:p>
            <a:r>
              <a:t>data/main-campaign/README.md</a:t>
            </a:r>
          </a:p>
          <a:p>
            <a:r>
              <a:t>chapters/04-methodology.tex: repetition, aggregation, timing, and aCG protocol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dd46dd1d67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dd46dd1d67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BACKUP — use during questions</a:t>
            </a:r>
          </a:p>
          <a:p/>
          <a:p>
            <a:r>
              <a:t>The SYCL study interleaves native and SYCL executions in the same allocations. The reported ratio is the median over allocations of per-allocation ratios of medians, not necessarily the quotient of the two global medians. Across one to four GPUs, the reported ratios are 0.87 to 1.02 for the two matrices. Matching 32-bit sparse indices, device-resident scalars, and one host convergence wait per iteration is important. Across nodes the oneCCL/NCCL path imposes host completion on reductions, and it must not be interpreted as a programming-model-only cost. The paired NCCL comparison also changes library version. The MPI slow mode in the native path is not a universal property of MPI: the SYCL MPI path continues scaling on the same installation. All claims concern the measured NVIDIA platform.</a:t>
            </a:r>
          </a:p>
          <a:p/>
          <a:p>
            <a:r>
              <a:t>SOURCES / EVIDENCE</a:t>
            </a:r>
          </a:p>
          <a:p>
            <a:r>
              <a:t>data/main-campaign/acg-sycl-table.tex</a:t>
            </a:r>
          </a:p>
          <a:p>
            <a:r>
              <a:t>data/main-campaign/acg-sycl-comparison.csv</a:t>
            </a:r>
          </a:p>
          <a:p>
            <a:r>
              <a:t>chapters/06-discussion.tex: SYCL Portability Cost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dd46dd1d67_2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dd46dd1d67_2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BACKUP — use during questions</a:t>
            </a:r>
          </a:p>
          <a:p/>
          <a:p>
            <a:r>
              <a:t>Two narrowly matched checks support correspondence. The matched MPI and NCCL scalar intervals differ by 7.8 to 11.1 percent on average across five configurations. The device CG-step scaling shape agrees with the monolithic solver at grid side 8192 but differs enormously at side 512, even though the communication sequence and backend are unchanged. Local work per GPU and the work-to-transfer ratio are therefore essential matching variables. The regular two-neighbor benchmark halo does not capture the solver's directed peer graph or its overlap. These are descriptive comparisons, not trained models or held-out predictions. The scalar comparison uses MPI reductions from the OSHMPI-halo solver and reductions from the NCCL solver.</a:t>
            </a:r>
          </a:p>
          <a:p/>
          <a:p>
            <a:r>
              <a:t>SOURCES / EVIDENCE</a:t>
            </a:r>
          </a:p>
          <a:p>
            <a:r>
              <a:t>data/main-campaign/reduction-error-table.tex: [['MPI', '9.2\\%', '11.1\\%'], ['NCCL', '10.5\\%', '7.8\\%']]</a:t>
            </a:r>
          </a:p>
          <a:p>
            <a:r>
              <a:t>data/main-campaign/cg-device-correlation-table.tex: [['512', '582.2\\%', '852.6\\%'], ['1024', '490.2\\%', '723.0\\%'], ['2048', '328.2\\%', '490.7\\%'], ['4096', '56.0\\%', '104.8\\%'], ['8192', '8.0\\%', '12.6\\%']]</a:t>
            </a:r>
          </a:p>
          <a:p>
            <a:r>
              <a:t>chapters/06-discussion.tex: Cross-Level Synthesis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17b871a4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17b871a4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50 seconds</a:t>
            </a:r>
          </a:p>
          <a:p/>
          <a:p>
            <a:r>
              <a:t>A GPU can execute local work very quickly, but a distributed application must also exchange data. On the left, a simulation divides its domain among GPUs. Each GPU needs values from neighboring partitions, and the algorithm also combines small scalar results across all participants. On the right, a mixture-of-experts model routes tokens to expert submodels held on different GPUs. These workloads have very different communication patterns, yet both can spend critical-path time waiting for data. That waiting is the motivation for looking beyond raw compute speed.</a:t>
            </a:r>
          </a:p>
          <a:p/>
          <a:p>
            <a:r>
              <a:t>SOURCES / EVIDENCE</a:t>
            </a:r>
          </a:p>
          <a:p>
            <a:r>
              <a:t>chapters/01-introduction.tex: Motivation</a:t>
            </a:r>
          </a:p>
          <a:p>
            <a:r>
              <a:t>Hamidouche et al., GPU-Initiated Networking for NCCL, arXiv:2511.15076</a:t>
            </a:r>
          </a:p>
          <a:p>
            <a:r>
              <a:t>Shen et al., Every Microsecond Matters, arXiv:2607.16100</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33f6155f6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33f6155f6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35 seconds</a:t>
            </a:r>
          </a:p>
          <a:p/>
          <a:p>
            <a:r>
              <a:t>I organize the work around three questions. First, in which measured configurations does device initiation help? Second, what programming and runtime costs arise when these paths are exposed through a common interface? Third, which benchmark observations transfer to a complete application? The method is bottom-up: start with patterns, add composition, and finally include the solver's real dependencies and convergence.</a:t>
            </a:r>
          </a:p>
          <a:p/>
          <a:p>
            <a:r>
              <a:t>SOURCES / EVIDENCE</a:t>
            </a:r>
          </a:p>
          <a:p>
            <a:r>
              <a:t>chapters/01-introduction.tex: Research Questions</a:t>
            </a:r>
          </a:p>
          <a:p>
            <a:r>
              <a:t>chapters/04-methodology.tex: evaluation design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50 seconds</a:t>
            </a:r>
          </a:p>
          <a:p/>
          <a:p>
            <a:r>
              <a:t>The interest is driven by a combination of workloads and interfaces. During distributed inference, small collectives can lie directly on the token-generation critical path. Mixture-of-experts models also create routing-dependent exchanges that benefit from fine-grained control. At the same time, symmetric-memory runtimes and device-callable APIs make it practical to combine communication with computation. This creates an opportunity to reduce launches, host coordination, and exposed waiting. It does not guarantee a gain: the kernel must still move data, synchronize correctly, and share GPU resources with computation.</a:t>
            </a:r>
          </a:p>
          <a:p/>
          <a:p>
            <a:r>
              <a:t>SOURCES / EVIDENCE</a:t>
            </a:r>
          </a:p>
          <a:p>
            <a:r>
              <a:t>Hamidouche et al. (2025), arXiv:2511.15076</a:t>
            </a:r>
          </a:p>
          <a:p>
            <a:r>
              <a:t>Ma et al. (2026), Demystifying NVSHMEM, arXiv:2606.05951</a:t>
            </a:r>
          </a:p>
          <a:p>
            <a:r>
              <a:t>Shen et al. (2026), arXiv:2607.16100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dd46dd1d67_2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dd46dd1d67_2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65 seconds</a:t>
            </a:r>
          </a:p>
          <a:p/>
          <a:p>
            <a:r>
              <a:t>MPI is the portable message-passing reference. GPU-aware MPI accepts device buffers, but the application calls it from the CPU. Traditional NCCL is also submitted from the host, usually on a CUDA stream, with optimized GPU communication kernels underneath. NVSHMEM exposes a symmetric-memory model with host and device operations: the programmer manages remote addressing, notification, and safe reuse. NCCL has recently added a user device API and GPU-Initiated Networking, or GIN. Its direct and proxy networking backends reinforce why invocation and progress must be distinguished. OSHMPI implements OpenSHMEM over MPI; it is not a GPU-initiated path in this study. oneCCL is the common communication interface that I extended, while SYCL is the compute programming model. These are different layers, not interchangeable categories.</a:t>
            </a:r>
          </a:p>
          <a:p/>
          <a:p>
            <a:r>
              <a:t>SOURCES / EVIDENCE</a:t>
            </a:r>
          </a:p>
          <a:p>
            <a:r>
              <a:t>chapters/02-background.tex</a:t>
            </a:r>
          </a:p>
          <a:p>
            <a:r>
              <a:t>NVIDIA, Device-Initiated Communication, current NCCL documentation, accessed 2026-10-06: https://docs.nvidia.com/deeplearning/nccl/user-guide/docs/usage/deviceapi.html</a:t>
            </a:r>
          </a:p>
          <a:p>
            <a:r>
              <a:t>Main campaign uses NCCL 2.18.5 and NVSHMEM 2.11.0; newer NCCL device APIs are context/future work.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BACKUP — use during questions</a:t>
            </a:r>
          </a:p>
          <a:p/>
          <a:p>
            <a:r>
              <a:t>The archive characterizes one platform and configured paths. GPU initiation was not varied independently of persistence, batching, signaling, and kernel organization. There are two sparse matrices and no end-to-end MoE application. Sampling uses a small number of independent allocations, without hypothesis tests, so small point differences are not robust rankings. Future experiments should isolate those factors, verify transport selection and GPU/NIC placement, measure equivalent GPU-visible result states, and test complete applications. Portable device communication would need explicit ownership for symmetric windows and device handles without losing the host interface's stream and completion semantics.</a:t>
            </a:r>
          </a:p>
          <a:p/>
          <a:p>
            <a:r>
              <a:t>SOURCES / EVIDENCE</a:t>
            </a:r>
          </a:p>
          <a:p>
            <a:r>
              <a:t>chapters/06-discussion.tex: Limitations</a:t>
            </a:r>
          </a:p>
          <a:p>
            <a:r>
              <a:t>chapters/07-conclusion.tex: Future Work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17b8719ec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17b8719ec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55 seconds</a:t>
            </a:r>
          </a:p>
          <a:p/>
          <a:p>
            <a:r>
              <a:t>The main campaign runs on Leonardo's Booster partition, up to eight nodes with four A100 GPUs per node. NVLink and the inter-node network are different communication domains. I therefore label placement explicitly: eight-n-four-g means eight nodes and four GPUs per node. The measured NVSHMEM inter-node transport is ibrc, with CPU-proxy request posting; IBGDA was unavailable in this environment. Payloads can still use GPUDirect RDMA. The experiments progress from ping-pong, halos, reductions, and all-to-all through MoE and a composite CG step, then complete aCG solves on Bump and Queen. Comparisons describe configured paths, including their completion rules, rather than a pure change of call location.</a:t>
            </a:r>
          </a:p>
          <a:p/>
          <a:p>
            <a:r>
              <a:t>SOURCES / EVIDENCE</a:t>
            </a:r>
          </a:p>
          <a:p>
            <a:r>
              <a:t>chapters/04-methodology.tex: Experimental Setup, NVSHMEM network posting, benchmark protocol</a:t>
            </a:r>
          </a:p>
          <a:p>
            <a:r>
              <a:t>NVSHMEM collectives dispatch to NCCL in the default benchmark; aCG disables that dispatch.</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ed9256fe6f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ed9256fe6f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BACKUP — use during questions</a:t>
            </a:r>
          </a:p>
          <a:p/>
          <a:p>
            <a:r>
              <a:t>This exploratory study is outside the main campaign and does not answer the research questions. The eight-byte allreduce median changes from 12.4 to 7.5 microseconds with symmetric allocation and registration in NCCL 2.31.2, but ordinary allocation in the new version remains at 12.6. At 256 KiB the symmetric result is slower. Small all-to-all also does not show the allreduce benefit. The eight-byte payload is not automatically one FP64 sum because datatype is unrecorded. Exact source, launch configuration, completion, warm-up, validation output, and individual trials are unavailable. No uncertainty interval or application speedup can be reconstructed. The next step is a controlled reduction with verified invocation and GPU-consumable completion.</a:t>
            </a:r>
          </a:p>
          <a:p/>
          <a:p>
            <a:r>
              <a:t>SOURCES / EVIDENCE</a:t>
            </a:r>
          </a:p>
          <a:p>
            <a:r>
              <a:t>appendices/nccl-preliminary.tex</a:t>
            </a:r>
          </a:p>
          <a:p>
            <a:r>
              <a:t>NVIDIA NCCL buffer registration and device API documentation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54dda1946d_4_2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54dda1946d_4_2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70 seconds</a:t>
            </a:r>
          </a:p>
          <a:p/>
          <a:p>
            <a:r>
              <a:t>The contributions connect measurement, interface engineering, and application validation. First, I built a common CUDA and SYCL benchmark harness covering seven configured stacks, with shared mapping, timing, and validation policies. Second, I extended oneCCL's NCCL backend so group boundaries reach NCCL, enabling mutually dependent batches of sends and receives. Third, I added the benchmarked OSHMPI operations and a separate NVSHMEM runtime foundation. That NVSHMEM adapter validates bootstrap, lifecycle, and symmetric staging, but its public operations remain unsupported and provide no performance results. Fourth, I added an OSHMPI halo communicator to the existing aCG suite. Finally, I implemented a SYCL version of aCG. The published native aCG solver and its device-NVSHMEM variant are the baseline application, not a new solver algorithm invented by this thesis.</a:t>
            </a:r>
          </a:p>
          <a:p/>
          <a:p>
            <a:r>
              <a:t>SOURCES / EVIDENCE</a:t>
            </a:r>
          </a:p>
          <a:p>
            <a:r>
              <a:t>chapters/01-introduction.tex: Contributions</a:t>
            </a:r>
          </a:p>
          <a:p>
            <a:r>
              <a:t>references.bib: merenda_gpu_comm_benchmark_2026; merenda_oneccl_nccl_groups_2026; merenda_oneccl_oshmpi_2026; merenda_oneccl_nvshmem_2026; merenda_acg_oshmpi_2026; merenda_acg_sycl_2026</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340135a08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340135a08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75 seconds</a:t>
            </a:r>
          </a:p>
          <a:p/>
          <a:p>
            <a:r>
              <a:t>GPU-initiated means that a GPU thread issues the communication operation from inside a kernel. In a conventional host-driven sequence, the CPU submits communication and arranges dependencies between producing and consuming kernels. Efficient host libraries can enqueue work asynchronously; this diagram is conceptual, not a claim that every host call blocks. A persistent implementation keeps repeated compute, communication, and synchronization inside device work. Two distinctions are essential. First, GPU-aware MPI can accept a device buffer without allowing a GPU thread to call MPI. Second, a GPU-issued request can still be handed to a CPU proxy for network posting. Direct GPU-memory data movement and direct GPU-to-NIC request posting are separate properties. The CPU also remains responsible for initialization and resource setup.</a:t>
            </a:r>
          </a:p>
          <a:p/>
          <a:p>
            <a:r>
              <a:t>SOURCES / EVIDENCE</a:t>
            </a:r>
          </a:p>
          <a:p>
            <a:r>
              <a:t>chapters/02-background.tex</a:t>
            </a:r>
          </a:p>
          <a:p>
            <a:r>
              <a:t>chapters/04-methodology.tex: NVSHMEM network posting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113dfeee94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113dfeee94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75 seconds</a:t>
            </a:r>
          </a:p>
          <a:p/>
          <a:p>
            <a:r>
              <a:t>The clearest favorable device-initiated regime is the steady halo. Here each sample contains one hundred regular neighbor exchanges, and NVSHMEM executes them inside a persistent GPU kernel with neighbor signaling. At eight nodes with four GPUs each, the effective aggregate rate is 40.6 gigabytes per second, compared with 35.7 for CUDA MPI and 24.4 for OSHMPI. The NVSHMEM rate is also nearly flat across the three multi-node placements. This is an aggregate benchmark rate, not the rate of one physical network link. MPI retains the small-message and isolated-exchange advantage. Importantly, the paths differ in batching, signaling, persistence, and completion as well as initiation. The result identifies a useful complete execution path; it does not isolate a GPU-initiation-only speedup.</a:t>
            </a:r>
          </a:p>
          <a:p/>
          <a:p>
            <a:r>
              <a:t>SOURCES / EVIDENCE</a:t>
            </a:r>
          </a:p>
          <a:p>
            <a:r>
              <a:t>data/main-campaign/halo_1d-bandwidth-table.tex</a:t>
            </a:r>
          </a:p>
          <a:p>
            <a:r>
              <a:t>chapters/04-methodology.tex: halo timing, 100-exchange batches</a:t>
            </a:r>
          </a:p>
          <a:p>
            <a:r>
              <a:t>chapters/06-discussion.tex: Device-Initiated Scaling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54dda1946d_4_2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54dda1946d_4_2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65 seconds</a:t>
            </a:r>
          </a:p>
          <a:p/>
          <a:p>
            <a:r>
              <a:t>A uniform all-to-all does not describe every routed workload. This chart keeps topology and total useful volume fixed and changes only routing. Values are normalized to MPI within each routing case, so lower is better. Under uniform routing, NCCL takes about half MPI's time. With locality-biased routing, NCCL becomes 1.55 times slower than MPI, while NVSHMEM is favorable. With eighty percent of tokens targeting one rank, the two one-sided put-based paths take about 1.8 times MPI's time. This is a dispatch-and-combine microbenchmark; routing, planning, and packing are outside timing, and there is no end-to-end MoE model result. The lesson is to match the payload distribution, not just the collective name and byte count.</a:t>
            </a:r>
          </a:p>
          <a:p/>
          <a:p>
            <a:r>
              <a:t>SOURCES / EVIDENCE</a:t>
            </a:r>
          </a:p>
          <a:p>
            <a:r>
              <a:t>data/main-campaign/moe-table.tex (microseconds; 8n4g columns)</a:t>
            </a:r>
          </a:p>
          <a:p>
            <a:r>
              <a:t>All six measured stacks, uniform / locality / hotspot: MPI: 6071 / 1513 / 34028; SYCL MPI: 6013 / 1527 / 33945; NCCL: 3038 / 2352 / 39617; NVSHMEM: 5050 / 1086 / 62007; OSHMPI: 10350 / 2561 / 62686; oneCCL/NCCL: 3063 / 1283 / 38924</a:t>
            </a:r>
          </a:p>
          <a:p>
            <a:r>
              <a:t>chapters/04-methodology.tex: MoE timing and useful-volume definition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1dd46dd1d67_2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1dd46dd1d67_2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95 seconds</a:t>
            </a:r>
          </a:p>
          <a:p/>
          <a:p>
            <a:r>
              <a:t>The application test solves two large sparse systems with conjugate gradient. Each iteration combines local sparse work, halo exchange, scalar reductions, and a convergence dependency. These charts follow the thesis's representative fastest residual-valid trial per configuration; they are not median curves, and the appendix provides median endpoints as a check. Device-NVSHMEM improves relative to the blocking OSHMPI-halo solver at larger configurations. NCCL nevertheless has lower representative times across these retained curves. At eight nodes, for example, Queen takes 7.25 seconds with NCCL, 8.79 with device-NVSHMEM, and 9.60 with OSHMPI. Bump's NCCL and device-NVSHMEM medians at that endpoint are very close, so I do not interpret that small gap as a robust ordering. The regular benchmark halo does not reproduce the solver's irregular peers and overlap. Matched scalar reductions agree more closely across levels. The meaningful target is exposed application time under the same result and completion requirements, not the fastest isolated transfer.</a:t>
            </a:r>
          </a:p>
          <a:p/>
          <a:p>
            <a:r>
              <a:t>SOURCES / EVIDENCE</a:t>
            </a:r>
          </a:p>
          <a:p>
            <a:r>
              <a:t>data/main-campaign/acg-summary.csv: best_solver_s; all plotted paths have 9 trials / 3 allocations per cell</a:t>
            </a:r>
          </a:p>
          <a:p>
            <a:r>
              <a:t>data/main-campaign/reduction-error-table.tex</a:t>
            </a:r>
          </a:p>
          <a:p>
            <a:r>
              <a:t>chapters/06-discussion.tex: Cross-Level Synthesis and Limitations</a:t>
            </a:r>
          </a:p>
          <a:p>
            <a:r>
              <a:t>At 8n4g, Bump medians: NCCL 6.369126 s; device NVSHMEM 6.413378 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17d1415e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117d1415e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65 seconds</a:t>
            </a:r>
          </a:p>
          <a:p/>
          <a:p>
            <a:r>
              <a:t>The same common interface can be inexpensive or costly depending on the adaptations it requires. For the bulk all-to-all endpoint, oneCCL over NCCL takes 0.98 times direct NCCL's time: essentially comparable at this resolution. My grouped point-to-point extension preserves the batch structure and asynchronous execution. For a sixteen-mebibyte intra-node allreduce, oneCCL over OSHMPI takes 17.9 times direct OSHMPI's time, about 6.54 milliseconds versus 0.364 milliseconds. Ordinary application buffers must be adapted to symmetric staging and a blocking completion contract. These are two different operation regimes, not a head-to-head ratio between adapters, and the comparisons also change compute interface or operand placement. They demonstrate the cost of the complete adapted path rather than pure wrapper overhead.</a:t>
            </a:r>
          </a:p>
          <a:p/>
          <a:p>
            <a:r>
              <a:t>SOURCES / EVIDENCE</a:t>
            </a:r>
          </a:p>
          <a:p>
            <a:r>
              <a:t>data/main-campaign/adapter-comparison.csv</a:t>
            </a:r>
          </a:p>
          <a:p>
            <a:r>
              <a:t>All-to-all endpoint: bytes_per_rank=8388608; direct 842.339 µs, adapted 824.939333 µs</a:t>
            </a:r>
          </a:p>
          <a:p>
            <a:r>
              <a:t>Allreduce endpoint: direct 364.465667 µs, adapted 6537.54 µs</a:t>
            </a:r>
          </a:p>
          <a:p>
            <a:r>
              <a:t>chapters/06-discussion.tex: RQ2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80 seconds</a:t>
            </a:r>
          </a:p>
          <a:p/>
          <a:p>
            <a:r>
              <a:t>Recent interfaces make the next experiments especially relevant. NCCL now offers device communication and GIN, with both GPU-direct request-posting and proxy implementations. Recent work by Shen and colleagues builds low-latency collectives on NCCL's device API and reports overhead within seven percent of its modeled scale-up hardware lower bound. That is a published result in its studied regime, not a result of this thesis or a general scale-out guarantee. My first priority is a matched comparison of proxy and verified GPU-posted networking. Second, isolate initiation from persistence, allocation, batching, algorithm, and completion. Third, strengthen application correspondence by replaying real peer graphs and matching local work. Finally, newer NVSHMEM and NCCL device operations could be exposed through a portable oneCCL and SYCL interface. Every candidate improvement must then be tested in a complete application.</a:t>
            </a:r>
          </a:p>
          <a:p/>
          <a:p>
            <a:r>
              <a:t>SOURCES / EVIDENCE</a:t>
            </a:r>
          </a:p>
          <a:p>
            <a:r>
              <a:t>chapters/07-conclusion.tex: five future directions</a:t>
            </a:r>
          </a:p>
          <a:p>
            <a:r>
              <a:t>NVIDIA current NCCL documentation, accessed 2026-10-06: https://docs.nvidia.com/deeplearning/nccl/user-guide/docs/usage/deviceapi.html</a:t>
            </a:r>
          </a:p>
          <a:p>
            <a:r>
              <a:t>Hamidouche et al. (2025), arXiv:2511.15076, https://arxiv.org/abs/2511.15076</a:t>
            </a:r>
          </a:p>
          <a:p>
            <a:r>
              <a:t>Shen et al. (2026), arXiv:2607.16100, https://arxiv.org/abs/2607.16100; scale-up scope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BACKUP — use during questions</a:t>
            </a:r>
          </a:p>
          <a:p/>
          <a:p>
            <a:r>
              <a:t>These references support the background and recent-developments slides. External results are attributed to their authors; the thesis measurements use the retained archive identified in the accompanying manifest. The three recent papers are preprints in the cited arXiv versions. The native aCG baseline is credited in the thesis to Trotter et al. (2025); this thesis extends its communication and compute paths. The presentation is derived from the supplied Slidesgo template, and its original Thanks-slide credits are retained.</a:t>
            </a:r>
          </a:p>
          <a:p/>
          <a:p>
            <a:r>
              <a:t>SOURCES / EVIDENCE</a:t>
            </a:r>
          </a:p>
          <a:p>
            <a:r>
              <a:t>https://arxiv.org/abs/2606.05951</a:t>
            </a:r>
          </a:p>
          <a:p>
            <a:r>
              <a:t>https://arxiv.org/abs/2511.15076</a:t>
            </a:r>
          </a:p>
          <a:p>
            <a:r>
              <a:t>https://arxiv.org/abs/2607.16100</a:t>
            </a:r>
          </a:p>
          <a:p>
            <a:r>
              <a:t>https://docs.nvidia.com/deeplearning/nccl/user-guide/docs/usage/deviceapi.html</a:t>
            </a:r>
          </a:p>
          <a:p>
            <a:r>
              <a:t>references.bib: trotter_cpu-_2025</a:t>
            </a:r>
          </a:p>
          <a:p>
            <a:r>
              <a:t>merenda_gpu_comm_benchmark_2026: https://github.com/y3rbiadit0/gpu-comm-benchmark</a:t>
            </a:r>
          </a:p>
          <a:p>
            <a:r>
              <a:t>merenda_oneccl_nccl_groups_2026: https://github.com/y3rbiadit0/oneCCL/tree/fix/nccl_group_support</a:t>
            </a:r>
          </a:p>
          <a:p>
            <a:r>
              <a:t>merenda_oneccl_oshmpi_2026: https://github.com/y3rbiadit0/oneCCL/tree/feat/oshmpi</a:t>
            </a:r>
          </a:p>
          <a:p>
            <a:r>
              <a:t>merenda_oneccl_nvshmem_2026: https://github.com/y3rbiadit0/oneCCL/tree/feat/nvshmem_collectives</a:t>
            </a:r>
          </a:p>
          <a:p>
            <a:r>
              <a:t>merenda_acg_oshmpi_2026: https://github.com/y3rbiadit0/aCG-oshmpi/tree/oshmpi</a:t>
            </a:r>
          </a:p>
          <a:p>
            <a:r>
              <a:t>merenda_acg_sycl_2026: https://github.com/y3rbiadit0/acg-sycl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1340135a08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1340135a08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TARGET: 40 seconds</a:t>
            </a:r>
          </a:p>
          <a:p/>
          <a:p>
            <a:r>
              <a:t>The conclusion is that GPU initiation is a conditional tool. It is effective when the traffic structure and execution model let it reduce exposed work, but the call location alone does not determine performance. My contribution is a connected method and set of software paths for testing that decision: match the application's communication pattern, match its completion requirements, and validate the complete solver. Thank you. I am happy to take questions.</a:t>
            </a:r>
          </a:p>
          <a:p/>
          <a:p>
            <a:r>
              <a:t>SOURCES / EVIDENCE</a:t>
            </a:r>
          </a:p>
          <a:p>
            <a:r>
              <a:t>chapters/07-conclusion.tex</a:t>
            </a:r>
          </a:p>
          <a:p>
            <a:r>
              <a:t>Presentation template: Greenwashing Impact Thesis Defense by Slidesgo. Original Thanks-slide attribution retained in the layout.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1.png"/><Relationship Id="rId7"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p:nvPr>
            <p:ph type="ctrTitle"/>
          </p:nvPr>
        </p:nvSpPr>
        <p:spPr>
          <a:xfrm>
            <a:off x="1577850" y="1678056"/>
            <a:ext cx="5988300" cy="13383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b="0"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78450" y="3062656"/>
            <a:ext cx="2787000" cy="65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lt1"/>
                </a:solidFill>
                <a:latin typeface="Commissioner"/>
                <a:ea typeface="Commissioner"/>
                <a:cs typeface="Commissioner"/>
                <a:sym typeface="Commissioner"/>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title"/>
          </p:nvPr>
        </p:nvSpPr>
        <p:spPr>
          <a:xfrm>
            <a:off x="2351175" y="2419588"/>
            <a:ext cx="44415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b="0"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3909825" y="1433013"/>
            <a:ext cx="1324200" cy="1062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b="1"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txBox="1"/>
          <p:nvPr>
            <p:ph idx="1" type="subTitle"/>
          </p:nvPr>
        </p:nvSpPr>
        <p:spPr>
          <a:xfrm>
            <a:off x="2351175" y="3110988"/>
            <a:ext cx="4441500" cy="41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600"/>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 name="Google Shape;1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 name="Google Shape;20;p4"/>
          <p:cNvSpPr txBox="1"/>
          <p:nvPr>
            <p:ph idx="1" type="body"/>
          </p:nvPr>
        </p:nvSpPr>
        <p:spPr>
          <a:xfrm>
            <a:off x="720000" y="1258125"/>
            <a:ext cx="7704000" cy="32331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grpSp>
        <p:nvGrpSpPr>
          <p:cNvPr id="21" name="Google Shape;21;p4"/>
          <p:cNvGrpSpPr/>
          <p:nvPr/>
        </p:nvGrpSpPr>
        <p:grpSpPr>
          <a:xfrm>
            <a:off x="-326460" y="4030992"/>
            <a:ext cx="4232325" cy="1797250"/>
            <a:chOff x="-326460" y="4030992"/>
            <a:chExt cx="4232325" cy="1797250"/>
          </a:xfrm>
        </p:grpSpPr>
        <p:pic>
          <p:nvPicPr>
            <p:cNvPr id="22" name="Google Shape;22;p4"/>
            <p:cNvPicPr preferRelativeResize="0"/>
            <p:nvPr/>
          </p:nvPicPr>
          <p:blipFill>
            <a:blip r:embed="rId3">
              <a:alphaModFix/>
            </a:blip>
            <a:stretch>
              <a:fillRect/>
            </a:stretch>
          </p:blipFill>
          <p:spPr>
            <a:xfrm flipH="1" rot="10800000">
              <a:off x="-326460" y="4030992"/>
              <a:ext cx="3336551" cy="1797250"/>
            </a:xfrm>
            <a:prstGeom prst="rect">
              <a:avLst/>
            </a:prstGeom>
            <a:noFill/>
            <a:ln>
              <a:noFill/>
            </a:ln>
          </p:spPr>
        </p:pic>
        <p:pic>
          <p:nvPicPr>
            <p:cNvPr id="23" name="Google Shape;23;p4"/>
            <p:cNvPicPr preferRelativeResize="0"/>
            <p:nvPr/>
          </p:nvPicPr>
          <p:blipFill>
            <a:blip r:embed="rId4">
              <a:alphaModFix/>
            </a:blip>
            <a:stretch>
              <a:fillRect/>
            </a:stretch>
          </p:blipFill>
          <p:spPr>
            <a:xfrm flipH="1" rot="10800000">
              <a:off x="-326460" y="4439742"/>
              <a:ext cx="4232325" cy="1338350"/>
            </a:xfrm>
            <a:prstGeom prst="rect">
              <a:avLst/>
            </a:prstGeom>
            <a:noFill/>
            <a:ln>
              <a:noFill/>
            </a:ln>
            <a:effectLst>
              <a:outerShdw blurRad="128588" rotWithShape="0" algn="bl" dir="16020000" dist="57150">
                <a:schemeClr val="lt1">
                  <a:alpha val="25000"/>
                </a:schemeClr>
              </a:outerShdw>
            </a:effectLst>
          </p:spPr>
        </p:pic>
      </p:grpSp>
      <p:grpSp>
        <p:nvGrpSpPr>
          <p:cNvPr id="24" name="Google Shape;24;p4"/>
          <p:cNvGrpSpPr/>
          <p:nvPr/>
        </p:nvGrpSpPr>
        <p:grpSpPr>
          <a:xfrm>
            <a:off x="4883436" y="-851467"/>
            <a:ext cx="4519251" cy="1875502"/>
            <a:chOff x="4883436" y="-851467"/>
            <a:chExt cx="4519251" cy="1875502"/>
          </a:xfrm>
        </p:grpSpPr>
        <p:pic>
          <p:nvPicPr>
            <p:cNvPr id="25" name="Google Shape;25;p4"/>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26" name="Google Shape;26;p4"/>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rotWithShape="0" algn="bl" dir="10800000" dist="76200">
                <a:schemeClr val="lt1">
                  <a:alpha val="25000"/>
                </a:schemeClr>
              </a:outerShdw>
            </a:effectLst>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pic>
        <p:nvPicPr>
          <p:cNvPr id="28" name="Google Shape;28;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 name="Google Shape;30;p5"/>
          <p:cNvSpPr txBox="1"/>
          <p:nvPr>
            <p:ph idx="1" type="subTitle"/>
          </p:nvPr>
        </p:nvSpPr>
        <p:spPr>
          <a:xfrm>
            <a:off x="4725900" y="1759553"/>
            <a:ext cx="3698100" cy="2736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2800"/>
              <a:buChar char="○"/>
              <a:defRPr sz="2800"/>
            </a:lvl2pPr>
            <a:lvl3pPr lvl="2" rtl="0" algn="ctr">
              <a:lnSpc>
                <a:spcPct val="115000"/>
              </a:lnSpc>
              <a:spcBef>
                <a:spcPts val="0"/>
              </a:spcBef>
              <a:spcAft>
                <a:spcPts val="0"/>
              </a:spcAft>
              <a:buSzPts val="2800"/>
              <a:buChar char="■"/>
              <a:defRPr sz="2800"/>
            </a:lvl3pPr>
            <a:lvl4pPr lvl="3" rtl="0" algn="ctr">
              <a:lnSpc>
                <a:spcPct val="115000"/>
              </a:lnSpc>
              <a:spcBef>
                <a:spcPts val="0"/>
              </a:spcBef>
              <a:spcAft>
                <a:spcPts val="0"/>
              </a:spcAft>
              <a:buSzPts val="2800"/>
              <a:buChar char="●"/>
              <a:defRPr sz="2800"/>
            </a:lvl4pPr>
            <a:lvl5pPr lvl="4" rtl="0" algn="ctr">
              <a:lnSpc>
                <a:spcPct val="115000"/>
              </a:lnSpc>
              <a:spcBef>
                <a:spcPts val="0"/>
              </a:spcBef>
              <a:spcAft>
                <a:spcPts val="0"/>
              </a:spcAft>
              <a:buSzPts val="2800"/>
              <a:buChar char="○"/>
              <a:defRPr sz="2800"/>
            </a:lvl5pPr>
            <a:lvl6pPr lvl="5" rtl="0" algn="ctr">
              <a:lnSpc>
                <a:spcPct val="115000"/>
              </a:lnSpc>
              <a:spcBef>
                <a:spcPts val="0"/>
              </a:spcBef>
              <a:spcAft>
                <a:spcPts val="0"/>
              </a:spcAft>
              <a:buSzPts val="2800"/>
              <a:buChar char="■"/>
              <a:defRPr sz="2800"/>
            </a:lvl6pPr>
            <a:lvl7pPr lvl="6" rtl="0" algn="ctr">
              <a:lnSpc>
                <a:spcPct val="115000"/>
              </a:lnSpc>
              <a:spcBef>
                <a:spcPts val="0"/>
              </a:spcBef>
              <a:spcAft>
                <a:spcPts val="0"/>
              </a:spcAft>
              <a:buSzPts val="2800"/>
              <a:buChar char="●"/>
              <a:defRPr sz="2800"/>
            </a:lvl7pPr>
            <a:lvl8pPr lvl="7" rtl="0" algn="ctr">
              <a:lnSpc>
                <a:spcPct val="115000"/>
              </a:lnSpc>
              <a:spcBef>
                <a:spcPts val="0"/>
              </a:spcBef>
              <a:spcAft>
                <a:spcPts val="0"/>
              </a:spcAft>
              <a:buSzPts val="2800"/>
              <a:buChar char="○"/>
              <a:defRPr sz="2800"/>
            </a:lvl8pPr>
            <a:lvl9pPr lvl="8" rtl="0" algn="ctr">
              <a:lnSpc>
                <a:spcPct val="115000"/>
              </a:lnSpc>
              <a:spcBef>
                <a:spcPts val="0"/>
              </a:spcBef>
              <a:spcAft>
                <a:spcPts val="0"/>
              </a:spcAft>
              <a:buSzPts val="2800"/>
              <a:buChar char="■"/>
              <a:defRPr sz="2800"/>
            </a:lvl9pPr>
          </a:lstStyle>
          <a:p/>
        </p:txBody>
      </p:sp>
      <p:sp>
        <p:nvSpPr>
          <p:cNvPr id="31" name="Google Shape;31;p5"/>
          <p:cNvSpPr txBox="1"/>
          <p:nvPr>
            <p:ph idx="2" type="subTitle"/>
          </p:nvPr>
        </p:nvSpPr>
        <p:spPr>
          <a:xfrm>
            <a:off x="720000" y="1759553"/>
            <a:ext cx="3698100" cy="2736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1400"/>
              <a:buChar char="○"/>
              <a:defRPr sz="2800"/>
            </a:lvl2pPr>
            <a:lvl3pPr lvl="2" rtl="0" algn="ctr">
              <a:lnSpc>
                <a:spcPct val="115000"/>
              </a:lnSpc>
              <a:spcBef>
                <a:spcPts val="0"/>
              </a:spcBef>
              <a:spcAft>
                <a:spcPts val="0"/>
              </a:spcAft>
              <a:buSzPts val="1400"/>
              <a:buChar char="■"/>
              <a:defRPr sz="2800"/>
            </a:lvl3pPr>
            <a:lvl4pPr lvl="3" rtl="0" algn="ctr">
              <a:lnSpc>
                <a:spcPct val="115000"/>
              </a:lnSpc>
              <a:spcBef>
                <a:spcPts val="0"/>
              </a:spcBef>
              <a:spcAft>
                <a:spcPts val="0"/>
              </a:spcAft>
              <a:buSzPts val="1400"/>
              <a:buChar char="●"/>
              <a:defRPr sz="2800"/>
            </a:lvl4pPr>
            <a:lvl5pPr lvl="4" rtl="0" algn="ctr">
              <a:lnSpc>
                <a:spcPct val="115000"/>
              </a:lnSpc>
              <a:spcBef>
                <a:spcPts val="0"/>
              </a:spcBef>
              <a:spcAft>
                <a:spcPts val="0"/>
              </a:spcAft>
              <a:buSzPts val="1400"/>
              <a:buChar char="○"/>
              <a:defRPr sz="2800"/>
            </a:lvl5pPr>
            <a:lvl6pPr lvl="5" rtl="0" algn="ctr">
              <a:lnSpc>
                <a:spcPct val="115000"/>
              </a:lnSpc>
              <a:spcBef>
                <a:spcPts val="0"/>
              </a:spcBef>
              <a:spcAft>
                <a:spcPts val="0"/>
              </a:spcAft>
              <a:buSzPts val="1400"/>
              <a:buChar char="■"/>
              <a:defRPr sz="2800"/>
            </a:lvl6pPr>
            <a:lvl7pPr lvl="6" rtl="0" algn="ctr">
              <a:lnSpc>
                <a:spcPct val="115000"/>
              </a:lnSpc>
              <a:spcBef>
                <a:spcPts val="0"/>
              </a:spcBef>
              <a:spcAft>
                <a:spcPts val="0"/>
              </a:spcAft>
              <a:buSzPts val="1400"/>
              <a:buChar char="●"/>
              <a:defRPr sz="2800"/>
            </a:lvl7pPr>
            <a:lvl8pPr lvl="7" rtl="0" algn="ctr">
              <a:lnSpc>
                <a:spcPct val="115000"/>
              </a:lnSpc>
              <a:spcBef>
                <a:spcPts val="0"/>
              </a:spcBef>
              <a:spcAft>
                <a:spcPts val="0"/>
              </a:spcAft>
              <a:buSzPts val="1400"/>
              <a:buChar char="○"/>
              <a:defRPr sz="2800"/>
            </a:lvl8pPr>
            <a:lvl9pPr lvl="8" rtl="0" algn="ctr">
              <a:lnSpc>
                <a:spcPct val="115000"/>
              </a:lnSpc>
              <a:spcBef>
                <a:spcPts val="0"/>
              </a:spcBef>
              <a:spcAft>
                <a:spcPts val="0"/>
              </a:spcAft>
              <a:buSzPts val="1400"/>
              <a:buChar char="■"/>
              <a:defRPr sz="2800"/>
            </a:lvl9pPr>
          </a:lstStyle>
          <a:p/>
        </p:txBody>
      </p:sp>
      <p:sp>
        <p:nvSpPr>
          <p:cNvPr id="32" name="Google Shape;32;p5"/>
          <p:cNvSpPr txBox="1"/>
          <p:nvPr>
            <p:ph idx="3" type="subTitle"/>
          </p:nvPr>
        </p:nvSpPr>
        <p:spPr>
          <a:xfrm>
            <a:off x="720000" y="1309675"/>
            <a:ext cx="3698100" cy="4500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p:txBody>
      </p:sp>
      <p:sp>
        <p:nvSpPr>
          <p:cNvPr id="33" name="Google Shape;33;p5"/>
          <p:cNvSpPr txBox="1"/>
          <p:nvPr>
            <p:ph idx="4" type="subTitle"/>
          </p:nvPr>
        </p:nvSpPr>
        <p:spPr>
          <a:xfrm>
            <a:off x="4725900" y="1309675"/>
            <a:ext cx="3698100" cy="4500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p:txBody>
      </p:sp>
      <p:grpSp>
        <p:nvGrpSpPr>
          <p:cNvPr id="34" name="Google Shape;34;p5"/>
          <p:cNvGrpSpPr/>
          <p:nvPr/>
        </p:nvGrpSpPr>
        <p:grpSpPr>
          <a:xfrm>
            <a:off x="-15997" y="-851467"/>
            <a:ext cx="9285322" cy="6729834"/>
            <a:chOff x="-15997" y="-851467"/>
            <a:chExt cx="9285322" cy="6729834"/>
          </a:xfrm>
        </p:grpSpPr>
        <p:grpSp>
          <p:nvGrpSpPr>
            <p:cNvPr id="35" name="Google Shape;35;p5"/>
            <p:cNvGrpSpPr/>
            <p:nvPr/>
          </p:nvGrpSpPr>
          <p:grpSpPr>
            <a:xfrm>
              <a:off x="4911675" y="4081117"/>
              <a:ext cx="4357650" cy="1797250"/>
              <a:chOff x="4911675" y="4081117"/>
              <a:chExt cx="4357650" cy="1797250"/>
            </a:xfrm>
          </p:grpSpPr>
          <p:pic>
            <p:nvPicPr>
              <p:cNvPr id="36" name="Google Shape;36;p5"/>
              <p:cNvPicPr preferRelativeResize="0"/>
              <p:nvPr/>
            </p:nvPicPr>
            <p:blipFill>
              <a:blip r:embed="rId3">
                <a:alphaModFix/>
              </a:blip>
              <a:stretch>
                <a:fillRect/>
              </a:stretch>
            </p:blipFill>
            <p:spPr>
              <a:xfrm rot="10800000">
                <a:off x="5932774" y="4878566"/>
                <a:ext cx="3336551" cy="718900"/>
              </a:xfrm>
              <a:prstGeom prst="rect">
                <a:avLst/>
              </a:prstGeom>
              <a:noFill/>
              <a:ln>
                <a:noFill/>
              </a:ln>
            </p:spPr>
          </p:pic>
          <p:pic>
            <p:nvPicPr>
              <p:cNvPr id="37" name="Google Shape;37;p5"/>
              <p:cNvPicPr preferRelativeResize="0"/>
              <p:nvPr/>
            </p:nvPicPr>
            <p:blipFill>
              <a:blip r:embed="rId4">
                <a:alphaModFix/>
              </a:blip>
              <a:stretch>
                <a:fillRect/>
              </a:stretch>
            </p:blipFill>
            <p:spPr>
              <a:xfrm rot="10800000">
                <a:off x="4911675" y="5022016"/>
                <a:ext cx="4232325" cy="535340"/>
              </a:xfrm>
              <a:prstGeom prst="rect">
                <a:avLst/>
              </a:prstGeom>
              <a:noFill/>
              <a:ln>
                <a:noFill/>
              </a:ln>
              <a:effectLst>
                <a:outerShdw blurRad="128588" rotWithShape="0" algn="bl" dir="9480000" dist="57150">
                  <a:schemeClr val="lt1">
                    <a:alpha val="25000"/>
                  </a:schemeClr>
                </a:outerShdw>
              </a:effectLst>
            </p:spPr>
          </p:pic>
        </p:grpSp>
        <p:grpSp>
          <p:nvGrpSpPr>
            <p:cNvPr id="38" name="Google Shape;38;p5"/>
            <p:cNvGrpSpPr/>
            <p:nvPr/>
          </p:nvGrpSpPr>
          <p:grpSpPr>
            <a:xfrm>
              <a:off x="-15997" y="-851467"/>
              <a:ext cx="4519251" cy="1875502"/>
              <a:chOff x="-15997" y="-851467"/>
              <a:chExt cx="4519251" cy="1875502"/>
            </a:xfrm>
          </p:grpSpPr>
          <p:pic>
            <p:nvPicPr>
              <p:cNvPr id="39" name="Google Shape;39;p5"/>
              <p:cNvPicPr preferRelativeResize="0"/>
              <p:nvPr/>
            </p:nvPicPr>
            <p:blipFill>
              <a:blip r:embed="rId3">
                <a:alphaModFix/>
              </a:blip>
              <a:stretch>
                <a:fillRect/>
              </a:stretch>
            </p:blipFill>
            <p:spPr>
              <a:xfrm>
                <a:off x="-15997" y="-231964"/>
                <a:ext cx="3336551" cy="539175"/>
              </a:xfrm>
              <a:prstGeom prst="rect">
                <a:avLst/>
              </a:prstGeom>
              <a:noFill/>
              <a:ln>
                <a:noFill/>
              </a:ln>
            </p:spPr>
          </p:pic>
          <p:pic>
            <p:nvPicPr>
              <p:cNvPr id="40" name="Google Shape;40;p5"/>
              <p:cNvPicPr preferRelativeResize="0"/>
              <p:nvPr/>
            </p:nvPicPr>
            <p:blipFill>
              <a:blip r:embed="rId4">
                <a:alphaModFix/>
              </a:blip>
              <a:stretch>
                <a:fillRect/>
              </a:stretch>
            </p:blipFill>
            <p:spPr>
              <a:xfrm>
                <a:off x="-15997" y="-255440"/>
                <a:ext cx="4519251" cy="428722"/>
              </a:xfrm>
              <a:prstGeom prst="rect">
                <a:avLst/>
              </a:prstGeom>
              <a:noFill/>
              <a:ln>
                <a:noFill/>
              </a:ln>
              <a:effectLst>
                <a:outerShdw blurRad="142875" rotWithShape="0" algn="bl" dir="9300000" dist="76200">
                  <a:schemeClr val="lt1">
                    <a:alpha val="25000"/>
                  </a:schemeClr>
                </a:outerShdw>
              </a:effectLst>
            </p:spPr>
          </p:pic>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pic>
        <p:nvPicPr>
          <p:cNvPr id="42" name="Google Shape;42;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43" name="Google Shape;4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b="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44" name="Google Shape;44;p6"/>
          <p:cNvPicPr preferRelativeResize="0"/>
          <p:nvPr/>
        </p:nvPicPr>
        <p:blipFill>
          <a:blip r:embed="rId3">
            <a:alphaModFix/>
          </a:blip>
          <a:stretch>
            <a:fillRect/>
          </a:stretch>
        </p:blipFill>
        <p:spPr>
          <a:xfrm rot="10800000">
            <a:off x="6066136" y="4858516"/>
            <a:ext cx="3336551" cy="718900"/>
          </a:xfrm>
          <a:prstGeom prst="rect">
            <a:avLst/>
          </a:prstGeom>
          <a:noFill/>
          <a:ln>
            <a:noFill/>
          </a:ln>
        </p:spPr>
      </p:pic>
      <p:pic>
        <p:nvPicPr>
          <p:cNvPr id="45" name="Google Shape;45;p6"/>
          <p:cNvPicPr preferRelativeResize="0"/>
          <p:nvPr/>
        </p:nvPicPr>
        <p:blipFill>
          <a:blip r:embed="rId4">
            <a:alphaModFix/>
          </a:blip>
          <a:stretch>
            <a:fillRect/>
          </a:stretch>
        </p:blipFill>
        <p:spPr>
          <a:xfrm rot="10800000">
            <a:off x="5170363" y="5022016"/>
            <a:ext cx="4232325" cy="535340"/>
          </a:xfrm>
          <a:prstGeom prst="rect">
            <a:avLst/>
          </a:prstGeom>
          <a:noFill/>
          <a:ln>
            <a:noFill/>
          </a:ln>
          <a:effectLst>
            <a:outerShdw blurRad="128588" rotWithShape="0" algn="bl" dir="9900000" dist="57150">
              <a:schemeClr val="lt1">
                <a:alpha val="25000"/>
              </a:schemeClr>
            </a:outerShdw>
          </a:effectLst>
        </p:spPr>
      </p:pic>
      <p:pic>
        <p:nvPicPr>
          <p:cNvPr id="46" name="Google Shape;46;p6"/>
          <p:cNvPicPr preferRelativeResize="0"/>
          <p:nvPr/>
        </p:nvPicPr>
        <p:blipFill>
          <a:blip r:embed="rId3">
            <a:alphaModFix/>
          </a:blip>
          <a:stretch>
            <a:fillRect/>
          </a:stretch>
        </p:blipFill>
        <p:spPr>
          <a:xfrm>
            <a:off x="-158360" y="-231964"/>
            <a:ext cx="3336551" cy="539175"/>
          </a:xfrm>
          <a:prstGeom prst="rect">
            <a:avLst/>
          </a:prstGeom>
          <a:noFill/>
          <a:ln>
            <a:noFill/>
          </a:ln>
        </p:spPr>
      </p:pic>
      <p:pic>
        <p:nvPicPr>
          <p:cNvPr id="47" name="Google Shape;47;p6"/>
          <p:cNvPicPr preferRelativeResize="0"/>
          <p:nvPr/>
        </p:nvPicPr>
        <p:blipFill>
          <a:blip r:embed="rId4">
            <a:alphaModFix/>
          </a:blip>
          <a:stretch>
            <a:fillRect/>
          </a:stretch>
        </p:blipFill>
        <p:spPr>
          <a:xfrm>
            <a:off x="-158360" y="-255440"/>
            <a:ext cx="4519251" cy="428722"/>
          </a:xfrm>
          <a:prstGeom prst="rect">
            <a:avLst/>
          </a:prstGeom>
          <a:noFill/>
          <a:ln>
            <a:noFill/>
          </a:ln>
          <a:effectLst>
            <a:outerShdw blurRad="142875" rotWithShape="0" algn="bl" dir="10020000" dist="76200">
              <a:schemeClr val="lt1">
                <a:alpha val="25000"/>
              </a:scheme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grpSp>
        <p:nvGrpSpPr>
          <p:cNvPr id="49" name="Google Shape;49;p7"/>
          <p:cNvGrpSpPr/>
          <p:nvPr/>
        </p:nvGrpSpPr>
        <p:grpSpPr>
          <a:xfrm>
            <a:off x="-158360" y="-851467"/>
            <a:ext cx="9561047" cy="6679709"/>
            <a:chOff x="-158360" y="-851467"/>
            <a:chExt cx="9561047" cy="6679709"/>
          </a:xfrm>
        </p:grpSpPr>
        <p:grpSp>
          <p:nvGrpSpPr>
            <p:cNvPr id="50" name="Google Shape;50;p7"/>
            <p:cNvGrpSpPr/>
            <p:nvPr/>
          </p:nvGrpSpPr>
          <p:grpSpPr>
            <a:xfrm>
              <a:off x="-158360" y="4030992"/>
              <a:ext cx="4232325" cy="1797250"/>
              <a:chOff x="-158360" y="4030992"/>
              <a:chExt cx="4232325" cy="1797250"/>
            </a:xfrm>
          </p:grpSpPr>
          <p:pic>
            <p:nvPicPr>
              <p:cNvPr id="51" name="Google Shape;51;p7"/>
              <p:cNvPicPr preferRelativeResize="0"/>
              <p:nvPr/>
            </p:nvPicPr>
            <p:blipFill>
              <a:blip r:embed="rId2">
                <a:alphaModFix/>
              </a:blip>
              <a:stretch>
                <a:fillRect/>
              </a:stretch>
            </p:blipFill>
            <p:spPr>
              <a:xfrm flipH="1" rot="10800000">
                <a:off x="-158360" y="4858516"/>
                <a:ext cx="3336551" cy="718900"/>
              </a:xfrm>
              <a:prstGeom prst="rect">
                <a:avLst/>
              </a:prstGeom>
              <a:noFill/>
              <a:ln>
                <a:noFill/>
              </a:ln>
            </p:spPr>
          </p:pic>
          <p:pic>
            <p:nvPicPr>
              <p:cNvPr id="52" name="Google Shape;52;p7"/>
              <p:cNvPicPr preferRelativeResize="0"/>
              <p:nvPr/>
            </p:nvPicPr>
            <p:blipFill>
              <a:blip r:embed="rId3">
                <a:alphaModFix/>
              </a:blip>
              <a:stretch>
                <a:fillRect/>
              </a:stretch>
            </p:blipFill>
            <p:spPr>
              <a:xfrm flipH="1" rot="10800000">
                <a:off x="-158360" y="5022016"/>
                <a:ext cx="4232325" cy="535340"/>
              </a:xfrm>
              <a:prstGeom prst="rect">
                <a:avLst/>
              </a:prstGeom>
              <a:noFill/>
              <a:ln>
                <a:noFill/>
              </a:ln>
              <a:effectLst>
                <a:outerShdw blurRad="128588" rotWithShape="0" algn="bl" dir="11220000" dist="57150">
                  <a:schemeClr val="lt1">
                    <a:alpha val="25000"/>
                  </a:schemeClr>
                </a:outerShdw>
              </a:effectLst>
            </p:spPr>
          </p:pic>
        </p:grpSp>
        <p:grpSp>
          <p:nvGrpSpPr>
            <p:cNvPr id="53" name="Google Shape;53;p7"/>
            <p:cNvGrpSpPr/>
            <p:nvPr/>
          </p:nvGrpSpPr>
          <p:grpSpPr>
            <a:xfrm>
              <a:off x="4883436" y="-851467"/>
              <a:ext cx="4519251" cy="1875502"/>
              <a:chOff x="4883436" y="-851467"/>
              <a:chExt cx="4519251" cy="1875502"/>
            </a:xfrm>
          </p:grpSpPr>
          <p:pic>
            <p:nvPicPr>
              <p:cNvPr id="54" name="Google Shape;54;p7"/>
              <p:cNvPicPr preferRelativeResize="0"/>
              <p:nvPr/>
            </p:nvPicPr>
            <p:blipFill>
              <a:blip r:embed="rId2">
                <a:alphaModFix/>
              </a:blip>
              <a:stretch>
                <a:fillRect/>
              </a:stretch>
            </p:blipFill>
            <p:spPr>
              <a:xfrm flipH="1">
                <a:off x="6066136" y="-231964"/>
                <a:ext cx="3336551" cy="539175"/>
              </a:xfrm>
              <a:prstGeom prst="rect">
                <a:avLst/>
              </a:prstGeom>
              <a:noFill/>
              <a:ln>
                <a:noFill/>
              </a:ln>
            </p:spPr>
          </p:pic>
          <p:pic>
            <p:nvPicPr>
              <p:cNvPr id="55" name="Google Shape;55;p7"/>
              <p:cNvPicPr preferRelativeResize="0"/>
              <p:nvPr/>
            </p:nvPicPr>
            <p:blipFill>
              <a:blip r:embed="rId3">
                <a:alphaModFix/>
              </a:blip>
              <a:stretch>
                <a:fillRect/>
              </a:stretch>
            </p:blipFill>
            <p:spPr>
              <a:xfrm flipH="1">
                <a:off x="4883436" y="-255440"/>
                <a:ext cx="4519251" cy="428722"/>
              </a:xfrm>
              <a:prstGeom prst="rect">
                <a:avLst/>
              </a:prstGeom>
              <a:noFill/>
              <a:ln>
                <a:noFill/>
              </a:ln>
              <a:effectLst>
                <a:outerShdw blurRad="142875" rotWithShape="0" algn="bl" dir="10800000" dist="76200">
                  <a:schemeClr val="lt1">
                    <a:alpha val="25000"/>
                  </a:schemeClr>
                </a:outerShdw>
              </a:effectLst>
            </p:spPr>
          </p:pic>
        </p:grpSp>
      </p:grpSp>
      <p:pic>
        <p:nvPicPr>
          <p:cNvPr id="56" name="Google Shape;56;p7"/>
          <p:cNvPicPr preferRelativeResize="0"/>
          <p:nvPr/>
        </p:nvPicPr>
        <p:blipFill>
          <a:blip r:embed="rId4">
            <a:alphaModFix/>
          </a:blip>
          <a:stretch>
            <a:fillRect/>
          </a:stretch>
        </p:blipFill>
        <p:spPr>
          <a:xfrm>
            <a:off x="0" y="0"/>
            <a:ext cx="9144000" cy="5143500"/>
          </a:xfrm>
          <a:prstGeom prst="rect">
            <a:avLst/>
          </a:prstGeom>
          <a:noFill/>
          <a:ln>
            <a:noFill/>
          </a:ln>
        </p:spPr>
      </p:pic>
      <p:sp>
        <p:nvSpPr>
          <p:cNvPr id="57" name="Google Shape;57;p7"/>
          <p:cNvSpPr txBox="1"/>
          <p:nvPr>
            <p:ph idx="1" type="subTitle"/>
          </p:nvPr>
        </p:nvSpPr>
        <p:spPr>
          <a:xfrm>
            <a:off x="1810500" y="1284575"/>
            <a:ext cx="5523000" cy="291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Font typeface="Nunito Light"/>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58" name="Google Shape;58;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9" name="Shape 59"/>
        <p:cNvGrpSpPr/>
        <p:nvPr/>
      </p:nvGrpSpPr>
      <p:grpSpPr>
        <a:xfrm>
          <a:off x="0" y="0"/>
          <a:ext cx="0" cy="0"/>
          <a:chOff x="0" y="0"/>
          <a:chExt cx="0" cy="0"/>
        </a:xfrm>
      </p:grpSpPr>
      <p:pic>
        <p:nvPicPr>
          <p:cNvPr id="60" name="Google Shape;60;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61" name="Google Shape;61;p8"/>
          <p:cNvSpPr txBox="1"/>
          <p:nvPr>
            <p:ph type="title"/>
          </p:nvPr>
        </p:nvSpPr>
        <p:spPr>
          <a:xfrm>
            <a:off x="2506900" y="1554075"/>
            <a:ext cx="4130100" cy="2035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pic>
        <p:nvPicPr>
          <p:cNvPr id="63" name="Google Shape;63;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64" name="Google Shape;64;p9"/>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 name="Google Shape;65;p9"/>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p:nvPr>
            <p:ph idx="2" type="pic"/>
          </p:nvPr>
        </p:nvSpPr>
        <p:spPr>
          <a:xfrm>
            <a:off x="0" y="0"/>
            <a:ext cx="9144000" cy="5143500"/>
          </a:xfrm>
          <a:prstGeom prst="rect">
            <a:avLst/>
          </a:prstGeom>
          <a:noFill/>
          <a:ln>
            <a:noFill/>
          </a:ln>
        </p:spPr>
      </p:sp>
      <p:sp>
        <p:nvSpPr>
          <p:cNvPr id="68" name="Google Shape;68;p10"/>
          <p:cNvSpPr txBox="1"/>
          <p:nvPr>
            <p:ph type="title"/>
          </p:nvPr>
        </p:nvSpPr>
        <p:spPr>
          <a:xfrm>
            <a:off x="720000" y="679325"/>
            <a:ext cx="7710900" cy="660900"/>
          </a:xfrm>
          <a:prstGeom prst="rect">
            <a:avLst/>
          </a:prstGeom>
          <a:solidFill>
            <a:schemeClr val="dk2"/>
          </a:solidFill>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pic>
        <p:nvPicPr>
          <p:cNvPr id="70" name="Google Shape;70;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71" name="Google Shape;71;p11"/>
          <p:cNvSpPr txBox="1"/>
          <p:nvPr>
            <p:ph hasCustomPrompt="1" type="title"/>
          </p:nvPr>
        </p:nvSpPr>
        <p:spPr>
          <a:xfrm>
            <a:off x="1284000" y="1831463"/>
            <a:ext cx="6576000" cy="1039800"/>
          </a:xfrm>
          <a:prstGeom prst="rect">
            <a:avLst/>
          </a:prstGeom>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2" name="Google Shape;72;p11"/>
          <p:cNvSpPr txBox="1"/>
          <p:nvPr>
            <p:ph idx="1" type="subTitle"/>
          </p:nvPr>
        </p:nvSpPr>
        <p:spPr>
          <a:xfrm>
            <a:off x="1284000" y="2814938"/>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3" name="Shape 7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4" name="Shape 74"/>
        <p:cNvGrpSpPr/>
        <p:nvPr/>
      </p:nvGrpSpPr>
      <p:grpSpPr>
        <a:xfrm>
          <a:off x="0" y="0"/>
          <a:ext cx="0" cy="0"/>
          <a:chOff x="0" y="0"/>
          <a:chExt cx="0" cy="0"/>
        </a:xfrm>
      </p:grpSpPr>
      <p:pic>
        <p:nvPicPr>
          <p:cNvPr id="75" name="Google Shape;75;p13"/>
          <p:cNvPicPr preferRelativeResize="0"/>
          <p:nvPr/>
        </p:nvPicPr>
        <p:blipFill>
          <a:blip r:embed="rId2">
            <a:alphaModFix/>
          </a:blip>
          <a:stretch>
            <a:fillRect/>
          </a:stretch>
        </p:blipFill>
        <p:spPr>
          <a:xfrm>
            <a:off x="0" y="0"/>
            <a:ext cx="9144000" cy="5143500"/>
          </a:xfrm>
          <a:prstGeom prst="rect">
            <a:avLst/>
          </a:prstGeom>
          <a:noFill/>
          <a:ln>
            <a:noFill/>
          </a:ln>
        </p:spPr>
      </p:pic>
      <p:sp>
        <p:nvSpPr>
          <p:cNvPr id="76" name="Google Shape;7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b="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 name="Google Shape;77;p13"/>
          <p:cNvSpPr txBox="1"/>
          <p:nvPr>
            <p:ph idx="1" type="subTitle"/>
          </p:nvPr>
        </p:nvSpPr>
        <p:spPr>
          <a:xfrm>
            <a:off x="713225" y="2049075"/>
            <a:ext cx="2394900" cy="616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Commissioner"/>
                <a:ea typeface="Commissioner"/>
                <a:cs typeface="Commissioner"/>
                <a:sym typeface="Commissioner"/>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8" name="Google Shape;78;p13"/>
          <p:cNvSpPr txBox="1"/>
          <p:nvPr>
            <p:ph idx="2" type="subTitle"/>
          </p:nvPr>
        </p:nvSpPr>
        <p:spPr>
          <a:xfrm>
            <a:off x="713225" y="3690926"/>
            <a:ext cx="2394900" cy="616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Commissioner"/>
                <a:ea typeface="Commissioner"/>
                <a:cs typeface="Commissioner"/>
                <a:sym typeface="Commissioner"/>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9" name="Google Shape;79;p13"/>
          <p:cNvSpPr txBox="1"/>
          <p:nvPr>
            <p:ph idx="3" type="subTitle"/>
          </p:nvPr>
        </p:nvSpPr>
        <p:spPr>
          <a:xfrm>
            <a:off x="3374550" y="3690926"/>
            <a:ext cx="2394900" cy="616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Commissioner"/>
                <a:ea typeface="Commissioner"/>
                <a:cs typeface="Commissioner"/>
                <a:sym typeface="Commissioner"/>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0" name="Google Shape;80;p13"/>
          <p:cNvSpPr txBox="1"/>
          <p:nvPr>
            <p:ph idx="4" type="subTitle"/>
          </p:nvPr>
        </p:nvSpPr>
        <p:spPr>
          <a:xfrm>
            <a:off x="3374550" y="2049075"/>
            <a:ext cx="2394900" cy="616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Commissioner"/>
                <a:ea typeface="Commissioner"/>
                <a:cs typeface="Commissioner"/>
                <a:sym typeface="Commissioner"/>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1" name="Google Shape;81;p13"/>
          <p:cNvSpPr txBox="1"/>
          <p:nvPr>
            <p:ph hasCustomPrompt="1" idx="5" type="title"/>
          </p:nvPr>
        </p:nvSpPr>
        <p:spPr>
          <a:xfrm>
            <a:off x="1460075" y="1196725"/>
            <a:ext cx="901200" cy="6168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p:nvPr>
            <p:ph hasCustomPrompt="1" idx="6" type="title"/>
          </p:nvPr>
        </p:nvSpPr>
        <p:spPr>
          <a:xfrm>
            <a:off x="4121400" y="2838725"/>
            <a:ext cx="901200" cy="6168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p:nvPr>
            <p:ph hasCustomPrompt="1" idx="7" type="title"/>
          </p:nvPr>
        </p:nvSpPr>
        <p:spPr>
          <a:xfrm>
            <a:off x="1460075" y="2838725"/>
            <a:ext cx="901200" cy="6168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hasCustomPrompt="1" idx="8" type="title"/>
          </p:nvPr>
        </p:nvSpPr>
        <p:spPr>
          <a:xfrm>
            <a:off x="4121400" y="1196725"/>
            <a:ext cx="901200" cy="6168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idx="9" type="subTitle"/>
          </p:nvPr>
        </p:nvSpPr>
        <p:spPr>
          <a:xfrm>
            <a:off x="6035875" y="3690926"/>
            <a:ext cx="2394900" cy="616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Commissioner"/>
                <a:ea typeface="Commissioner"/>
                <a:cs typeface="Commissioner"/>
                <a:sym typeface="Commissioner"/>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6" name="Google Shape;86;p13"/>
          <p:cNvSpPr txBox="1"/>
          <p:nvPr>
            <p:ph idx="13" type="subTitle"/>
          </p:nvPr>
        </p:nvSpPr>
        <p:spPr>
          <a:xfrm>
            <a:off x="6035875" y="2049075"/>
            <a:ext cx="2394900" cy="616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Commissioner"/>
                <a:ea typeface="Commissioner"/>
                <a:cs typeface="Commissioner"/>
                <a:sym typeface="Commissioner"/>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7" name="Google Shape;87;p13"/>
          <p:cNvSpPr txBox="1"/>
          <p:nvPr>
            <p:ph hasCustomPrompt="1" idx="14" type="title"/>
          </p:nvPr>
        </p:nvSpPr>
        <p:spPr>
          <a:xfrm>
            <a:off x="6782725" y="2838725"/>
            <a:ext cx="901200" cy="6168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p:nvPr>
            <p:ph hasCustomPrompt="1" idx="15" type="title"/>
          </p:nvPr>
        </p:nvSpPr>
        <p:spPr>
          <a:xfrm>
            <a:off x="6782725" y="1196725"/>
            <a:ext cx="901200" cy="6168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b="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p:nvPr>
            <p:ph idx="16" type="subTitle"/>
          </p:nvPr>
        </p:nvSpPr>
        <p:spPr>
          <a:xfrm>
            <a:off x="713225" y="1691500"/>
            <a:ext cx="2394900" cy="505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0" name="Google Shape;90;p13"/>
          <p:cNvSpPr txBox="1"/>
          <p:nvPr>
            <p:ph idx="17" type="subTitle"/>
          </p:nvPr>
        </p:nvSpPr>
        <p:spPr>
          <a:xfrm>
            <a:off x="713225" y="3333373"/>
            <a:ext cx="2394900" cy="505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1" name="Google Shape;91;p13"/>
          <p:cNvSpPr txBox="1"/>
          <p:nvPr>
            <p:ph idx="18" type="subTitle"/>
          </p:nvPr>
        </p:nvSpPr>
        <p:spPr>
          <a:xfrm>
            <a:off x="3374550" y="3333373"/>
            <a:ext cx="2394900" cy="505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2" name="Google Shape;92;p13"/>
          <p:cNvSpPr txBox="1"/>
          <p:nvPr>
            <p:ph idx="19" type="subTitle"/>
          </p:nvPr>
        </p:nvSpPr>
        <p:spPr>
          <a:xfrm>
            <a:off x="3374550" y="1691500"/>
            <a:ext cx="2394900" cy="505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 name="Google Shape;93;p13"/>
          <p:cNvSpPr txBox="1"/>
          <p:nvPr>
            <p:ph idx="20" type="subTitle"/>
          </p:nvPr>
        </p:nvSpPr>
        <p:spPr>
          <a:xfrm>
            <a:off x="6035875" y="3333373"/>
            <a:ext cx="2394900" cy="505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4" name="Google Shape;94;p13"/>
          <p:cNvSpPr txBox="1"/>
          <p:nvPr>
            <p:ph idx="21" type="subTitle"/>
          </p:nvPr>
        </p:nvSpPr>
        <p:spPr>
          <a:xfrm>
            <a:off x="6035875" y="1691500"/>
            <a:ext cx="2394900" cy="505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5" name="Google Shape;95;p13"/>
          <p:cNvGrpSpPr/>
          <p:nvPr/>
        </p:nvGrpSpPr>
        <p:grpSpPr>
          <a:xfrm>
            <a:off x="-15997" y="-851467"/>
            <a:ext cx="9388422" cy="6679709"/>
            <a:chOff x="-15997" y="-851467"/>
            <a:chExt cx="9388422" cy="6679709"/>
          </a:xfrm>
        </p:grpSpPr>
        <p:grpSp>
          <p:nvGrpSpPr>
            <p:cNvPr id="96" name="Google Shape;96;p13"/>
            <p:cNvGrpSpPr/>
            <p:nvPr/>
          </p:nvGrpSpPr>
          <p:grpSpPr>
            <a:xfrm>
              <a:off x="4911675" y="4030992"/>
              <a:ext cx="4460750" cy="1797250"/>
              <a:chOff x="4911675" y="4030992"/>
              <a:chExt cx="4460750" cy="1797250"/>
            </a:xfrm>
          </p:grpSpPr>
          <p:pic>
            <p:nvPicPr>
              <p:cNvPr id="97" name="Google Shape;97;p13"/>
              <p:cNvPicPr preferRelativeResize="0"/>
              <p:nvPr/>
            </p:nvPicPr>
            <p:blipFill>
              <a:blip r:embed="rId3">
                <a:alphaModFix/>
              </a:blip>
              <a:stretch>
                <a:fillRect/>
              </a:stretch>
            </p:blipFill>
            <p:spPr>
              <a:xfrm rot="10800000">
                <a:off x="6035874" y="4030992"/>
                <a:ext cx="3336551" cy="1797250"/>
              </a:xfrm>
              <a:prstGeom prst="rect">
                <a:avLst/>
              </a:prstGeom>
              <a:noFill/>
              <a:ln>
                <a:noFill/>
              </a:ln>
            </p:spPr>
          </p:pic>
          <p:pic>
            <p:nvPicPr>
              <p:cNvPr id="98" name="Google Shape;98;p13"/>
              <p:cNvPicPr preferRelativeResize="0"/>
              <p:nvPr/>
            </p:nvPicPr>
            <p:blipFill>
              <a:blip r:embed="rId4">
                <a:alphaModFix/>
              </a:blip>
              <a:stretch>
                <a:fillRect/>
              </a:stretch>
            </p:blipFill>
            <p:spPr>
              <a:xfrm rot="10800000">
                <a:off x="4911675" y="4439742"/>
                <a:ext cx="4232325" cy="1338350"/>
              </a:xfrm>
              <a:prstGeom prst="rect">
                <a:avLst/>
              </a:prstGeom>
              <a:noFill/>
              <a:ln>
                <a:noFill/>
              </a:ln>
              <a:effectLst>
                <a:outerShdw blurRad="128588" rotWithShape="0" algn="bl" dir="16020000" dist="57150">
                  <a:schemeClr val="lt1">
                    <a:alpha val="25000"/>
                  </a:schemeClr>
                </a:outerShdw>
              </a:effectLst>
            </p:spPr>
          </p:pic>
        </p:grpSp>
        <p:grpSp>
          <p:nvGrpSpPr>
            <p:cNvPr id="99" name="Google Shape;99;p13"/>
            <p:cNvGrpSpPr/>
            <p:nvPr/>
          </p:nvGrpSpPr>
          <p:grpSpPr>
            <a:xfrm>
              <a:off x="-15997" y="-851467"/>
              <a:ext cx="4519251" cy="1875502"/>
              <a:chOff x="-15997" y="-851467"/>
              <a:chExt cx="4519251" cy="1875502"/>
            </a:xfrm>
          </p:grpSpPr>
          <p:pic>
            <p:nvPicPr>
              <p:cNvPr id="100" name="Google Shape;100;p13"/>
              <p:cNvPicPr preferRelativeResize="0"/>
              <p:nvPr/>
            </p:nvPicPr>
            <p:blipFill>
              <a:blip r:embed="rId3">
                <a:alphaModFix/>
              </a:blip>
              <a:stretch>
                <a:fillRect/>
              </a:stretch>
            </p:blipFill>
            <p:spPr>
              <a:xfrm>
                <a:off x="-15997" y="-773214"/>
                <a:ext cx="3336551" cy="1797250"/>
              </a:xfrm>
              <a:prstGeom prst="rect">
                <a:avLst/>
              </a:prstGeom>
              <a:noFill/>
              <a:ln>
                <a:noFill/>
              </a:ln>
            </p:spPr>
          </p:pic>
          <p:pic>
            <p:nvPicPr>
              <p:cNvPr id="101" name="Google Shape;101;p13"/>
              <p:cNvPicPr preferRelativeResize="0"/>
              <p:nvPr/>
            </p:nvPicPr>
            <p:blipFill>
              <a:blip r:embed="rId4">
                <a:alphaModFix/>
              </a:blip>
              <a:stretch>
                <a:fillRect/>
              </a:stretch>
            </p:blipFill>
            <p:spPr>
              <a:xfrm>
                <a:off x="-15997" y="-851467"/>
                <a:ext cx="4519251" cy="1429075"/>
              </a:xfrm>
              <a:prstGeom prst="rect">
                <a:avLst/>
              </a:prstGeom>
              <a:noFill/>
              <a:ln>
                <a:noFill/>
              </a:ln>
              <a:effectLst>
                <a:outerShdw blurRad="142875" rotWithShape="0" algn="bl" dir="6360000" dist="76200">
                  <a:schemeClr val="lt1">
                    <a:alpha val="25000"/>
                  </a:schemeClr>
                </a:outerShdw>
              </a:effectLst>
            </p:spPr>
          </p:pic>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2" name="Shape 102"/>
        <p:cNvGrpSpPr/>
        <p:nvPr/>
      </p:nvGrpSpPr>
      <p:grpSpPr>
        <a:xfrm>
          <a:off x="0" y="0"/>
          <a:ext cx="0" cy="0"/>
          <a:chOff x="0" y="0"/>
          <a:chExt cx="0" cy="0"/>
        </a:xfrm>
      </p:grpSpPr>
      <p:pic>
        <p:nvPicPr>
          <p:cNvPr id="103" name="Google Shape;103;p1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4" name="Google Shape;104;p14"/>
          <p:cNvSpPr txBox="1"/>
          <p:nvPr>
            <p:ph type="title"/>
          </p:nvPr>
        </p:nvSpPr>
        <p:spPr>
          <a:xfrm>
            <a:off x="985075" y="3265449"/>
            <a:ext cx="7173900" cy="53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sz="28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5" name="Google Shape;105;p14"/>
          <p:cNvSpPr txBox="1"/>
          <p:nvPr>
            <p:ph idx="1" type="subTitle"/>
          </p:nvPr>
        </p:nvSpPr>
        <p:spPr>
          <a:xfrm>
            <a:off x="985075" y="1457350"/>
            <a:ext cx="7173900" cy="180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106" name="Google Shape;106;p14"/>
          <p:cNvGrpSpPr/>
          <p:nvPr/>
        </p:nvGrpSpPr>
        <p:grpSpPr>
          <a:xfrm>
            <a:off x="-62675" y="4030992"/>
            <a:ext cx="4232325" cy="1797250"/>
            <a:chOff x="-62675" y="4030992"/>
            <a:chExt cx="4232325" cy="1797250"/>
          </a:xfrm>
        </p:grpSpPr>
        <p:pic>
          <p:nvPicPr>
            <p:cNvPr id="107" name="Google Shape;107;p14"/>
            <p:cNvPicPr preferRelativeResize="0"/>
            <p:nvPr/>
          </p:nvPicPr>
          <p:blipFill>
            <a:blip r:embed="rId3">
              <a:alphaModFix/>
            </a:blip>
            <a:stretch>
              <a:fillRect/>
            </a:stretch>
          </p:blipFill>
          <p:spPr>
            <a:xfrm flipH="1" rot="10800000">
              <a:off x="-62675" y="4030992"/>
              <a:ext cx="3336551" cy="1797250"/>
            </a:xfrm>
            <a:prstGeom prst="rect">
              <a:avLst/>
            </a:prstGeom>
            <a:noFill/>
            <a:ln>
              <a:noFill/>
            </a:ln>
          </p:spPr>
        </p:pic>
        <p:pic>
          <p:nvPicPr>
            <p:cNvPr id="108" name="Google Shape;108;p14"/>
            <p:cNvPicPr preferRelativeResize="0"/>
            <p:nvPr/>
          </p:nvPicPr>
          <p:blipFill>
            <a:blip r:embed="rId4">
              <a:alphaModFix/>
            </a:blip>
            <a:stretch>
              <a:fillRect/>
            </a:stretch>
          </p:blipFill>
          <p:spPr>
            <a:xfrm flipH="1" rot="10800000">
              <a:off x="-62675" y="4439742"/>
              <a:ext cx="4232325" cy="1338350"/>
            </a:xfrm>
            <a:prstGeom prst="rect">
              <a:avLst/>
            </a:prstGeom>
            <a:noFill/>
            <a:ln>
              <a:noFill/>
            </a:ln>
            <a:effectLst>
              <a:outerShdw blurRad="128588" rotWithShape="0" algn="bl" dir="16020000" dist="57150">
                <a:schemeClr val="lt1">
                  <a:alpha val="25000"/>
                </a:schemeClr>
              </a:outerShdw>
            </a:effectLst>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 name="Shape 109"/>
        <p:cNvGrpSpPr/>
        <p:nvPr/>
      </p:nvGrpSpPr>
      <p:grpSpPr>
        <a:xfrm>
          <a:off x="0" y="0"/>
          <a:ext cx="0" cy="0"/>
          <a:chOff x="0" y="0"/>
          <a:chExt cx="0" cy="0"/>
        </a:xfrm>
      </p:grpSpPr>
      <p:pic>
        <p:nvPicPr>
          <p:cNvPr id="110" name="Google Shape;110;p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1" name="Google Shape;111;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b="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2" name="Google Shape;112;p15"/>
          <p:cNvGrpSpPr/>
          <p:nvPr/>
        </p:nvGrpSpPr>
        <p:grpSpPr>
          <a:xfrm>
            <a:off x="-158360" y="-851467"/>
            <a:ext cx="9561047" cy="6679709"/>
            <a:chOff x="-158360" y="-851467"/>
            <a:chExt cx="9561047" cy="6679709"/>
          </a:xfrm>
        </p:grpSpPr>
        <p:grpSp>
          <p:nvGrpSpPr>
            <p:cNvPr id="113" name="Google Shape;113;p15"/>
            <p:cNvGrpSpPr/>
            <p:nvPr/>
          </p:nvGrpSpPr>
          <p:grpSpPr>
            <a:xfrm>
              <a:off x="-158360" y="4030992"/>
              <a:ext cx="4232325" cy="1797250"/>
              <a:chOff x="-158360" y="4030992"/>
              <a:chExt cx="4232325" cy="1797250"/>
            </a:xfrm>
          </p:grpSpPr>
          <p:pic>
            <p:nvPicPr>
              <p:cNvPr id="114" name="Google Shape;114;p15"/>
              <p:cNvPicPr preferRelativeResize="0"/>
              <p:nvPr/>
            </p:nvPicPr>
            <p:blipFill>
              <a:blip r:embed="rId3">
                <a:alphaModFix/>
              </a:blip>
              <a:stretch>
                <a:fillRect/>
              </a:stretch>
            </p:blipFill>
            <p:spPr>
              <a:xfrm flipH="1" rot="10800000">
                <a:off x="-158360" y="4858516"/>
                <a:ext cx="3336551" cy="718900"/>
              </a:xfrm>
              <a:prstGeom prst="rect">
                <a:avLst/>
              </a:prstGeom>
              <a:noFill/>
              <a:ln>
                <a:noFill/>
              </a:ln>
            </p:spPr>
          </p:pic>
          <p:pic>
            <p:nvPicPr>
              <p:cNvPr id="115" name="Google Shape;115;p15"/>
              <p:cNvPicPr preferRelativeResize="0"/>
              <p:nvPr/>
            </p:nvPicPr>
            <p:blipFill>
              <a:blip r:embed="rId4">
                <a:alphaModFix/>
              </a:blip>
              <a:stretch>
                <a:fillRect/>
              </a:stretch>
            </p:blipFill>
            <p:spPr>
              <a:xfrm flipH="1" rot="10800000">
                <a:off x="-158360" y="5022016"/>
                <a:ext cx="4232325" cy="535340"/>
              </a:xfrm>
              <a:prstGeom prst="rect">
                <a:avLst/>
              </a:prstGeom>
              <a:noFill/>
              <a:ln>
                <a:noFill/>
              </a:ln>
              <a:effectLst>
                <a:outerShdw blurRad="128588" rotWithShape="0" algn="bl" dir="11220000" dist="57150">
                  <a:schemeClr val="lt1">
                    <a:alpha val="25000"/>
                  </a:schemeClr>
                </a:outerShdw>
              </a:effectLst>
            </p:spPr>
          </p:pic>
        </p:grpSp>
        <p:grpSp>
          <p:nvGrpSpPr>
            <p:cNvPr id="116" name="Google Shape;116;p15"/>
            <p:cNvGrpSpPr/>
            <p:nvPr/>
          </p:nvGrpSpPr>
          <p:grpSpPr>
            <a:xfrm>
              <a:off x="4883436" y="-851467"/>
              <a:ext cx="4519251" cy="1875502"/>
              <a:chOff x="4883436" y="-851467"/>
              <a:chExt cx="4519251" cy="1875502"/>
            </a:xfrm>
          </p:grpSpPr>
          <p:pic>
            <p:nvPicPr>
              <p:cNvPr id="117" name="Google Shape;117;p15"/>
              <p:cNvPicPr preferRelativeResize="0"/>
              <p:nvPr/>
            </p:nvPicPr>
            <p:blipFill>
              <a:blip r:embed="rId3">
                <a:alphaModFix/>
              </a:blip>
              <a:stretch>
                <a:fillRect/>
              </a:stretch>
            </p:blipFill>
            <p:spPr>
              <a:xfrm flipH="1">
                <a:off x="6066136" y="-231964"/>
                <a:ext cx="3336551" cy="539175"/>
              </a:xfrm>
              <a:prstGeom prst="rect">
                <a:avLst/>
              </a:prstGeom>
              <a:noFill/>
              <a:ln>
                <a:noFill/>
              </a:ln>
            </p:spPr>
          </p:pic>
          <p:pic>
            <p:nvPicPr>
              <p:cNvPr id="118" name="Google Shape;118;p15"/>
              <p:cNvPicPr preferRelativeResize="0"/>
              <p:nvPr/>
            </p:nvPicPr>
            <p:blipFill>
              <a:blip r:embed="rId4">
                <a:alphaModFix/>
              </a:blip>
              <a:stretch>
                <a:fillRect/>
              </a:stretch>
            </p:blipFill>
            <p:spPr>
              <a:xfrm flipH="1">
                <a:off x="4883436" y="-255440"/>
                <a:ext cx="4519251" cy="428722"/>
              </a:xfrm>
              <a:prstGeom prst="rect">
                <a:avLst/>
              </a:prstGeom>
              <a:noFill/>
              <a:ln>
                <a:noFill/>
              </a:ln>
              <a:effectLst>
                <a:outerShdw blurRad="142875" rotWithShape="0" algn="bl" dir="10800000" dist="76200">
                  <a:schemeClr val="lt1">
                    <a:alpha val="25000"/>
                  </a:schemeClr>
                </a:outerShdw>
              </a:effectLst>
            </p:spPr>
          </p:pic>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19" name="Shape 119"/>
        <p:cNvGrpSpPr/>
        <p:nvPr/>
      </p:nvGrpSpPr>
      <p:grpSpPr>
        <a:xfrm>
          <a:off x="0" y="0"/>
          <a:ext cx="0" cy="0"/>
          <a:chOff x="0" y="0"/>
          <a:chExt cx="0" cy="0"/>
        </a:xfrm>
      </p:grpSpPr>
      <p:pic>
        <p:nvPicPr>
          <p:cNvPr id="120" name="Google Shape;120;p1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1" name="Google Shape;121;p16"/>
          <p:cNvSpPr txBox="1"/>
          <p:nvPr>
            <p:ph type="title"/>
          </p:nvPr>
        </p:nvSpPr>
        <p:spPr>
          <a:xfrm>
            <a:off x="720000" y="1324800"/>
            <a:ext cx="3519600" cy="1653600"/>
          </a:xfrm>
          <a:prstGeom prst="rect">
            <a:avLst/>
          </a:prstGeom>
        </p:spPr>
        <p:txBody>
          <a:bodyPr anchorCtr="0" anchor="b" bIns="91425" lIns="91425" spcFirstLastPara="1" rIns="91425" wrap="square" tIns="91425">
            <a:noAutofit/>
          </a:bodyPr>
          <a:lstStyle>
            <a:lvl1pPr lvl="0" rtl="0" algn="l">
              <a:lnSpc>
                <a:spcPct val="115000"/>
              </a:lnSpc>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 name="Google Shape;122;p16"/>
          <p:cNvSpPr txBox="1"/>
          <p:nvPr>
            <p:ph idx="1" type="subTitle"/>
          </p:nvPr>
        </p:nvSpPr>
        <p:spPr>
          <a:xfrm>
            <a:off x="720000" y="2978150"/>
            <a:ext cx="3519600" cy="84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3" name="Google Shape;123;p16"/>
          <p:cNvSpPr/>
          <p:nvPr>
            <p:ph idx="2" type="pic"/>
          </p:nvPr>
        </p:nvSpPr>
        <p:spPr>
          <a:xfrm>
            <a:off x="5013150" y="862950"/>
            <a:ext cx="3417600" cy="3417600"/>
          </a:xfrm>
          <a:prstGeom prst="ellipse">
            <a:avLst/>
          </a:prstGeom>
          <a:noFill/>
          <a:ln>
            <a:noFill/>
          </a:ln>
        </p:spPr>
        <p:txBody>
          <a:bodyPr/>
          <a:p/>
        </p:txBody>
      </p:sp>
      <p:grpSp>
        <p:nvGrpSpPr>
          <p:cNvPr id="124" name="Google Shape;124;p16"/>
          <p:cNvGrpSpPr/>
          <p:nvPr/>
        </p:nvGrpSpPr>
        <p:grpSpPr>
          <a:xfrm>
            <a:off x="-62675" y="-851467"/>
            <a:ext cx="4565929" cy="6679709"/>
            <a:chOff x="-62675" y="-851467"/>
            <a:chExt cx="4565929" cy="6679709"/>
          </a:xfrm>
        </p:grpSpPr>
        <p:grpSp>
          <p:nvGrpSpPr>
            <p:cNvPr id="125" name="Google Shape;125;p16"/>
            <p:cNvGrpSpPr/>
            <p:nvPr/>
          </p:nvGrpSpPr>
          <p:grpSpPr>
            <a:xfrm>
              <a:off x="-62675" y="4030992"/>
              <a:ext cx="4232325" cy="1797250"/>
              <a:chOff x="-62675" y="4030992"/>
              <a:chExt cx="4232325" cy="1797250"/>
            </a:xfrm>
          </p:grpSpPr>
          <p:pic>
            <p:nvPicPr>
              <p:cNvPr id="126" name="Google Shape;126;p16"/>
              <p:cNvPicPr preferRelativeResize="0"/>
              <p:nvPr/>
            </p:nvPicPr>
            <p:blipFill>
              <a:blip r:embed="rId3">
                <a:alphaModFix/>
              </a:blip>
              <a:stretch>
                <a:fillRect/>
              </a:stretch>
            </p:blipFill>
            <p:spPr>
              <a:xfrm flipH="1" rot="10800000">
                <a:off x="-62675" y="4858516"/>
                <a:ext cx="3336551" cy="718900"/>
              </a:xfrm>
              <a:prstGeom prst="rect">
                <a:avLst/>
              </a:prstGeom>
              <a:noFill/>
              <a:ln>
                <a:noFill/>
              </a:ln>
            </p:spPr>
          </p:pic>
          <p:pic>
            <p:nvPicPr>
              <p:cNvPr id="127" name="Google Shape;127;p16"/>
              <p:cNvPicPr preferRelativeResize="0"/>
              <p:nvPr/>
            </p:nvPicPr>
            <p:blipFill>
              <a:blip r:embed="rId4">
                <a:alphaModFix/>
              </a:blip>
              <a:stretch>
                <a:fillRect/>
              </a:stretch>
            </p:blipFill>
            <p:spPr>
              <a:xfrm flipH="1" rot="10800000">
                <a:off x="-62675" y="5022016"/>
                <a:ext cx="4232325" cy="535340"/>
              </a:xfrm>
              <a:prstGeom prst="rect">
                <a:avLst/>
              </a:prstGeom>
              <a:noFill/>
              <a:ln>
                <a:noFill/>
              </a:ln>
              <a:effectLst>
                <a:outerShdw blurRad="128588" rotWithShape="0" algn="bl" dir="16020000" dist="57150">
                  <a:schemeClr val="lt1">
                    <a:alpha val="25000"/>
                  </a:schemeClr>
                </a:outerShdw>
              </a:effectLst>
            </p:spPr>
          </p:pic>
        </p:grpSp>
        <p:grpSp>
          <p:nvGrpSpPr>
            <p:cNvPr id="128" name="Google Shape;128;p16"/>
            <p:cNvGrpSpPr/>
            <p:nvPr/>
          </p:nvGrpSpPr>
          <p:grpSpPr>
            <a:xfrm>
              <a:off x="-15997" y="-851467"/>
              <a:ext cx="4519251" cy="1875502"/>
              <a:chOff x="-15997" y="-851467"/>
              <a:chExt cx="4519251" cy="1875502"/>
            </a:xfrm>
          </p:grpSpPr>
          <p:pic>
            <p:nvPicPr>
              <p:cNvPr id="129" name="Google Shape;129;p16"/>
              <p:cNvPicPr preferRelativeResize="0"/>
              <p:nvPr/>
            </p:nvPicPr>
            <p:blipFill>
              <a:blip r:embed="rId3">
                <a:alphaModFix/>
              </a:blip>
              <a:stretch>
                <a:fillRect/>
              </a:stretch>
            </p:blipFill>
            <p:spPr>
              <a:xfrm>
                <a:off x="-15997" y="-231964"/>
                <a:ext cx="3336551" cy="539175"/>
              </a:xfrm>
              <a:prstGeom prst="rect">
                <a:avLst/>
              </a:prstGeom>
              <a:noFill/>
              <a:ln>
                <a:noFill/>
              </a:ln>
            </p:spPr>
          </p:pic>
          <p:pic>
            <p:nvPicPr>
              <p:cNvPr id="130" name="Google Shape;130;p16"/>
              <p:cNvPicPr preferRelativeResize="0"/>
              <p:nvPr/>
            </p:nvPicPr>
            <p:blipFill>
              <a:blip r:embed="rId4">
                <a:alphaModFix/>
              </a:blip>
              <a:stretch>
                <a:fillRect/>
              </a:stretch>
            </p:blipFill>
            <p:spPr>
              <a:xfrm>
                <a:off x="-15997" y="-255440"/>
                <a:ext cx="4519251" cy="428722"/>
              </a:xfrm>
              <a:prstGeom prst="rect">
                <a:avLst/>
              </a:prstGeom>
              <a:noFill/>
              <a:ln>
                <a:noFill/>
              </a:ln>
              <a:effectLst>
                <a:outerShdw blurRad="142875" rotWithShape="0" algn="bl" dir="6360000" dist="76200">
                  <a:schemeClr val="lt1">
                    <a:alpha val="25000"/>
                  </a:schemeClr>
                </a:outerShdw>
              </a:effectLst>
            </p:spPr>
          </p:pic>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31" name="Shape 131"/>
        <p:cNvGrpSpPr/>
        <p:nvPr/>
      </p:nvGrpSpPr>
      <p:grpSpPr>
        <a:xfrm>
          <a:off x="0" y="0"/>
          <a:ext cx="0" cy="0"/>
          <a:chOff x="0" y="0"/>
          <a:chExt cx="0" cy="0"/>
        </a:xfrm>
      </p:grpSpPr>
      <p:pic>
        <p:nvPicPr>
          <p:cNvPr id="132" name="Google Shape;132;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133" name="Google Shape;133;p17"/>
          <p:cNvSpPr txBox="1"/>
          <p:nvPr>
            <p:ph type="title"/>
          </p:nvPr>
        </p:nvSpPr>
        <p:spPr>
          <a:xfrm>
            <a:off x="720000" y="1873975"/>
            <a:ext cx="3597900" cy="537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4" name="Google Shape;134;p17"/>
          <p:cNvSpPr txBox="1"/>
          <p:nvPr>
            <p:ph idx="1" type="subTitle"/>
          </p:nvPr>
        </p:nvSpPr>
        <p:spPr>
          <a:xfrm>
            <a:off x="720000" y="2410925"/>
            <a:ext cx="3597900" cy="85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35" name="Google Shape;135;p17"/>
          <p:cNvGrpSpPr/>
          <p:nvPr/>
        </p:nvGrpSpPr>
        <p:grpSpPr>
          <a:xfrm>
            <a:off x="5170363" y="4030992"/>
            <a:ext cx="4232325" cy="1797250"/>
            <a:chOff x="5170363" y="4030992"/>
            <a:chExt cx="4232325" cy="1797250"/>
          </a:xfrm>
        </p:grpSpPr>
        <p:pic>
          <p:nvPicPr>
            <p:cNvPr id="136" name="Google Shape;136;p17"/>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37" name="Google Shape;137;p17"/>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rotWithShape="0" algn="bl" dir="9900000" dist="57150">
                <a:schemeClr val="lt1">
                  <a:alpha val="25000"/>
                </a:schemeClr>
              </a:outerShdw>
            </a:effectLst>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38" name="Shape 138"/>
        <p:cNvGrpSpPr/>
        <p:nvPr/>
      </p:nvGrpSpPr>
      <p:grpSpPr>
        <a:xfrm>
          <a:off x="0" y="0"/>
          <a:ext cx="0" cy="0"/>
          <a:chOff x="0" y="0"/>
          <a:chExt cx="0" cy="0"/>
        </a:xfrm>
      </p:grpSpPr>
      <p:pic>
        <p:nvPicPr>
          <p:cNvPr id="139" name="Google Shape;139;p1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0" name="Google Shape;140;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1" name="Google Shape;141;p18"/>
          <p:cNvSpPr txBox="1"/>
          <p:nvPr>
            <p:ph idx="1" type="body"/>
          </p:nvPr>
        </p:nvSpPr>
        <p:spPr>
          <a:xfrm>
            <a:off x="720000" y="1215750"/>
            <a:ext cx="7704000" cy="10653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grpSp>
        <p:nvGrpSpPr>
          <p:cNvPr id="142" name="Google Shape;142;p18"/>
          <p:cNvGrpSpPr/>
          <p:nvPr/>
        </p:nvGrpSpPr>
        <p:grpSpPr>
          <a:xfrm>
            <a:off x="-158360" y="-851467"/>
            <a:ext cx="9561047" cy="6679709"/>
            <a:chOff x="-158360" y="-851467"/>
            <a:chExt cx="9561047" cy="6679709"/>
          </a:xfrm>
        </p:grpSpPr>
        <p:grpSp>
          <p:nvGrpSpPr>
            <p:cNvPr id="143" name="Google Shape;143;p18"/>
            <p:cNvGrpSpPr/>
            <p:nvPr/>
          </p:nvGrpSpPr>
          <p:grpSpPr>
            <a:xfrm>
              <a:off x="-158360" y="4030992"/>
              <a:ext cx="4232325" cy="1797250"/>
              <a:chOff x="-158360" y="4030992"/>
              <a:chExt cx="4232325" cy="1797250"/>
            </a:xfrm>
          </p:grpSpPr>
          <p:pic>
            <p:nvPicPr>
              <p:cNvPr id="144" name="Google Shape;144;p18"/>
              <p:cNvPicPr preferRelativeResize="0"/>
              <p:nvPr/>
            </p:nvPicPr>
            <p:blipFill>
              <a:blip r:embed="rId3">
                <a:alphaModFix/>
              </a:blip>
              <a:stretch>
                <a:fillRect/>
              </a:stretch>
            </p:blipFill>
            <p:spPr>
              <a:xfrm flipH="1" rot="10800000">
                <a:off x="-158360" y="4030992"/>
                <a:ext cx="3336551" cy="1797250"/>
              </a:xfrm>
              <a:prstGeom prst="rect">
                <a:avLst/>
              </a:prstGeom>
              <a:noFill/>
              <a:ln>
                <a:noFill/>
              </a:ln>
            </p:spPr>
          </p:pic>
          <p:pic>
            <p:nvPicPr>
              <p:cNvPr id="145" name="Google Shape;145;p18"/>
              <p:cNvPicPr preferRelativeResize="0"/>
              <p:nvPr/>
            </p:nvPicPr>
            <p:blipFill>
              <a:blip r:embed="rId4">
                <a:alphaModFix/>
              </a:blip>
              <a:stretch>
                <a:fillRect/>
              </a:stretch>
            </p:blipFill>
            <p:spPr>
              <a:xfrm flipH="1" rot="10800000">
                <a:off x="-158360" y="4439742"/>
                <a:ext cx="4232325" cy="1338350"/>
              </a:xfrm>
              <a:prstGeom prst="rect">
                <a:avLst/>
              </a:prstGeom>
              <a:noFill/>
              <a:ln>
                <a:noFill/>
              </a:ln>
              <a:effectLst>
                <a:outerShdw blurRad="128588" rotWithShape="0" algn="bl" dir="11220000" dist="57150">
                  <a:schemeClr val="lt1">
                    <a:alpha val="25000"/>
                  </a:schemeClr>
                </a:outerShdw>
              </a:effectLst>
            </p:spPr>
          </p:pic>
        </p:grpSp>
        <p:grpSp>
          <p:nvGrpSpPr>
            <p:cNvPr id="146" name="Google Shape;146;p18"/>
            <p:cNvGrpSpPr/>
            <p:nvPr/>
          </p:nvGrpSpPr>
          <p:grpSpPr>
            <a:xfrm>
              <a:off x="4883436" y="-851467"/>
              <a:ext cx="4519251" cy="1875502"/>
              <a:chOff x="4883436" y="-851467"/>
              <a:chExt cx="4519251" cy="1875502"/>
            </a:xfrm>
          </p:grpSpPr>
          <p:pic>
            <p:nvPicPr>
              <p:cNvPr id="147" name="Google Shape;147;p18"/>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148" name="Google Shape;148;p18"/>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rotWithShape="0" algn="bl" dir="10800000" dist="76200">
                  <a:schemeClr val="lt1">
                    <a:alpha val="25000"/>
                  </a:schemeClr>
                </a:outerShdw>
              </a:effectLst>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149" name="Shape 149"/>
        <p:cNvGrpSpPr/>
        <p:nvPr/>
      </p:nvGrpSpPr>
      <p:grpSpPr>
        <a:xfrm>
          <a:off x="0" y="0"/>
          <a:ext cx="0" cy="0"/>
          <a:chOff x="0" y="0"/>
          <a:chExt cx="0" cy="0"/>
        </a:xfrm>
      </p:grpSpPr>
      <p:pic>
        <p:nvPicPr>
          <p:cNvPr id="150" name="Google Shape;150;p1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1" name="Google Shape;15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 name="Google Shape;152;p19"/>
          <p:cNvSpPr txBox="1"/>
          <p:nvPr>
            <p:ph idx="1" type="body"/>
          </p:nvPr>
        </p:nvSpPr>
        <p:spPr>
          <a:xfrm>
            <a:off x="720000" y="1215750"/>
            <a:ext cx="7704000" cy="33927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grpSp>
        <p:nvGrpSpPr>
          <p:cNvPr id="153" name="Google Shape;153;p19"/>
          <p:cNvGrpSpPr/>
          <p:nvPr/>
        </p:nvGrpSpPr>
        <p:grpSpPr>
          <a:xfrm>
            <a:off x="-158360" y="-851467"/>
            <a:ext cx="9561047" cy="6679709"/>
            <a:chOff x="-158360" y="-851467"/>
            <a:chExt cx="9561047" cy="6679709"/>
          </a:xfrm>
        </p:grpSpPr>
        <p:grpSp>
          <p:nvGrpSpPr>
            <p:cNvPr id="154" name="Google Shape;154;p19"/>
            <p:cNvGrpSpPr/>
            <p:nvPr/>
          </p:nvGrpSpPr>
          <p:grpSpPr>
            <a:xfrm>
              <a:off x="5170363" y="4030992"/>
              <a:ext cx="4232325" cy="1797250"/>
              <a:chOff x="5170363" y="4030992"/>
              <a:chExt cx="4232325" cy="1797250"/>
            </a:xfrm>
          </p:grpSpPr>
          <p:pic>
            <p:nvPicPr>
              <p:cNvPr id="155" name="Google Shape;155;p19"/>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56" name="Google Shape;156;p19"/>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rotWithShape="0" algn="bl" dir="9900000" dist="57150">
                  <a:schemeClr val="lt1">
                    <a:alpha val="25000"/>
                  </a:schemeClr>
                </a:outerShdw>
              </a:effectLst>
            </p:spPr>
          </p:pic>
        </p:grpSp>
        <p:grpSp>
          <p:nvGrpSpPr>
            <p:cNvPr id="157" name="Google Shape;157;p19"/>
            <p:cNvGrpSpPr/>
            <p:nvPr/>
          </p:nvGrpSpPr>
          <p:grpSpPr>
            <a:xfrm>
              <a:off x="-158360" y="-851467"/>
              <a:ext cx="4519251" cy="1875502"/>
              <a:chOff x="-158360" y="-851467"/>
              <a:chExt cx="4519251" cy="1875502"/>
            </a:xfrm>
          </p:grpSpPr>
          <p:pic>
            <p:nvPicPr>
              <p:cNvPr id="158" name="Google Shape;158;p19"/>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159" name="Google Shape;159;p19"/>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rotWithShape="0" algn="bl" dir="10020000" dist="76200">
                  <a:schemeClr val="lt1">
                    <a:alpha val="25000"/>
                  </a:schemeClr>
                </a:outerShdw>
              </a:effectLst>
            </p:spPr>
          </p:pic>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2">
    <p:spTree>
      <p:nvGrpSpPr>
        <p:cNvPr id="160" name="Shape 160"/>
        <p:cNvGrpSpPr/>
        <p:nvPr/>
      </p:nvGrpSpPr>
      <p:grpSpPr>
        <a:xfrm>
          <a:off x="0" y="0"/>
          <a:ext cx="0" cy="0"/>
          <a:chOff x="0" y="0"/>
          <a:chExt cx="0" cy="0"/>
        </a:xfrm>
      </p:grpSpPr>
      <p:pic>
        <p:nvPicPr>
          <p:cNvPr id="161" name="Google Shape;161;p20"/>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162" name="Google Shape;162;p20"/>
          <p:cNvGrpSpPr/>
          <p:nvPr/>
        </p:nvGrpSpPr>
        <p:grpSpPr>
          <a:xfrm>
            <a:off x="-158360" y="-851467"/>
            <a:ext cx="9561047" cy="6679709"/>
            <a:chOff x="-158360" y="-851467"/>
            <a:chExt cx="9561047" cy="6679709"/>
          </a:xfrm>
        </p:grpSpPr>
        <p:grpSp>
          <p:nvGrpSpPr>
            <p:cNvPr id="163" name="Google Shape;163;p20"/>
            <p:cNvGrpSpPr/>
            <p:nvPr/>
          </p:nvGrpSpPr>
          <p:grpSpPr>
            <a:xfrm>
              <a:off x="5170363" y="4030992"/>
              <a:ext cx="4232325" cy="1797250"/>
              <a:chOff x="5170363" y="4030992"/>
              <a:chExt cx="4232325" cy="1797250"/>
            </a:xfrm>
          </p:grpSpPr>
          <p:pic>
            <p:nvPicPr>
              <p:cNvPr id="164" name="Google Shape;164;p20"/>
              <p:cNvPicPr preferRelativeResize="0"/>
              <p:nvPr/>
            </p:nvPicPr>
            <p:blipFill>
              <a:blip r:embed="rId3">
                <a:alphaModFix/>
              </a:blip>
              <a:stretch>
                <a:fillRect/>
              </a:stretch>
            </p:blipFill>
            <p:spPr>
              <a:xfrm rot="10800000">
                <a:off x="6066136" y="4858516"/>
                <a:ext cx="3336551" cy="718900"/>
              </a:xfrm>
              <a:prstGeom prst="rect">
                <a:avLst/>
              </a:prstGeom>
              <a:noFill/>
              <a:ln>
                <a:noFill/>
              </a:ln>
            </p:spPr>
          </p:pic>
          <p:pic>
            <p:nvPicPr>
              <p:cNvPr id="165" name="Google Shape;165;p20"/>
              <p:cNvPicPr preferRelativeResize="0"/>
              <p:nvPr/>
            </p:nvPicPr>
            <p:blipFill>
              <a:blip r:embed="rId4">
                <a:alphaModFix/>
              </a:blip>
              <a:stretch>
                <a:fillRect/>
              </a:stretch>
            </p:blipFill>
            <p:spPr>
              <a:xfrm rot="10800000">
                <a:off x="5170363" y="5022016"/>
                <a:ext cx="4232325" cy="535340"/>
              </a:xfrm>
              <a:prstGeom prst="rect">
                <a:avLst/>
              </a:prstGeom>
              <a:noFill/>
              <a:ln>
                <a:noFill/>
              </a:ln>
              <a:effectLst>
                <a:outerShdw blurRad="128588" rotWithShape="0" algn="bl" dir="16020000" dist="57150">
                  <a:schemeClr val="lt1">
                    <a:alpha val="25000"/>
                  </a:schemeClr>
                </a:outerShdw>
              </a:effectLst>
            </p:spPr>
          </p:pic>
        </p:grpSp>
        <p:grpSp>
          <p:nvGrpSpPr>
            <p:cNvPr id="166" name="Google Shape;166;p20"/>
            <p:cNvGrpSpPr/>
            <p:nvPr/>
          </p:nvGrpSpPr>
          <p:grpSpPr>
            <a:xfrm>
              <a:off x="-158360" y="-851467"/>
              <a:ext cx="4519251" cy="1875502"/>
              <a:chOff x="-158360" y="-851467"/>
              <a:chExt cx="4519251" cy="1875502"/>
            </a:xfrm>
          </p:grpSpPr>
          <p:pic>
            <p:nvPicPr>
              <p:cNvPr id="167" name="Google Shape;167;p20"/>
              <p:cNvPicPr preferRelativeResize="0"/>
              <p:nvPr/>
            </p:nvPicPr>
            <p:blipFill>
              <a:blip r:embed="rId3">
                <a:alphaModFix/>
              </a:blip>
              <a:stretch>
                <a:fillRect/>
              </a:stretch>
            </p:blipFill>
            <p:spPr>
              <a:xfrm>
                <a:off x="-158360" y="-231964"/>
                <a:ext cx="3336551" cy="539175"/>
              </a:xfrm>
              <a:prstGeom prst="rect">
                <a:avLst/>
              </a:prstGeom>
              <a:noFill/>
              <a:ln>
                <a:noFill/>
              </a:ln>
            </p:spPr>
          </p:pic>
          <p:pic>
            <p:nvPicPr>
              <p:cNvPr id="168" name="Google Shape;168;p20"/>
              <p:cNvPicPr preferRelativeResize="0"/>
              <p:nvPr/>
            </p:nvPicPr>
            <p:blipFill>
              <a:blip r:embed="rId4">
                <a:alphaModFix/>
              </a:blip>
              <a:stretch>
                <a:fillRect/>
              </a:stretch>
            </p:blipFill>
            <p:spPr>
              <a:xfrm>
                <a:off x="-158360" y="-255440"/>
                <a:ext cx="4519251" cy="428722"/>
              </a:xfrm>
              <a:prstGeom prst="rect">
                <a:avLst/>
              </a:prstGeom>
              <a:noFill/>
              <a:ln>
                <a:noFill/>
              </a:ln>
              <a:effectLst>
                <a:outerShdw blurRad="142875" rotWithShape="0" algn="bl" dir="6360000" dist="76200">
                  <a:schemeClr val="lt1">
                    <a:alpha val="25000"/>
                  </a:schemeClr>
                </a:outerShdw>
              </a:effectLst>
            </p:spPr>
          </p:pic>
        </p:grpSp>
      </p:grpSp>
      <p:sp>
        <p:nvSpPr>
          <p:cNvPr id="169" name="Google Shape;169;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0" name="Google Shape;170;p20"/>
          <p:cNvSpPr txBox="1"/>
          <p:nvPr>
            <p:ph idx="1" type="body"/>
          </p:nvPr>
        </p:nvSpPr>
        <p:spPr>
          <a:xfrm>
            <a:off x="720000" y="1190288"/>
            <a:ext cx="7704000" cy="341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1" name="Shape 171"/>
        <p:cNvGrpSpPr/>
        <p:nvPr/>
      </p:nvGrpSpPr>
      <p:grpSpPr>
        <a:xfrm>
          <a:off x="0" y="0"/>
          <a:ext cx="0" cy="0"/>
          <a:chOff x="0" y="0"/>
          <a:chExt cx="0" cy="0"/>
        </a:xfrm>
      </p:grpSpPr>
      <p:pic>
        <p:nvPicPr>
          <p:cNvPr id="172" name="Google Shape;172;p2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3" name="Google Shape;17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4" name="Google Shape;174;p21"/>
          <p:cNvSpPr txBox="1"/>
          <p:nvPr>
            <p:ph idx="1" type="subTitle"/>
          </p:nvPr>
        </p:nvSpPr>
        <p:spPr>
          <a:xfrm>
            <a:off x="859775" y="2941600"/>
            <a:ext cx="2331000" cy="869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75" name="Google Shape;175;p21"/>
          <p:cNvSpPr txBox="1"/>
          <p:nvPr>
            <p:ph idx="2" type="subTitle"/>
          </p:nvPr>
        </p:nvSpPr>
        <p:spPr>
          <a:xfrm>
            <a:off x="3406500" y="2941600"/>
            <a:ext cx="2331000" cy="869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76" name="Google Shape;176;p21"/>
          <p:cNvSpPr txBox="1"/>
          <p:nvPr>
            <p:ph idx="3" type="subTitle"/>
          </p:nvPr>
        </p:nvSpPr>
        <p:spPr>
          <a:xfrm>
            <a:off x="5953200" y="2941600"/>
            <a:ext cx="2331000" cy="869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77" name="Google Shape;177;p21"/>
          <p:cNvSpPr txBox="1"/>
          <p:nvPr>
            <p:ph idx="4" type="subTitle"/>
          </p:nvPr>
        </p:nvSpPr>
        <p:spPr>
          <a:xfrm>
            <a:off x="859775" y="2713000"/>
            <a:ext cx="2331000" cy="3657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78" name="Google Shape;178;p21"/>
          <p:cNvSpPr txBox="1"/>
          <p:nvPr>
            <p:ph idx="5" type="subTitle"/>
          </p:nvPr>
        </p:nvSpPr>
        <p:spPr>
          <a:xfrm>
            <a:off x="3406501" y="2713000"/>
            <a:ext cx="2331000" cy="3657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79" name="Google Shape;179;p21"/>
          <p:cNvSpPr txBox="1"/>
          <p:nvPr>
            <p:ph idx="6" type="subTitle"/>
          </p:nvPr>
        </p:nvSpPr>
        <p:spPr>
          <a:xfrm>
            <a:off x="5953201" y="2713000"/>
            <a:ext cx="2331000" cy="3657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80" name="Google Shape;180;p21"/>
          <p:cNvGrpSpPr/>
          <p:nvPr/>
        </p:nvGrpSpPr>
        <p:grpSpPr>
          <a:xfrm>
            <a:off x="-158360" y="-851467"/>
            <a:ext cx="9561047" cy="6679709"/>
            <a:chOff x="-158360" y="-851467"/>
            <a:chExt cx="9561047" cy="6679709"/>
          </a:xfrm>
        </p:grpSpPr>
        <p:grpSp>
          <p:nvGrpSpPr>
            <p:cNvPr id="181" name="Google Shape;181;p21"/>
            <p:cNvGrpSpPr/>
            <p:nvPr/>
          </p:nvGrpSpPr>
          <p:grpSpPr>
            <a:xfrm>
              <a:off x="5170363" y="4030992"/>
              <a:ext cx="4232325" cy="1797250"/>
              <a:chOff x="5170363" y="4030992"/>
              <a:chExt cx="4232325" cy="1797250"/>
            </a:xfrm>
          </p:grpSpPr>
          <p:pic>
            <p:nvPicPr>
              <p:cNvPr id="182" name="Google Shape;182;p21"/>
              <p:cNvPicPr preferRelativeResize="0"/>
              <p:nvPr/>
            </p:nvPicPr>
            <p:blipFill>
              <a:blip r:embed="rId3">
                <a:alphaModFix/>
              </a:blip>
              <a:stretch>
                <a:fillRect/>
              </a:stretch>
            </p:blipFill>
            <p:spPr>
              <a:xfrm rot="10800000">
                <a:off x="6066136" y="4858516"/>
                <a:ext cx="3336551" cy="718900"/>
              </a:xfrm>
              <a:prstGeom prst="rect">
                <a:avLst/>
              </a:prstGeom>
              <a:noFill/>
              <a:ln>
                <a:noFill/>
              </a:ln>
            </p:spPr>
          </p:pic>
          <p:pic>
            <p:nvPicPr>
              <p:cNvPr id="183" name="Google Shape;183;p21"/>
              <p:cNvPicPr preferRelativeResize="0"/>
              <p:nvPr/>
            </p:nvPicPr>
            <p:blipFill>
              <a:blip r:embed="rId4">
                <a:alphaModFix/>
              </a:blip>
              <a:stretch>
                <a:fillRect/>
              </a:stretch>
            </p:blipFill>
            <p:spPr>
              <a:xfrm rot="10800000">
                <a:off x="5170363" y="5022016"/>
                <a:ext cx="4232325" cy="535340"/>
              </a:xfrm>
              <a:prstGeom prst="rect">
                <a:avLst/>
              </a:prstGeom>
              <a:noFill/>
              <a:ln>
                <a:noFill/>
              </a:ln>
              <a:effectLst>
                <a:outerShdw blurRad="128588" rotWithShape="0" algn="bl" dir="16020000" dist="57150">
                  <a:schemeClr val="lt1">
                    <a:alpha val="25000"/>
                  </a:schemeClr>
                </a:outerShdw>
              </a:effectLst>
            </p:spPr>
          </p:pic>
        </p:grpSp>
        <p:grpSp>
          <p:nvGrpSpPr>
            <p:cNvPr id="184" name="Google Shape;184;p21"/>
            <p:cNvGrpSpPr/>
            <p:nvPr/>
          </p:nvGrpSpPr>
          <p:grpSpPr>
            <a:xfrm>
              <a:off x="-158360" y="-851467"/>
              <a:ext cx="4519251" cy="1875502"/>
              <a:chOff x="-158360" y="-851467"/>
              <a:chExt cx="4519251" cy="1875502"/>
            </a:xfrm>
          </p:grpSpPr>
          <p:pic>
            <p:nvPicPr>
              <p:cNvPr id="185" name="Google Shape;185;p21"/>
              <p:cNvPicPr preferRelativeResize="0"/>
              <p:nvPr/>
            </p:nvPicPr>
            <p:blipFill>
              <a:blip r:embed="rId3">
                <a:alphaModFix/>
              </a:blip>
              <a:stretch>
                <a:fillRect/>
              </a:stretch>
            </p:blipFill>
            <p:spPr>
              <a:xfrm>
                <a:off x="-158360" y="-231964"/>
                <a:ext cx="3336551" cy="539175"/>
              </a:xfrm>
              <a:prstGeom prst="rect">
                <a:avLst/>
              </a:prstGeom>
              <a:noFill/>
              <a:ln>
                <a:noFill/>
              </a:ln>
            </p:spPr>
          </p:pic>
          <p:pic>
            <p:nvPicPr>
              <p:cNvPr id="186" name="Google Shape;186;p21"/>
              <p:cNvPicPr preferRelativeResize="0"/>
              <p:nvPr/>
            </p:nvPicPr>
            <p:blipFill>
              <a:blip r:embed="rId4">
                <a:alphaModFix/>
              </a:blip>
              <a:stretch>
                <a:fillRect/>
              </a:stretch>
            </p:blipFill>
            <p:spPr>
              <a:xfrm>
                <a:off x="-158360" y="-255440"/>
                <a:ext cx="4519251" cy="428722"/>
              </a:xfrm>
              <a:prstGeom prst="rect">
                <a:avLst/>
              </a:prstGeom>
              <a:noFill/>
              <a:ln>
                <a:noFill/>
              </a:ln>
              <a:effectLst>
                <a:outerShdw blurRad="142875" rotWithShape="0" algn="bl" dir="6360000" dist="76200">
                  <a:schemeClr val="lt1">
                    <a:alpha val="25000"/>
                  </a:schemeClr>
                </a:outerShdw>
              </a:effectLst>
            </p:spPr>
          </p:pic>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87" name="Shape 187"/>
        <p:cNvGrpSpPr/>
        <p:nvPr/>
      </p:nvGrpSpPr>
      <p:grpSpPr>
        <a:xfrm>
          <a:off x="0" y="0"/>
          <a:ext cx="0" cy="0"/>
          <a:chOff x="0" y="0"/>
          <a:chExt cx="0" cy="0"/>
        </a:xfrm>
      </p:grpSpPr>
      <p:pic>
        <p:nvPicPr>
          <p:cNvPr id="188" name="Google Shape;188;p2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9" name="Google Shape;189;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0" name="Google Shape;190;p22"/>
          <p:cNvSpPr txBox="1"/>
          <p:nvPr>
            <p:ph idx="1" type="subTitle"/>
          </p:nvPr>
        </p:nvSpPr>
        <p:spPr>
          <a:xfrm>
            <a:off x="720025" y="1554480"/>
            <a:ext cx="7704000" cy="530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91" name="Google Shape;191;p22"/>
          <p:cNvSpPr txBox="1"/>
          <p:nvPr>
            <p:ph idx="2" type="subTitle"/>
          </p:nvPr>
        </p:nvSpPr>
        <p:spPr>
          <a:xfrm>
            <a:off x="720025" y="2674038"/>
            <a:ext cx="77040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92" name="Google Shape;192;p22"/>
          <p:cNvSpPr txBox="1"/>
          <p:nvPr>
            <p:ph idx="3" type="subTitle"/>
          </p:nvPr>
        </p:nvSpPr>
        <p:spPr>
          <a:xfrm>
            <a:off x="720025" y="3787363"/>
            <a:ext cx="7704000" cy="527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93" name="Google Shape;193;p22"/>
          <p:cNvSpPr txBox="1"/>
          <p:nvPr>
            <p:ph idx="4" type="subTitle"/>
          </p:nvPr>
        </p:nvSpPr>
        <p:spPr>
          <a:xfrm>
            <a:off x="720025" y="1177009"/>
            <a:ext cx="7704000" cy="530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Clr>
                <a:schemeClr val="dk1"/>
              </a:buClr>
              <a:buSzPts val="24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2pPr>
            <a:lvl3pPr lvl="2"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3pPr>
            <a:lvl4pPr lvl="3"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4pPr>
            <a:lvl5pPr lvl="4"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5pPr>
            <a:lvl6pPr lvl="5"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6pPr>
            <a:lvl7pPr lvl="6"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7pPr>
            <a:lvl8pPr lvl="7"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8pPr>
            <a:lvl9pPr lvl="8"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9pPr>
          </a:lstStyle>
          <a:p/>
        </p:txBody>
      </p:sp>
      <p:sp>
        <p:nvSpPr>
          <p:cNvPr id="194" name="Google Shape;194;p22"/>
          <p:cNvSpPr txBox="1"/>
          <p:nvPr>
            <p:ph idx="5" type="subTitle"/>
          </p:nvPr>
        </p:nvSpPr>
        <p:spPr>
          <a:xfrm>
            <a:off x="720025" y="2293038"/>
            <a:ext cx="7704000" cy="5277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Clr>
                <a:schemeClr val="dk1"/>
              </a:buClr>
              <a:buSzPts val="24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2pPr>
            <a:lvl3pPr lvl="2"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3pPr>
            <a:lvl4pPr lvl="3"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4pPr>
            <a:lvl5pPr lvl="4"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5pPr>
            <a:lvl6pPr lvl="5"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6pPr>
            <a:lvl7pPr lvl="6"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7pPr>
            <a:lvl8pPr lvl="7"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8pPr>
            <a:lvl9pPr lvl="8"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9pPr>
          </a:lstStyle>
          <a:p/>
        </p:txBody>
      </p:sp>
      <p:sp>
        <p:nvSpPr>
          <p:cNvPr id="195" name="Google Shape;195;p22"/>
          <p:cNvSpPr txBox="1"/>
          <p:nvPr>
            <p:ph idx="6" type="subTitle"/>
          </p:nvPr>
        </p:nvSpPr>
        <p:spPr>
          <a:xfrm>
            <a:off x="720025" y="3406363"/>
            <a:ext cx="7704000" cy="5277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Clr>
                <a:schemeClr val="dk1"/>
              </a:buClr>
              <a:buSzPts val="24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2pPr>
            <a:lvl3pPr lvl="2"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3pPr>
            <a:lvl4pPr lvl="3"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4pPr>
            <a:lvl5pPr lvl="4"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5pPr>
            <a:lvl6pPr lvl="5"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6pPr>
            <a:lvl7pPr lvl="6"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7pPr>
            <a:lvl8pPr lvl="7"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8pPr>
            <a:lvl9pPr lvl="8" rtl="0">
              <a:lnSpc>
                <a:spcPct val="115000"/>
              </a:lnSpc>
              <a:spcBef>
                <a:spcPts val="0"/>
              </a:spcBef>
              <a:spcAft>
                <a:spcPts val="0"/>
              </a:spcAft>
              <a:buClr>
                <a:schemeClr val="dk1"/>
              </a:buClr>
              <a:buSzPts val="2400"/>
              <a:buFont typeface="DM Sans"/>
              <a:buNone/>
              <a:defRPr sz="2400">
                <a:solidFill>
                  <a:schemeClr val="dk1"/>
                </a:solidFill>
                <a:latin typeface="DM Sans"/>
                <a:ea typeface="DM Sans"/>
                <a:cs typeface="DM Sans"/>
                <a:sym typeface="DM Sans"/>
              </a:defRPr>
            </a:lvl9pPr>
          </a:lstStyle>
          <a:p/>
        </p:txBody>
      </p:sp>
      <p:grpSp>
        <p:nvGrpSpPr>
          <p:cNvPr id="196" name="Google Shape;196;p22"/>
          <p:cNvGrpSpPr/>
          <p:nvPr/>
        </p:nvGrpSpPr>
        <p:grpSpPr>
          <a:xfrm>
            <a:off x="-158360" y="-851467"/>
            <a:ext cx="9561047" cy="6679709"/>
            <a:chOff x="-158360" y="-851467"/>
            <a:chExt cx="9561047" cy="6679709"/>
          </a:xfrm>
        </p:grpSpPr>
        <p:grpSp>
          <p:nvGrpSpPr>
            <p:cNvPr id="197" name="Google Shape;197;p22"/>
            <p:cNvGrpSpPr/>
            <p:nvPr/>
          </p:nvGrpSpPr>
          <p:grpSpPr>
            <a:xfrm>
              <a:off x="5170363" y="4030992"/>
              <a:ext cx="4232325" cy="1797250"/>
              <a:chOff x="5170363" y="4030992"/>
              <a:chExt cx="4232325" cy="1797250"/>
            </a:xfrm>
          </p:grpSpPr>
          <p:pic>
            <p:nvPicPr>
              <p:cNvPr id="198" name="Google Shape;198;p22"/>
              <p:cNvPicPr preferRelativeResize="0"/>
              <p:nvPr/>
            </p:nvPicPr>
            <p:blipFill>
              <a:blip r:embed="rId3">
                <a:alphaModFix/>
              </a:blip>
              <a:stretch>
                <a:fillRect/>
              </a:stretch>
            </p:blipFill>
            <p:spPr>
              <a:xfrm rot="10800000">
                <a:off x="6066136" y="4858516"/>
                <a:ext cx="3336551" cy="718900"/>
              </a:xfrm>
              <a:prstGeom prst="rect">
                <a:avLst/>
              </a:prstGeom>
              <a:noFill/>
              <a:ln>
                <a:noFill/>
              </a:ln>
            </p:spPr>
          </p:pic>
          <p:pic>
            <p:nvPicPr>
              <p:cNvPr id="199" name="Google Shape;199;p22"/>
              <p:cNvPicPr preferRelativeResize="0"/>
              <p:nvPr/>
            </p:nvPicPr>
            <p:blipFill>
              <a:blip r:embed="rId4">
                <a:alphaModFix/>
              </a:blip>
              <a:stretch>
                <a:fillRect/>
              </a:stretch>
            </p:blipFill>
            <p:spPr>
              <a:xfrm rot="10800000">
                <a:off x="5170363" y="5022016"/>
                <a:ext cx="4232325" cy="535340"/>
              </a:xfrm>
              <a:prstGeom prst="rect">
                <a:avLst/>
              </a:prstGeom>
              <a:noFill/>
              <a:ln>
                <a:noFill/>
              </a:ln>
              <a:effectLst>
                <a:outerShdw blurRad="128588" rotWithShape="0" algn="bl" dir="16020000" dist="57150">
                  <a:schemeClr val="lt1">
                    <a:alpha val="25000"/>
                  </a:schemeClr>
                </a:outerShdw>
              </a:effectLst>
            </p:spPr>
          </p:pic>
        </p:grpSp>
        <p:grpSp>
          <p:nvGrpSpPr>
            <p:cNvPr id="200" name="Google Shape;200;p22"/>
            <p:cNvGrpSpPr/>
            <p:nvPr/>
          </p:nvGrpSpPr>
          <p:grpSpPr>
            <a:xfrm>
              <a:off x="-158360" y="-851467"/>
              <a:ext cx="4519251" cy="1875502"/>
              <a:chOff x="-158360" y="-851467"/>
              <a:chExt cx="4519251" cy="1875502"/>
            </a:xfrm>
          </p:grpSpPr>
          <p:pic>
            <p:nvPicPr>
              <p:cNvPr id="201" name="Google Shape;201;p22"/>
              <p:cNvPicPr preferRelativeResize="0"/>
              <p:nvPr/>
            </p:nvPicPr>
            <p:blipFill>
              <a:blip r:embed="rId3">
                <a:alphaModFix/>
              </a:blip>
              <a:stretch>
                <a:fillRect/>
              </a:stretch>
            </p:blipFill>
            <p:spPr>
              <a:xfrm>
                <a:off x="-158360" y="-231964"/>
                <a:ext cx="3336551" cy="539175"/>
              </a:xfrm>
              <a:prstGeom prst="rect">
                <a:avLst/>
              </a:prstGeom>
              <a:noFill/>
              <a:ln>
                <a:noFill/>
              </a:ln>
            </p:spPr>
          </p:pic>
          <p:pic>
            <p:nvPicPr>
              <p:cNvPr id="202" name="Google Shape;202;p22"/>
              <p:cNvPicPr preferRelativeResize="0"/>
              <p:nvPr/>
            </p:nvPicPr>
            <p:blipFill>
              <a:blip r:embed="rId4">
                <a:alphaModFix/>
              </a:blip>
              <a:stretch>
                <a:fillRect/>
              </a:stretch>
            </p:blipFill>
            <p:spPr>
              <a:xfrm>
                <a:off x="-158360" y="-255440"/>
                <a:ext cx="4519251" cy="428722"/>
              </a:xfrm>
              <a:prstGeom prst="rect">
                <a:avLst/>
              </a:prstGeom>
              <a:noFill/>
              <a:ln>
                <a:noFill/>
              </a:ln>
              <a:effectLst>
                <a:outerShdw blurRad="142875" rotWithShape="0" algn="bl" dir="6360000" dist="76200">
                  <a:schemeClr val="lt1">
                    <a:alpha val="25000"/>
                  </a:schemeClr>
                </a:outerShdw>
              </a:effectLst>
            </p:spPr>
          </p:pic>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203" name="Shape 203"/>
        <p:cNvGrpSpPr/>
        <p:nvPr/>
      </p:nvGrpSpPr>
      <p:grpSpPr>
        <a:xfrm>
          <a:off x="0" y="0"/>
          <a:ext cx="0" cy="0"/>
          <a:chOff x="0" y="0"/>
          <a:chExt cx="0" cy="0"/>
        </a:xfrm>
      </p:grpSpPr>
      <p:pic>
        <p:nvPicPr>
          <p:cNvPr id="204" name="Google Shape;204;p23"/>
          <p:cNvPicPr preferRelativeResize="0"/>
          <p:nvPr/>
        </p:nvPicPr>
        <p:blipFill>
          <a:blip r:embed="rId2">
            <a:alphaModFix/>
          </a:blip>
          <a:stretch>
            <a:fillRect/>
          </a:stretch>
        </p:blipFill>
        <p:spPr>
          <a:xfrm>
            <a:off x="0" y="0"/>
            <a:ext cx="9144000" cy="5143500"/>
          </a:xfrm>
          <a:prstGeom prst="rect">
            <a:avLst/>
          </a:prstGeom>
          <a:noFill/>
          <a:ln>
            <a:noFill/>
          </a:ln>
        </p:spPr>
      </p:pic>
      <p:sp>
        <p:nvSpPr>
          <p:cNvPr id="205" name="Google Shape;205;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3"/>
          <p:cNvSpPr txBox="1"/>
          <p:nvPr>
            <p:ph idx="1" type="subTitle"/>
          </p:nvPr>
        </p:nvSpPr>
        <p:spPr>
          <a:xfrm>
            <a:off x="1485750" y="1568325"/>
            <a:ext cx="6778800" cy="59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2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07" name="Google Shape;207;p23"/>
          <p:cNvSpPr txBox="1"/>
          <p:nvPr>
            <p:ph idx="2" type="subTitle"/>
          </p:nvPr>
        </p:nvSpPr>
        <p:spPr>
          <a:xfrm>
            <a:off x="1485750" y="2642321"/>
            <a:ext cx="6778800" cy="59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2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08" name="Google Shape;208;p23"/>
          <p:cNvSpPr txBox="1"/>
          <p:nvPr>
            <p:ph idx="3" type="subTitle"/>
          </p:nvPr>
        </p:nvSpPr>
        <p:spPr>
          <a:xfrm>
            <a:off x="1485750" y="3783825"/>
            <a:ext cx="6778800" cy="59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2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09" name="Google Shape;209;p23"/>
          <p:cNvSpPr txBox="1"/>
          <p:nvPr>
            <p:ph idx="4" type="subTitle"/>
          </p:nvPr>
        </p:nvSpPr>
        <p:spPr>
          <a:xfrm>
            <a:off x="1485750" y="1332525"/>
            <a:ext cx="6778800" cy="427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210" name="Google Shape;210;p23"/>
          <p:cNvSpPr txBox="1"/>
          <p:nvPr>
            <p:ph idx="5" type="subTitle"/>
          </p:nvPr>
        </p:nvSpPr>
        <p:spPr>
          <a:xfrm>
            <a:off x="1485750" y="2384063"/>
            <a:ext cx="6778800" cy="427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211" name="Google Shape;211;p23"/>
          <p:cNvSpPr txBox="1"/>
          <p:nvPr>
            <p:ph idx="6" type="subTitle"/>
          </p:nvPr>
        </p:nvSpPr>
        <p:spPr>
          <a:xfrm>
            <a:off x="1485750" y="3503125"/>
            <a:ext cx="6778800" cy="427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sz="2000">
                <a:solidFill>
                  <a:schemeClr val="dk1"/>
                </a:solidFill>
                <a:latin typeface="Public Sans"/>
                <a:ea typeface="Public Sans"/>
                <a:cs typeface="Public Sans"/>
                <a:sym typeface="Public Sa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212" name="Google Shape;212;p23"/>
          <p:cNvGrpSpPr/>
          <p:nvPr/>
        </p:nvGrpSpPr>
        <p:grpSpPr>
          <a:xfrm>
            <a:off x="-158360" y="-851467"/>
            <a:ext cx="9561047" cy="6679709"/>
            <a:chOff x="-158360" y="-851467"/>
            <a:chExt cx="9561047" cy="6679709"/>
          </a:xfrm>
        </p:grpSpPr>
        <p:grpSp>
          <p:nvGrpSpPr>
            <p:cNvPr id="213" name="Google Shape;213;p23"/>
            <p:cNvGrpSpPr/>
            <p:nvPr/>
          </p:nvGrpSpPr>
          <p:grpSpPr>
            <a:xfrm>
              <a:off x="-158360" y="4030992"/>
              <a:ext cx="4232325" cy="1797250"/>
              <a:chOff x="-158360" y="4030992"/>
              <a:chExt cx="4232325" cy="1797250"/>
            </a:xfrm>
          </p:grpSpPr>
          <p:pic>
            <p:nvPicPr>
              <p:cNvPr id="214" name="Google Shape;214;p23"/>
              <p:cNvPicPr preferRelativeResize="0"/>
              <p:nvPr/>
            </p:nvPicPr>
            <p:blipFill>
              <a:blip r:embed="rId3">
                <a:alphaModFix/>
              </a:blip>
              <a:stretch>
                <a:fillRect/>
              </a:stretch>
            </p:blipFill>
            <p:spPr>
              <a:xfrm flipH="1" rot="10800000">
                <a:off x="-158360" y="4858516"/>
                <a:ext cx="3336551" cy="718900"/>
              </a:xfrm>
              <a:prstGeom prst="rect">
                <a:avLst/>
              </a:prstGeom>
              <a:noFill/>
              <a:ln>
                <a:noFill/>
              </a:ln>
            </p:spPr>
          </p:pic>
          <p:pic>
            <p:nvPicPr>
              <p:cNvPr id="215" name="Google Shape;215;p23"/>
              <p:cNvPicPr preferRelativeResize="0"/>
              <p:nvPr/>
            </p:nvPicPr>
            <p:blipFill>
              <a:blip r:embed="rId4">
                <a:alphaModFix/>
              </a:blip>
              <a:stretch>
                <a:fillRect/>
              </a:stretch>
            </p:blipFill>
            <p:spPr>
              <a:xfrm flipH="1" rot="10800000">
                <a:off x="-158360" y="5022016"/>
                <a:ext cx="4232325" cy="535340"/>
              </a:xfrm>
              <a:prstGeom prst="rect">
                <a:avLst/>
              </a:prstGeom>
              <a:noFill/>
              <a:ln>
                <a:noFill/>
              </a:ln>
              <a:effectLst>
                <a:outerShdw blurRad="128588" rotWithShape="0" algn="bl" dir="11040000" dist="57150">
                  <a:schemeClr val="lt1">
                    <a:alpha val="25000"/>
                  </a:schemeClr>
                </a:outerShdw>
              </a:effectLst>
            </p:spPr>
          </p:pic>
        </p:grpSp>
        <p:grpSp>
          <p:nvGrpSpPr>
            <p:cNvPr id="216" name="Google Shape;216;p23"/>
            <p:cNvGrpSpPr/>
            <p:nvPr/>
          </p:nvGrpSpPr>
          <p:grpSpPr>
            <a:xfrm>
              <a:off x="4883436" y="-851467"/>
              <a:ext cx="4519251" cy="1875502"/>
              <a:chOff x="4883436" y="-851467"/>
              <a:chExt cx="4519251" cy="1875502"/>
            </a:xfrm>
          </p:grpSpPr>
          <p:pic>
            <p:nvPicPr>
              <p:cNvPr id="217" name="Google Shape;217;p23"/>
              <p:cNvPicPr preferRelativeResize="0"/>
              <p:nvPr/>
            </p:nvPicPr>
            <p:blipFill>
              <a:blip r:embed="rId3">
                <a:alphaModFix/>
              </a:blip>
              <a:stretch>
                <a:fillRect/>
              </a:stretch>
            </p:blipFill>
            <p:spPr>
              <a:xfrm flipH="1">
                <a:off x="6066136" y="-231964"/>
                <a:ext cx="3336551" cy="539175"/>
              </a:xfrm>
              <a:prstGeom prst="rect">
                <a:avLst/>
              </a:prstGeom>
              <a:noFill/>
              <a:ln>
                <a:noFill/>
              </a:ln>
            </p:spPr>
          </p:pic>
          <p:pic>
            <p:nvPicPr>
              <p:cNvPr id="218" name="Google Shape;218;p23"/>
              <p:cNvPicPr preferRelativeResize="0"/>
              <p:nvPr/>
            </p:nvPicPr>
            <p:blipFill>
              <a:blip r:embed="rId4">
                <a:alphaModFix/>
              </a:blip>
              <a:stretch>
                <a:fillRect/>
              </a:stretch>
            </p:blipFill>
            <p:spPr>
              <a:xfrm flipH="1">
                <a:off x="4883436" y="-255440"/>
                <a:ext cx="4519251" cy="428722"/>
              </a:xfrm>
              <a:prstGeom prst="rect">
                <a:avLst/>
              </a:prstGeom>
              <a:noFill/>
              <a:ln>
                <a:noFill/>
              </a:ln>
              <a:effectLst>
                <a:outerShdw blurRad="142875" rotWithShape="0" algn="bl" dir="11100000" dist="76200">
                  <a:schemeClr val="lt1">
                    <a:alpha val="25000"/>
                  </a:schemeClr>
                </a:outerShdw>
              </a:effectLst>
            </p:spPr>
          </p:pic>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9" name="Shape 219"/>
        <p:cNvGrpSpPr/>
        <p:nvPr/>
      </p:nvGrpSpPr>
      <p:grpSpPr>
        <a:xfrm>
          <a:off x="0" y="0"/>
          <a:ext cx="0" cy="0"/>
          <a:chOff x="0" y="0"/>
          <a:chExt cx="0" cy="0"/>
        </a:xfrm>
      </p:grpSpPr>
      <p:pic>
        <p:nvPicPr>
          <p:cNvPr id="220" name="Google Shape;220;p2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21" name="Google Shape;221;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2" name="Google Shape;222;p24"/>
          <p:cNvSpPr txBox="1"/>
          <p:nvPr>
            <p:ph idx="1" type="subTitle"/>
          </p:nvPr>
        </p:nvSpPr>
        <p:spPr>
          <a:xfrm>
            <a:off x="1597238" y="1720965"/>
            <a:ext cx="26010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3" name="Google Shape;223;p24"/>
          <p:cNvSpPr txBox="1"/>
          <p:nvPr>
            <p:ph idx="2" type="subTitle"/>
          </p:nvPr>
        </p:nvSpPr>
        <p:spPr>
          <a:xfrm>
            <a:off x="5446513" y="1720965"/>
            <a:ext cx="26010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4" name="Google Shape;224;p24"/>
          <p:cNvSpPr txBox="1"/>
          <p:nvPr>
            <p:ph idx="3" type="subTitle"/>
          </p:nvPr>
        </p:nvSpPr>
        <p:spPr>
          <a:xfrm>
            <a:off x="1597238" y="3304965"/>
            <a:ext cx="26010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5" name="Google Shape;225;p24"/>
          <p:cNvSpPr txBox="1"/>
          <p:nvPr>
            <p:ph idx="4" type="subTitle"/>
          </p:nvPr>
        </p:nvSpPr>
        <p:spPr>
          <a:xfrm>
            <a:off x="5446513" y="3304965"/>
            <a:ext cx="2601000" cy="9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6" name="Google Shape;226;p24"/>
          <p:cNvSpPr txBox="1"/>
          <p:nvPr>
            <p:ph idx="5" type="subTitle"/>
          </p:nvPr>
        </p:nvSpPr>
        <p:spPr>
          <a:xfrm>
            <a:off x="1597238" y="1381540"/>
            <a:ext cx="2601000" cy="47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7" name="Google Shape;227;p24"/>
          <p:cNvSpPr txBox="1"/>
          <p:nvPr>
            <p:ph idx="6" type="subTitle"/>
          </p:nvPr>
        </p:nvSpPr>
        <p:spPr>
          <a:xfrm>
            <a:off x="5446513" y="1381540"/>
            <a:ext cx="2601000" cy="47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8" name="Google Shape;228;p24"/>
          <p:cNvSpPr txBox="1"/>
          <p:nvPr>
            <p:ph idx="7" type="subTitle"/>
          </p:nvPr>
        </p:nvSpPr>
        <p:spPr>
          <a:xfrm>
            <a:off x="1597238" y="2965490"/>
            <a:ext cx="2601000" cy="47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9" name="Google Shape;229;p24"/>
          <p:cNvSpPr txBox="1"/>
          <p:nvPr>
            <p:ph idx="8" type="subTitle"/>
          </p:nvPr>
        </p:nvSpPr>
        <p:spPr>
          <a:xfrm>
            <a:off x="5446513" y="2965490"/>
            <a:ext cx="2601000" cy="47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0" name="Google Shape;230;p24"/>
          <p:cNvGrpSpPr/>
          <p:nvPr/>
        </p:nvGrpSpPr>
        <p:grpSpPr>
          <a:xfrm>
            <a:off x="-158360" y="-851467"/>
            <a:ext cx="9561047" cy="6679709"/>
            <a:chOff x="-158360" y="-851467"/>
            <a:chExt cx="9561047" cy="6679709"/>
          </a:xfrm>
        </p:grpSpPr>
        <p:grpSp>
          <p:nvGrpSpPr>
            <p:cNvPr id="231" name="Google Shape;231;p24"/>
            <p:cNvGrpSpPr/>
            <p:nvPr/>
          </p:nvGrpSpPr>
          <p:grpSpPr>
            <a:xfrm>
              <a:off x="5170363" y="4030992"/>
              <a:ext cx="4232325" cy="1797250"/>
              <a:chOff x="5170363" y="4030992"/>
              <a:chExt cx="4232325" cy="1797250"/>
            </a:xfrm>
          </p:grpSpPr>
          <p:pic>
            <p:nvPicPr>
              <p:cNvPr id="232" name="Google Shape;232;p24"/>
              <p:cNvPicPr preferRelativeResize="0"/>
              <p:nvPr/>
            </p:nvPicPr>
            <p:blipFill>
              <a:blip r:embed="rId3">
                <a:alphaModFix/>
              </a:blip>
              <a:stretch>
                <a:fillRect/>
              </a:stretch>
            </p:blipFill>
            <p:spPr>
              <a:xfrm rot="10800000">
                <a:off x="6066136" y="4858516"/>
                <a:ext cx="3336551" cy="718900"/>
              </a:xfrm>
              <a:prstGeom prst="rect">
                <a:avLst/>
              </a:prstGeom>
              <a:noFill/>
              <a:ln>
                <a:noFill/>
              </a:ln>
            </p:spPr>
          </p:pic>
          <p:pic>
            <p:nvPicPr>
              <p:cNvPr id="233" name="Google Shape;233;p24"/>
              <p:cNvPicPr preferRelativeResize="0"/>
              <p:nvPr/>
            </p:nvPicPr>
            <p:blipFill>
              <a:blip r:embed="rId4">
                <a:alphaModFix/>
              </a:blip>
              <a:stretch>
                <a:fillRect/>
              </a:stretch>
            </p:blipFill>
            <p:spPr>
              <a:xfrm rot="10800000">
                <a:off x="5170363" y="5022016"/>
                <a:ext cx="4232325" cy="535340"/>
              </a:xfrm>
              <a:prstGeom prst="rect">
                <a:avLst/>
              </a:prstGeom>
              <a:noFill/>
              <a:ln>
                <a:noFill/>
              </a:ln>
              <a:effectLst>
                <a:outerShdw blurRad="128588" rotWithShape="0" algn="bl" dir="9900000" dist="57150">
                  <a:schemeClr val="lt1">
                    <a:alpha val="25000"/>
                  </a:schemeClr>
                </a:outerShdw>
              </a:effectLst>
            </p:spPr>
          </p:pic>
        </p:grpSp>
        <p:grpSp>
          <p:nvGrpSpPr>
            <p:cNvPr id="234" name="Google Shape;234;p24"/>
            <p:cNvGrpSpPr/>
            <p:nvPr/>
          </p:nvGrpSpPr>
          <p:grpSpPr>
            <a:xfrm>
              <a:off x="-158360" y="-851467"/>
              <a:ext cx="4519251" cy="1875502"/>
              <a:chOff x="-158360" y="-851467"/>
              <a:chExt cx="4519251" cy="1875502"/>
            </a:xfrm>
          </p:grpSpPr>
          <p:pic>
            <p:nvPicPr>
              <p:cNvPr id="235" name="Google Shape;235;p24"/>
              <p:cNvPicPr preferRelativeResize="0"/>
              <p:nvPr/>
            </p:nvPicPr>
            <p:blipFill>
              <a:blip r:embed="rId3">
                <a:alphaModFix/>
              </a:blip>
              <a:stretch>
                <a:fillRect/>
              </a:stretch>
            </p:blipFill>
            <p:spPr>
              <a:xfrm>
                <a:off x="-158360" y="-231964"/>
                <a:ext cx="3336551" cy="539175"/>
              </a:xfrm>
              <a:prstGeom prst="rect">
                <a:avLst/>
              </a:prstGeom>
              <a:noFill/>
              <a:ln>
                <a:noFill/>
              </a:ln>
            </p:spPr>
          </p:pic>
          <p:pic>
            <p:nvPicPr>
              <p:cNvPr id="236" name="Google Shape;236;p24"/>
              <p:cNvPicPr preferRelativeResize="0"/>
              <p:nvPr/>
            </p:nvPicPr>
            <p:blipFill>
              <a:blip r:embed="rId4">
                <a:alphaModFix/>
              </a:blip>
              <a:stretch>
                <a:fillRect/>
              </a:stretch>
            </p:blipFill>
            <p:spPr>
              <a:xfrm>
                <a:off x="-158360" y="-255440"/>
                <a:ext cx="4519251" cy="428722"/>
              </a:xfrm>
              <a:prstGeom prst="rect">
                <a:avLst/>
              </a:prstGeom>
              <a:noFill/>
              <a:ln>
                <a:noFill/>
              </a:ln>
              <a:effectLst>
                <a:outerShdw blurRad="142875" rotWithShape="0" algn="bl" dir="10020000" dist="76200">
                  <a:schemeClr val="lt1">
                    <a:alpha val="25000"/>
                  </a:schemeClr>
                </a:outerShdw>
              </a:effectLst>
            </p:spPr>
          </p:pic>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37" name="Shape 237"/>
        <p:cNvGrpSpPr/>
        <p:nvPr/>
      </p:nvGrpSpPr>
      <p:grpSpPr>
        <a:xfrm>
          <a:off x="0" y="0"/>
          <a:ext cx="0" cy="0"/>
          <a:chOff x="0" y="0"/>
          <a:chExt cx="0" cy="0"/>
        </a:xfrm>
      </p:grpSpPr>
      <p:pic>
        <p:nvPicPr>
          <p:cNvPr id="238" name="Google Shape;238;p2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9" name="Google Shape;239;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0" name="Google Shape;240;p25"/>
          <p:cNvSpPr txBox="1"/>
          <p:nvPr>
            <p:ph idx="1" type="subTitle"/>
          </p:nvPr>
        </p:nvSpPr>
        <p:spPr>
          <a:xfrm>
            <a:off x="1024244" y="2155600"/>
            <a:ext cx="21558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1" name="Google Shape;241;p25"/>
          <p:cNvSpPr txBox="1"/>
          <p:nvPr>
            <p:ph idx="2" type="subTitle"/>
          </p:nvPr>
        </p:nvSpPr>
        <p:spPr>
          <a:xfrm>
            <a:off x="3494094" y="2155600"/>
            <a:ext cx="21558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2" name="Google Shape;242;p25"/>
          <p:cNvSpPr txBox="1"/>
          <p:nvPr>
            <p:ph idx="3" type="subTitle"/>
          </p:nvPr>
        </p:nvSpPr>
        <p:spPr>
          <a:xfrm>
            <a:off x="1024244" y="3919924"/>
            <a:ext cx="21558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3" name="Google Shape;243;p25"/>
          <p:cNvSpPr txBox="1"/>
          <p:nvPr>
            <p:ph idx="4" type="subTitle"/>
          </p:nvPr>
        </p:nvSpPr>
        <p:spPr>
          <a:xfrm>
            <a:off x="3494094" y="3919924"/>
            <a:ext cx="21558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4" name="Google Shape;244;p25"/>
          <p:cNvSpPr txBox="1"/>
          <p:nvPr>
            <p:ph idx="5" type="subTitle"/>
          </p:nvPr>
        </p:nvSpPr>
        <p:spPr>
          <a:xfrm>
            <a:off x="5964019" y="2155604"/>
            <a:ext cx="21558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5" name="Google Shape;245;p25"/>
          <p:cNvSpPr txBox="1"/>
          <p:nvPr>
            <p:ph idx="6" type="subTitle"/>
          </p:nvPr>
        </p:nvSpPr>
        <p:spPr>
          <a:xfrm>
            <a:off x="5964019" y="3919926"/>
            <a:ext cx="2155800" cy="63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6" name="Google Shape;246;p25"/>
          <p:cNvSpPr txBox="1"/>
          <p:nvPr>
            <p:ph idx="7" type="subTitle"/>
          </p:nvPr>
        </p:nvSpPr>
        <p:spPr>
          <a:xfrm>
            <a:off x="1024244" y="1826100"/>
            <a:ext cx="2155800" cy="4926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7" name="Google Shape;247;p25"/>
          <p:cNvSpPr txBox="1"/>
          <p:nvPr>
            <p:ph idx="8" type="subTitle"/>
          </p:nvPr>
        </p:nvSpPr>
        <p:spPr>
          <a:xfrm>
            <a:off x="3494094" y="1826100"/>
            <a:ext cx="2155800" cy="4926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 name="Google Shape;248;p25"/>
          <p:cNvSpPr txBox="1"/>
          <p:nvPr>
            <p:ph idx="9" type="subTitle"/>
          </p:nvPr>
        </p:nvSpPr>
        <p:spPr>
          <a:xfrm>
            <a:off x="5964019" y="1826100"/>
            <a:ext cx="2155800" cy="4926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9" name="Google Shape;249;p25"/>
          <p:cNvSpPr txBox="1"/>
          <p:nvPr>
            <p:ph idx="13" type="subTitle"/>
          </p:nvPr>
        </p:nvSpPr>
        <p:spPr>
          <a:xfrm>
            <a:off x="1024244" y="3590226"/>
            <a:ext cx="2155800" cy="4926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0" name="Google Shape;250;p25"/>
          <p:cNvSpPr txBox="1"/>
          <p:nvPr>
            <p:ph idx="14" type="subTitle"/>
          </p:nvPr>
        </p:nvSpPr>
        <p:spPr>
          <a:xfrm>
            <a:off x="3494094" y="3590226"/>
            <a:ext cx="2155800" cy="4926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1" name="Google Shape;251;p25"/>
          <p:cNvSpPr txBox="1"/>
          <p:nvPr>
            <p:ph idx="15" type="subTitle"/>
          </p:nvPr>
        </p:nvSpPr>
        <p:spPr>
          <a:xfrm>
            <a:off x="5964019" y="3590226"/>
            <a:ext cx="2155800" cy="4926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sz="2000">
                <a:solidFill>
                  <a:schemeClr val="dk1"/>
                </a:solidFill>
                <a:latin typeface="Public Sans"/>
                <a:ea typeface="Public Sans"/>
                <a:cs typeface="Public Sans"/>
                <a:sym typeface="Public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52" name="Google Shape;252;p25"/>
          <p:cNvGrpSpPr/>
          <p:nvPr/>
        </p:nvGrpSpPr>
        <p:grpSpPr>
          <a:xfrm>
            <a:off x="-158360" y="-851467"/>
            <a:ext cx="9561047" cy="6679709"/>
            <a:chOff x="-158360" y="-851467"/>
            <a:chExt cx="9561047" cy="6679709"/>
          </a:xfrm>
        </p:grpSpPr>
        <p:grpSp>
          <p:nvGrpSpPr>
            <p:cNvPr id="253" name="Google Shape;253;p25"/>
            <p:cNvGrpSpPr/>
            <p:nvPr/>
          </p:nvGrpSpPr>
          <p:grpSpPr>
            <a:xfrm>
              <a:off x="-158360" y="4030992"/>
              <a:ext cx="4232325" cy="1797250"/>
              <a:chOff x="-158360" y="4030992"/>
              <a:chExt cx="4232325" cy="1797250"/>
            </a:xfrm>
          </p:grpSpPr>
          <p:pic>
            <p:nvPicPr>
              <p:cNvPr id="254" name="Google Shape;254;p25"/>
              <p:cNvPicPr preferRelativeResize="0"/>
              <p:nvPr/>
            </p:nvPicPr>
            <p:blipFill>
              <a:blip r:embed="rId3">
                <a:alphaModFix/>
              </a:blip>
              <a:stretch>
                <a:fillRect/>
              </a:stretch>
            </p:blipFill>
            <p:spPr>
              <a:xfrm flipH="1" rot="10800000">
                <a:off x="-158360" y="4858516"/>
                <a:ext cx="3336551" cy="718900"/>
              </a:xfrm>
              <a:prstGeom prst="rect">
                <a:avLst/>
              </a:prstGeom>
              <a:noFill/>
              <a:ln>
                <a:noFill/>
              </a:ln>
            </p:spPr>
          </p:pic>
          <p:pic>
            <p:nvPicPr>
              <p:cNvPr id="255" name="Google Shape;255;p25"/>
              <p:cNvPicPr preferRelativeResize="0"/>
              <p:nvPr/>
            </p:nvPicPr>
            <p:blipFill>
              <a:blip r:embed="rId4">
                <a:alphaModFix/>
              </a:blip>
              <a:stretch>
                <a:fillRect/>
              </a:stretch>
            </p:blipFill>
            <p:spPr>
              <a:xfrm flipH="1" rot="10800000">
                <a:off x="-158360" y="5022016"/>
                <a:ext cx="4232325" cy="535340"/>
              </a:xfrm>
              <a:prstGeom prst="rect">
                <a:avLst/>
              </a:prstGeom>
              <a:noFill/>
              <a:ln>
                <a:noFill/>
              </a:ln>
              <a:effectLst>
                <a:outerShdw blurRad="128588" rotWithShape="0" algn="bl" dir="16020000" dist="57150">
                  <a:schemeClr val="lt1">
                    <a:alpha val="25000"/>
                  </a:schemeClr>
                </a:outerShdw>
              </a:effectLst>
            </p:spPr>
          </p:pic>
        </p:grpSp>
        <p:grpSp>
          <p:nvGrpSpPr>
            <p:cNvPr id="256" name="Google Shape;256;p25"/>
            <p:cNvGrpSpPr/>
            <p:nvPr/>
          </p:nvGrpSpPr>
          <p:grpSpPr>
            <a:xfrm>
              <a:off x="4883436" y="-851467"/>
              <a:ext cx="4519251" cy="1875502"/>
              <a:chOff x="4883436" y="-851467"/>
              <a:chExt cx="4519251" cy="1875502"/>
            </a:xfrm>
          </p:grpSpPr>
          <p:pic>
            <p:nvPicPr>
              <p:cNvPr id="257" name="Google Shape;257;p25"/>
              <p:cNvPicPr preferRelativeResize="0"/>
              <p:nvPr/>
            </p:nvPicPr>
            <p:blipFill>
              <a:blip r:embed="rId3">
                <a:alphaModFix/>
              </a:blip>
              <a:stretch>
                <a:fillRect/>
              </a:stretch>
            </p:blipFill>
            <p:spPr>
              <a:xfrm flipH="1">
                <a:off x="6066136" y="-231964"/>
                <a:ext cx="3336551" cy="539175"/>
              </a:xfrm>
              <a:prstGeom prst="rect">
                <a:avLst/>
              </a:prstGeom>
              <a:noFill/>
              <a:ln>
                <a:noFill/>
              </a:ln>
            </p:spPr>
          </p:pic>
          <p:pic>
            <p:nvPicPr>
              <p:cNvPr id="258" name="Google Shape;258;p25"/>
              <p:cNvPicPr preferRelativeResize="0"/>
              <p:nvPr/>
            </p:nvPicPr>
            <p:blipFill>
              <a:blip r:embed="rId4">
                <a:alphaModFix/>
              </a:blip>
              <a:stretch>
                <a:fillRect/>
              </a:stretch>
            </p:blipFill>
            <p:spPr>
              <a:xfrm flipH="1">
                <a:off x="4883436" y="-255440"/>
                <a:ext cx="4519251" cy="428722"/>
              </a:xfrm>
              <a:prstGeom prst="rect">
                <a:avLst/>
              </a:prstGeom>
              <a:noFill/>
              <a:ln>
                <a:noFill/>
              </a:ln>
              <a:effectLst>
                <a:outerShdw blurRad="142875" rotWithShape="0" algn="bl" dir="6360000" dist="76200">
                  <a:schemeClr val="lt1">
                    <a:alpha val="25000"/>
                  </a:schemeClr>
                </a:outerShdw>
              </a:effectLst>
            </p:spPr>
          </p:pic>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59" name="Shape 259"/>
        <p:cNvGrpSpPr/>
        <p:nvPr/>
      </p:nvGrpSpPr>
      <p:grpSpPr>
        <a:xfrm>
          <a:off x="0" y="0"/>
          <a:ext cx="0" cy="0"/>
          <a:chOff x="0" y="0"/>
          <a:chExt cx="0" cy="0"/>
        </a:xfrm>
      </p:grpSpPr>
      <p:pic>
        <p:nvPicPr>
          <p:cNvPr id="260" name="Google Shape;260;p2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1" name="Google Shape;261;p26"/>
          <p:cNvSpPr txBox="1"/>
          <p:nvPr>
            <p:ph hasCustomPrompt="1" type="title"/>
          </p:nvPr>
        </p:nvSpPr>
        <p:spPr>
          <a:xfrm>
            <a:off x="713225" y="1307025"/>
            <a:ext cx="3773700" cy="8796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2" name="Google Shape;262;p26"/>
          <p:cNvSpPr txBox="1"/>
          <p:nvPr>
            <p:ph idx="1" type="subTitle"/>
          </p:nvPr>
        </p:nvSpPr>
        <p:spPr>
          <a:xfrm>
            <a:off x="713225" y="1965651"/>
            <a:ext cx="3773700" cy="3663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3" name="Google Shape;263;p26"/>
          <p:cNvSpPr txBox="1"/>
          <p:nvPr>
            <p:ph hasCustomPrompt="1" idx="2" type="title"/>
          </p:nvPr>
        </p:nvSpPr>
        <p:spPr>
          <a:xfrm>
            <a:off x="4657075" y="1307025"/>
            <a:ext cx="3773700" cy="8796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4" name="Google Shape;264;p26"/>
          <p:cNvSpPr txBox="1"/>
          <p:nvPr>
            <p:ph idx="3" type="subTitle"/>
          </p:nvPr>
        </p:nvSpPr>
        <p:spPr>
          <a:xfrm>
            <a:off x="4657075" y="1965676"/>
            <a:ext cx="3773700" cy="3663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5" name="Google Shape;265;p26"/>
          <p:cNvSpPr txBox="1"/>
          <p:nvPr>
            <p:ph hasCustomPrompt="1" idx="4" type="title"/>
          </p:nvPr>
        </p:nvSpPr>
        <p:spPr>
          <a:xfrm>
            <a:off x="2685150" y="2811500"/>
            <a:ext cx="3773700" cy="8796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6" name="Google Shape;266;p26"/>
          <p:cNvSpPr txBox="1"/>
          <p:nvPr>
            <p:ph idx="5" type="subTitle"/>
          </p:nvPr>
        </p:nvSpPr>
        <p:spPr>
          <a:xfrm>
            <a:off x="2685150" y="3470174"/>
            <a:ext cx="3773700" cy="3663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7" name="Shape 267"/>
        <p:cNvGrpSpPr/>
        <p:nvPr/>
      </p:nvGrpSpPr>
      <p:grpSpPr>
        <a:xfrm>
          <a:off x="0" y="0"/>
          <a:ext cx="0" cy="0"/>
          <a:chOff x="0" y="0"/>
          <a:chExt cx="0" cy="0"/>
        </a:xfrm>
      </p:grpSpPr>
      <p:pic>
        <p:nvPicPr>
          <p:cNvPr id="268" name="Google Shape;268;p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9" name="Google Shape;269;p27"/>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0" name="Google Shape;270;p27"/>
          <p:cNvSpPr txBox="1"/>
          <p:nvPr>
            <p:ph idx="1" type="subTitle"/>
          </p:nvPr>
        </p:nvSpPr>
        <p:spPr>
          <a:xfrm>
            <a:off x="2347900" y="1770662"/>
            <a:ext cx="4448100" cy="1224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1" name="Google Shape;271;p27"/>
          <p:cNvSpPr txBox="1"/>
          <p:nvPr/>
        </p:nvSpPr>
        <p:spPr>
          <a:xfrm>
            <a:off x="1005840" y="4535424"/>
            <a:ext cx="7132320" cy="320040"/>
          </a:xfrm>
          <a:prstGeom prst="rect">
            <a:avLst/>
          </a:prstGeom>
          <a:noFill/>
          <a:ln>
            <a:noFill/>
          </a:ln>
        </p:spPr>
        <p:txBody>
          <a:bodyPr anchorCtr="0" anchor="t" bIns="0" lIns="91425" spcFirstLastPara="1" rIns="91425" wrap="square" tIns="0">
            <a:noAutofit/>
          </a:bodyPr>
          <a:lstStyle/>
          <a:p>
            <a:pPr indent="0" lvl="0" marL="0" rtl="0" algn="ctr">
              <a:lnSpc>
                <a:spcPct val="115000"/>
              </a:lnSpc>
              <a:spcBef>
                <a:spcPts val="300"/>
              </a:spcBef>
              <a:spcAft>
                <a:spcPts val="0"/>
              </a:spcAft>
              <a:buNone/>
            </a:pPr>
            <a:r>
              <a:rPr lang="en" sz="800">
                <a:solidFill>
                  <a:srgbClr val="134E2D"/>
                </a:solidFill>
                <a:latin typeface="Arial"/>
                <a:ea typeface="Commissioner"/>
                <a:cs typeface="Commissioner"/>
                <a:sym typeface="Commissioner"/>
              </a:rPr>
              <a:t>CREDITS: This presentation template was created by </a:t>
            </a:r>
            <a:r>
              <a:rPr b="1" lang="en" sz="800" u="sng">
                <a:solidFill>
                  <a:srgbClr val="134E2D"/>
                </a:solidFill>
                <a:latin typeface="Arial"/>
                <a:ea typeface="Commissioner"/>
                <a:cs typeface="Commissioner"/>
                <a:sym typeface="Commissioner"/>
                <a:hlinkClick r:id="rId3">
                  <a:extLst>
                    <a:ext uri="{A12FA001-AC4F-418D-AE19-62706E023703}">
                      <ahyp:hlinkClr val="tx"/>
                    </a:ext>
                  </a:extLst>
                </a:hlinkClick>
              </a:rPr>
              <a:t>Slidesgo</a:t>
            </a:r>
            <a:r>
              <a:rPr b="1" lang="en" sz="800">
                <a:solidFill>
                  <a:srgbClr val="134E2D"/>
                </a:solidFill>
                <a:latin typeface="Arial"/>
                <a:ea typeface="Commissioner"/>
                <a:cs typeface="Commissioner"/>
                <a:sym typeface="Commissioner"/>
              </a:rPr>
              <a:t>,</a:t>
            </a:r>
            <a:r>
              <a:rPr lang="en" sz="800">
                <a:solidFill>
                  <a:srgbClr val="134E2D"/>
                </a:solidFill>
                <a:latin typeface="Arial"/>
                <a:ea typeface="Commissioner"/>
                <a:cs typeface="Commissioner"/>
                <a:sym typeface="Commissioner"/>
              </a:rPr>
              <a:t> and includes icons by</a:t>
            </a:r>
            <a:r>
              <a:rPr b="1" lang="en" sz="800">
                <a:solidFill>
                  <a:srgbClr val="134E2D"/>
                </a:solidFill>
                <a:latin typeface="Arial"/>
                <a:ea typeface="Commissioner"/>
                <a:cs typeface="Commissioner"/>
                <a:sym typeface="Commissioner"/>
              </a:rPr>
              <a:t> </a:t>
            </a:r>
            <a:r>
              <a:rPr b="1" lang="en" sz="800" u="sng">
                <a:solidFill>
                  <a:srgbClr val="134E2D"/>
                </a:solidFill>
                <a:latin typeface="Arial"/>
                <a:ea typeface="Commissioner"/>
                <a:cs typeface="Commissioner"/>
                <a:sym typeface="Commissioner"/>
                <a:hlinkClick r:id="rId4">
                  <a:extLst>
                    <a:ext uri="{A12FA001-AC4F-418D-AE19-62706E023703}">
                      <ahyp:hlinkClr val="tx"/>
                    </a:ext>
                  </a:extLst>
                </a:hlinkClick>
              </a:rPr>
              <a:t>Flaticon</a:t>
            </a:r>
            <a:r>
              <a:rPr b="1" lang="en" sz="800">
                <a:solidFill>
                  <a:srgbClr val="134E2D"/>
                </a:solidFill>
                <a:latin typeface="Arial"/>
                <a:ea typeface="Commissioner"/>
                <a:cs typeface="Commissioner"/>
                <a:sym typeface="Commissioner"/>
              </a:rPr>
              <a:t>,</a:t>
            </a:r>
            <a:r>
              <a:rPr lang="en" sz="800">
                <a:solidFill>
                  <a:srgbClr val="134E2D"/>
                </a:solidFill>
                <a:latin typeface="Arial"/>
                <a:ea typeface="Commissioner"/>
                <a:cs typeface="Commissioner"/>
                <a:sym typeface="Commissioner"/>
              </a:rPr>
              <a:t> and infographics &amp; images by </a:t>
            </a:r>
            <a:r>
              <a:rPr b="1" lang="en" sz="800" u="sng">
                <a:solidFill>
                  <a:srgbClr val="134E2D"/>
                </a:solidFill>
                <a:latin typeface="Arial"/>
                <a:ea typeface="Commissioner"/>
                <a:cs typeface="Commissioner"/>
                <a:sym typeface="Commissioner"/>
                <a:hlinkClick r:id="rId5">
                  <a:extLst>
                    <a:ext uri="{A12FA001-AC4F-418D-AE19-62706E023703}">
                      <ahyp:hlinkClr val="tx"/>
                    </a:ext>
                  </a:extLst>
                </a:hlinkClick>
              </a:rPr>
              <a:t>Freepik</a:t>
            </a:r>
            <a:r>
              <a:rPr b="1" lang="en" sz="800" u="sng">
                <a:solidFill>
                  <a:srgbClr val="134E2D"/>
                </a:solidFill>
                <a:latin typeface="Arial"/>
                <a:ea typeface="Commissioner"/>
                <a:cs typeface="Commissioner"/>
                <a:sym typeface="Commissioner"/>
              </a:rPr>
              <a:t> </a:t>
            </a:r>
            <a:endParaRPr b="1" sz="1000" u="sng">
              <a:solidFill>
                <a:schemeClr val="lt1"/>
              </a:solidFill>
              <a:latin typeface="Commissioner"/>
              <a:ea typeface="Commissioner"/>
              <a:cs typeface="Commissioner"/>
              <a:sym typeface="Commissioner"/>
            </a:endParaRPr>
          </a:p>
        </p:txBody>
      </p:sp>
      <p:grpSp>
        <p:nvGrpSpPr>
          <p:cNvPr id="272" name="Google Shape;272;p27"/>
          <p:cNvGrpSpPr/>
          <p:nvPr/>
        </p:nvGrpSpPr>
        <p:grpSpPr>
          <a:xfrm>
            <a:off x="-158360" y="-851467"/>
            <a:ext cx="9561047" cy="6679709"/>
            <a:chOff x="-158360" y="-851467"/>
            <a:chExt cx="9561047" cy="6679709"/>
          </a:xfrm>
        </p:grpSpPr>
        <p:grpSp>
          <p:nvGrpSpPr>
            <p:cNvPr id="273" name="Google Shape;273;p27"/>
            <p:cNvGrpSpPr/>
            <p:nvPr/>
          </p:nvGrpSpPr>
          <p:grpSpPr>
            <a:xfrm>
              <a:off x="-158360" y="4030992"/>
              <a:ext cx="4232325" cy="1797250"/>
              <a:chOff x="-158360" y="4030992"/>
              <a:chExt cx="4232325" cy="1797250"/>
            </a:xfrm>
          </p:grpSpPr>
          <p:pic>
            <p:nvPicPr>
              <p:cNvPr id="274" name="Google Shape;274;p27"/>
              <p:cNvPicPr preferRelativeResize="0"/>
              <p:nvPr/>
            </p:nvPicPr>
            <p:blipFill>
              <a:blip r:embed="rId6">
                <a:alphaModFix/>
              </a:blip>
              <a:stretch>
                <a:fillRect/>
              </a:stretch>
            </p:blipFill>
            <p:spPr>
              <a:xfrm flipH="1" rot="10800000">
                <a:off x="-158360" y="4858516"/>
                <a:ext cx="3336551" cy="718900"/>
              </a:xfrm>
              <a:prstGeom prst="rect">
                <a:avLst/>
              </a:prstGeom>
              <a:noFill/>
              <a:ln>
                <a:noFill/>
              </a:ln>
            </p:spPr>
          </p:pic>
          <p:pic>
            <p:nvPicPr>
              <p:cNvPr id="275" name="Google Shape;275;p27"/>
              <p:cNvPicPr preferRelativeResize="0"/>
              <p:nvPr/>
            </p:nvPicPr>
            <p:blipFill>
              <a:blip r:embed="rId7">
                <a:alphaModFix/>
              </a:blip>
              <a:stretch>
                <a:fillRect/>
              </a:stretch>
            </p:blipFill>
            <p:spPr>
              <a:xfrm flipH="1" rot="10800000">
                <a:off x="-158360" y="5022016"/>
                <a:ext cx="4232325" cy="535340"/>
              </a:xfrm>
              <a:prstGeom prst="rect">
                <a:avLst/>
              </a:prstGeom>
              <a:noFill/>
              <a:ln>
                <a:noFill/>
              </a:ln>
              <a:effectLst>
                <a:outerShdw blurRad="128588" rotWithShape="0" algn="bl" dir="11040000" dist="57150">
                  <a:schemeClr val="lt1">
                    <a:alpha val="25000"/>
                  </a:schemeClr>
                </a:outerShdw>
              </a:effectLst>
            </p:spPr>
          </p:pic>
        </p:grpSp>
        <p:grpSp>
          <p:nvGrpSpPr>
            <p:cNvPr id="276" name="Google Shape;276;p27"/>
            <p:cNvGrpSpPr/>
            <p:nvPr/>
          </p:nvGrpSpPr>
          <p:grpSpPr>
            <a:xfrm>
              <a:off x="4883436" y="-851467"/>
              <a:ext cx="4519251" cy="1875502"/>
              <a:chOff x="4883436" y="-851467"/>
              <a:chExt cx="4519251" cy="1875502"/>
            </a:xfrm>
          </p:grpSpPr>
          <p:pic>
            <p:nvPicPr>
              <p:cNvPr id="277" name="Google Shape;277;p27"/>
              <p:cNvPicPr preferRelativeResize="0"/>
              <p:nvPr/>
            </p:nvPicPr>
            <p:blipFill>
              <a:blip r:embed="rId6">
                <a:alphaModFix/>
              </a:blip>
              <a:stretch>
                <a:fillRect/>
              </a:stretch>
            </p:blipFill>
            <p:spPr>
              <a:xfrm flipH="1">
                <a:off x="6066136" y="-231964"/>
                <a:ext cx="3336551" cy="539175"/>
              </a:xfrm>
              <a:prstGeom prst="rect">
                <a:avLst/>
              </a:prstGeom>
              <a:noFill/>
              <a:ln>
                <a:noFill/>
              </a:ln>
            </p:spPr>
          </p:pic>
          <p:pic>
            <p:nvPicPr>
              <p:cNvPr id="278" name="Google Shape;278;p27"/>
              <p:cNvPicPr preferRelativeResize="0"/>
              <p:nvPr/>
            </p:nvPicPr>
            <p:blipFill>
              <a:blip r:embed="rId7">
                <a:alphaModFix/>
              </a:blip>
              <a:stretch>
                <a:fillRect/>
              </a:stretch>
            </p:blipFill>
            <p:spPr>
              <a:xfrm flipH="1">
                <a:off x="4883436" y="-255440"/>
                <a:ext cx="4519251" cy="428722"/>
              </a:xfrm>
              <a:prstGeom prst="rect">
                <a:avLst/>
              </a:prstGeom>
              <a:noFill/>
              <a:ln>
                <a:noFill/>
              </a:ln>
              <a:effectLst>
                <a:outerShdw blurRad="142875" rotWithShape="0" algn="bl" dir="11100000" dist="76200">
                  <a:schemeClr val="lt1">
                    <a:alpha val="25000"/>
                  </a:schemeClr>
                </a:outerShdw>
              </a:effectLst>
            </p:spPr>
          </p:pic>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79" name="Shape 279"/>
        <p:cNvGrpSpPr/>
        <p:nvPr/>
      </p:nvGrpSpPr>
      <p:grpSpPr>
        <a:xfrm>
          <a:off x="0" y="0"/>
          <a:ext cx="0" cy="0"/>
          <a:chOff x="0" y="0"/>
          <a:chExt cx="0" cy="0"/>
        </a:xfrm>
      </p:grpSpPr>
      <p:pic>
        <p:nvPicPr>
          <p:cNvPr id="280" name="Google Shape;280;p28"/>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281" name="Google Shape;281;p28"/>
          <p:cNvGrpSpPr/>
          <p:nvPr/>
        </p:nvGrpSpPr>
        <p:grpSpPr>
          <a:xfrm>
            <a:off x="-158360" y="-851467"/>
            <a:ext cx="9561047" cy="6679709"/>
            <a:chOff x="-158360" y="-851467"/>
            <a:chExt cx="9561047" cy="6679709"/>
          </a:xfrm>
        </p:grpSpPr>
        <p:grpSp>
          <p:nvGrpSpPr>
            <p:cNvPr id="282" name="Google Shape;282;p28"/>
            <p:cNvGrpSpPr/>
            <p:nvPr/>
          </p:nvGrpSpPr>
          <p:grpSpPr>
            <a:xfrm>
              <a:off x="-158360" y="4030992"/>
              <a:ext cx="4232325" cy="1797250"/>
              <a:chOff x="-158360" y="4030992"/>
              <a:chExt cx="4232325" cy="1797250"/>
            </a:xfrm>
          </p:grpSpPr>
          <p:pic>
            <p:nvPicPr>
              <p:cNvPr id="283" name="Google Shape;283;p28"/>
              <p:cNvPicPr preferRelativeResize="0"/>
              <p:nvPr/>
            </p:nvPicPr>
            <p:blipFill>
              <a:blip r:embed="rId3">
                <a:alphaModFix/>
              </a:blip>
              <a:stretch>
                <a:fillRect/>
              </a:stretch>
            </p:blipFill>
            <p:spPr>
              <a:xfrm flipH="1" rot="10800000">
                <a:off x="-158360" y="4030992"/>
                <a:ext cx="3336551" cy="1797250"/>
              </a:xfrm>
              <a:prstGeom prst="rect">
                <a:avLst/>
              </a:prstGeom>
              <a:noFill/>
              <a:ln>
                <a:noFill/>
              </a:ln>
            </p:spPr>
          </p:pic>
          <p:pic>
            <p:nvPicPr>
              <p:cNvPr id="284" name="Google Shape;284;p28"/>
              <p:cNvPicPr preferRelativeResize="0"/>
              <p:nvPr/>
            </p:nvPicPr>
            <p:blipFill>
              <a:blip r:embed="rId4">
                <a:alphaModFix/>
              </a:blip>
              <a:stretch>
                <a:fillRect/>
              </a:stretch>
            </p:blipFill>
            <p:spPr>
              <a:xfrm flipH="1" rot="10800000">
                <a:off x="-158360" y="4439742"/>
                <a:ext cx="4232325" cy="1338350"/>
              </a:xfrm>
              <a:prstGeom prst="rect">
                <a:avLst/>
              </a:prstGeom>
              <a:noFill/>
              <a:ln>
                <a:noFill/>
              </a:ln>
              <a:effectLst>
                <a:outerShdw blurRad="128588" rotWithShape="0" algn="bl" dir="11220000" dist="57150">
                  <a:schemeClr val="lt1">
                    <a:alpha val="25000"/>
                  </a:schemeClr>
                </a:outerShdw>
              </a:effectLst>
            </p:spPr>
          </p:pic>
        </p:grpSp>
        <p:grpSp>
          <p:nvGrpSpPr>
            <p:cNvPr id="285" name="Google Shape;285;p28"/>
            <p:cNvGrpSpPr/>
            <p:nvPr/>
          </p:nvGrpSpPr>
          <p:grpSpPr>
            <a:xfrm>
              <a:off x="4883436" y="-851467"/>
              <a:ext cx="4519251" cy="1875502"/>
              <a:chOff x="4883436" y="-851467"/>
              <a:chExt cx="4519251" cy="1875502"/>
            </a:xfrm>
          </p:grpSpPr>
          <p:pic>
            <p:nvPicPr>
              <p:cNvPr id="286" name="Google Shape;286;p28"/>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287" name="Google Shape;287;p28"/>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rotWithShape="0" algn="bl" dir="10800000" dist="76200">
                  <a:schemeClr val="lt1">
                    <a:alpha val="25000"/>
                  </a:schemeClr>
                </a:outerShdw>
              </a:effectLst>
            </p:spPr>
          </p:pic>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88" name="Shape 288"/>
        <p:cNvGrpSpPr/>
        <p:nvPr/>
      </p:nvGrpSpPr>
      <p:grpSpPr>
        <a:xfrm>
          <a:off x="0" y="0"/>
          <a:ext cx="0" cy="0"/>
          <a:chOff x="0" y="0"/>
          <a:chExt cx="0" cy="0"/>
        </a:xfrm>
      </p:grpSpPr>
      <p:pic>
        <p:nvPicPr>
          <p:cNvPr id="289" name="Google Shape;289;p29"/>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290" name="Google Shape;290;p29"/>
          <p:cNvGrpSpPr/>
          <p:nvPr/>
        </p:nvGrpSpPr>
        <p:grpSpPr>
          <a:xfrm>
            <a:off x="-158360" y="-851467"/>
            <a:ext cx="9561047" cy="6679709"/>
            <a:chOff x="-158360" y="-851467"/>
            <a:chExt cx="9561047" cy="6679709"/>
          </a:xfrm>
        </p:grpSpPr>
        <p:grpSp>
          <p:nvGrpSpPr>
            <p:cNvPr id="291" name="Google Shape;291;p29"/>
            <p:cNvGrpSpPr/>
            <p:nvPr/>
          </p:nvGrpSpPr>
          <p:grpSpPr>
            <a:xfrm>
              <a:off x="5170363" y="4030992"/>
              <a:ext cx="4232325" cy="1797250"/>
              <a:chOff x="5170363" y="4030992"/>
              <a:chExt cx="4232325" cy="1797250"/>
            </a:xfrm>
          </p:grpSpPr>
          <p:pic>
            <p:nvPicPr>
              <p:cNvPr id="292" name="Google Shape;292;p29"/>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293" name="Google Shape;293;p29"/>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rotWithShape="0" algn="bl" dir="9900000" dist="57150">
                  <a:schemeClr val="lt1">
                    <a:alpha val="25000"/>
                  </a:schemeClr>
                </a:outerShdw>
              </a:effectLst>
            </p:spPr>
          </p:pic>
        </p:grpSp>
        <p:grpSp>
          <p:nvGrpSpPr>
            <p:cNvPr id="294" name="Google Shape;294;p29"/>
            <p:cNvGrpSpPr/>
            <p:nvPr/>
          </p:nvGrpSpPr>
          <p:grpSpPr>
            <a:xfrm>
              <a:off x="-158360" y="-851467"/>
              <a:ext cx="4519251" cy="1875502"/>
              <a:chOff x="-158360" y="-851467"/>
              <a:chExt cx="4519251" cy="1875502"/>
            </a:xfrm>
          </p:grpSpPr>
          <p:pic>
            <p:nvPicPr>
              <p:cNvPr id="295" name="Google Shape;295;p29"/>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296" name="Google Shape;296;p29"/>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rotWithShape="0" algn="bl" dir="10020000" dist="76200">
                  <a:schemeClr val="lt1">
                    <a:alpha val="25000"/>
                  </a:schemeClr>
                </a:outerShdw>
              </a:effectLst>
            </p:spPr>
          </p:pic>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0" name="Shape 30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301" name="Shape 301"/>
        <p:cNvGrpSpPr/>
        <p:nvPr/>
      </p:nvGrpSpPr>
      <p:grpSpPr>
        <a:xfrm>
          <a:off x="0" y="0"/>
          <a:ext cx="0" cy="0"/>
          <a:chOff x="0" y="0"/>
          <a:chExt cx="0" cy="0"/>
        </a:xfrm>
      </p:grpSpPr>
      <p:sp>
        <p:nvSpPr>
          <p:cNvPr id="302" name="Google Shape;302;p32"/>
          <p:cNvSpPr txBox="1"/>
          <p:nvPr>
            <p:ph type="title"/>
          </p:nvPr>
        </p:nvSpPr>
        <p:spPr>
          <a:xfrm>
            <a:off x="716700" y="511025"/>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1pPr>
            <a:lvl2pPr lvl="1"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2pPr>
            <a:lvl3pPr lvl="2"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3pPr>
            <a:lvl4pPr lvl="3"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4pPr>
            <a:lvl5pPr lvl="4"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5pPr>
            <a:lvl6pPr lvl="5"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6pPr>
            <a:lvl7pPr lvl="6"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7pPr>
            <a:lvl8pPr lvl="7"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8pPr>
            <a:lvl9pPr lvl="8" rtl="0" algn="ctr">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1pPr>
            <a:lvl2pPr indent="-317500" lvl="1" marL="9144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2pPr>
            <a:lvl3pPr indent="-317500" lvl="2" marL="13716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3pPr>
            <a:lvl4pPr indent="-317500" lvl="3" marL="18288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4pPr>
            <a:lvl5pPr indent="-317500" lvl="4" marL="22860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5pPr>
            <a:lvl6pPr indent="-317500" lvl="5" marL="27432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6pPr>
            <a:lvl7pPr indent="-317500" lvl="6" marL="32004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7pPr>
            <a:lvl8pPr indent="-317500" lvl="7" marL="36576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8pPr>
            <a:lvl9pPr indent="-317500" lvl="8" marL="41148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97" name="Shape 297"/>
        <p:cNvGrpSpPr/>
        <p:nvPr/>
      </p:nvGrpSpPr>
      <p:grpSpPr>
        <a:xfrm>
          <a:off x="0" y="0"/>
          <a:ext cx="0" cy="0"/>
          <a:chOff x="0" y="0"/>
          <a:chExt cx="0" cy="0"/>
        </a:xfrm>
      </p:grpSpPr>
      <p:sp>
        <p:nvSpPr>
          <p:cNvPr id="298" name="Google Shape;298;p30"/>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299" name="Google Shape;299;p30"/>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chart" Target="../charts/char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chart" Target="../charts/char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chart" Target="../charts/chart3.xml"/><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grpSp>
        <p:nvGrpSpPr>
          <p:cNvPr id="309" name="Google Shape;309;p33"/>
          <p:cNvGrpSpPr/>
          <p:nvPr/>
        </p:nvGrpSpPr>
        <p:grpSpPr>
          <a:xfrm>
            <a:off x="-62675" y="0"/>
            <a:ext cx="4232169" cy="2069725"/>
            <a:chOff x="-62675" y="0"/>
            <a:chExt cx="4232169" cy="2069725"/>
          </a:xfrm>
        </p:grpSpPr>
        <p:pic>
          <p:nvPicPr>
            <p:cNvPr id="310" name="Google Shape;310;p33"/>
            <p:cNvPicPr preferRelativeResize="0"/>
            <p:nvPr/>
          </p:nvPicPr>
          <p:blipFill>
            <a:blip r:embed="rId3">
              <a:alphaModFix/>
            </a:blip>
            <a:stretch>
              <a:fillRect/>
            </a:stretch>
          </p:blipFill>
          <p:spPr>
            <a:xfrm>
              <a:off x="-62675" y="175800"/>
              <a:ext cx="3516025" cy="1893925"/>
            </a:xfrm>
            <a:prstGeom prst="rect">
              <a:avLst/>
            </a:prstGeom>
            <a:noFill/>
            <a:ln>
              <a:noFill/>
            </a:ln>
          </p:spPr>
        </p:pic>
        <p:pic>
          <p:nvPicPr>
            <p:cNvPr id="311" name="Google Shape;311;p33"/>
            <p:cNvPicPr preferRelativeResize="0"/>
            <p:nvPr/>
          </p:nvPicPr>
          <p:blipFill>
            <a:blip r:embed="rId4">
              <a:alphaModFix/>
            </a:blip>
            <a:stretch>
              <a:fillRect/>
            </a:stretch>
          </p:blipFill>
          <p:spPr>
            <a:xfrm>
              <a:off x="-62675" y="0"/>
              <a:ext cx="4232169" cy="1338300"/>
            </a:xfrm>
            <a:prstGeom prst="rect">
              <a:avLst/>
            </a:prstGeom>
            <a:noFill/>
            <a:ln>
              <a:noFill/>
            </a:ln>
            <a:effectLst>
              <a:outerShdw blurRad="128588" rotWithShape="0" algn="bl" dir="6360000" dist="57150">
                <a:schemeClr val="lt1">
                  <a:alpha val="24000"/>
                </a:schemeClr>
              </a:outerShdw>
            </a:effectLst>
          </p:spPr>
        </p:pic>
      </p:grpSp>
      <p:grpSp>
        <p:nvGrpSpPr>
          <p:cNvPr id="312" name="Google Shape;312;p33"/>
          <p:cNvGrpSpPr/>
          <p:nvPr/>
        </p:nvGrpSpPr>
        <p:grpSpPr>
          <a:xfrm>
            <a:off x="6492240" y="4599432"/>
            <a:ext cx="2651760" cy="1188720"/>
            <a:chOff x="5200624" y="3037225"/>
            <a:chExt cx="4006026" cy="2106275"/>
          </a:xfrm>
        </p:grpSpPr>
        <p:pic>
          <p:nvPicPr>
            <p:cNvPr id="313" name="Google Shape;313;p33"/>
            <p:cNvPicPr preferRelativeResize="0"/>
            <p:nvPr/>
          </p:nvPicPr>
          <p:blipFill>
            <a:blip r:embed="rId3">
              <a:alphaModFix/>
            </a:blip>
            <a:stretch>
              <a:fillRect/>
            </a:stretch>
          </p:blipFill>
          <p:spPr>
            <a:xfrm rot="10800000">
              <a:off x="6348109" y="3037225"/>
              <a:ext cx="2858541" cy="1539763"/>
            </a:xfrm>
            <a:prstGeom prst="rect">
              <a:avLst/>
            </a:prstGeom>
            <a:noFill/>
            <a:ln>
              <a:noFill/>
            </a:ln>
          </p:spPr>
        </p:pic>
        <p:pic>
          <p:nvPicPr>
            <p:cNvPr id="314" name="Google Shape;314;p33"/>
            <p:cNvPicPr preferRelativeResize="0"/>
            <p:nvPr/>
          </p:nvPicPr>
          <p:blipFill>
            <a:blip r:embed="rId4">
              <a:alphaModFix/>
            </a:blip>
            <a:stretch>
              <a:fillRect/>
            </a:stretch>
          </p:blipFill>
          <p:spPr>
            <a:xfrm rot="10800000">
              <a:off x="5200624" y="3876716"/>
              <a:ext cx="4006026" cy="1266784"/>
            </a:xfrm>
            <a:prstGeom prst="rect">
              <a:avLst/>
            </a:prstGeom>
            <a:noFill/>
            <a:ln>
              <a:noFill/>
            </a:ln>
            <a:effectLst>
              <a:outerShdw blurRad="142875" rotWithShape="0" algn="bl" dir="18660000" dist="95250">
                <a:schemeClr val="lt1">
                  <a:alpha val="15000"/>
                </a:schemeClr>
              </a:outerShdw>
            </a:effectLst>
          </p:spPr>
        </p:pic>
      </p:grpSp>
      <p:sp>
        <p:nvSpPr>
          <p:cNvPr id="315" name="Text: MASTER’S THESIS DEFENSE"/>
          <p:cNvSpPr txBox="1"/>
          <p:nvPr/>
        </p:nvSpPr>
        <p:spPr>
          <a:xfrm>
            <a:off x="1280160" y="1042415"/>
            <a:ext cx="6583680" cy="228600"/>
          </a:xfrm>
          <a:prstGeom prst="rect">
            <a:avLst/>
          </a:prstGeom>
          <a:noFill/>
        </p:spPr>
        <p:txBody>
          <a:bodyPr wrap="square" lIns="0" rIns="0" tIns="0" bIns="0" anchor="t">
            <a:spAutoFit/>
          </a:bodyPr>
          <a:lstStyle/>
          <a:p>
            <a:pPr algn="ctr">
              <a:lnSpc>
                <a:spcPct val="107000"/>
              </a:lnSpc>
              <a:spcBef>
                <a:spcPts val="0"/>
              </a:spcBef>
              <a:spcAft>
                <a:spcPts val="300"/>
              </a:spcAft>
              <a:buNone/>
            </a:pPr>
            <a:r>
              <a:rPr sz="1100" b="1">
                <a:solidFill>
                  <a:srgbClr val="134E2D"/>
                </a:solidFill>
                <a:latin typeface="Arial"/>
              </a:rPr>
              <a:t>MASTER’S THESIS DEFENSE</a:t>
            </a:r>
          </a:p>
        </p:txBody>
      </p:sp>
      <p:sp>
        <p:nvSpPr>
          <p:cNvPr id="316" name="Text: GPU-Initiated Communication&#10;and Application Scalability"/>
          <p:cNvSpPr txBox="1"/>
          <p:nvPr/>
        </p:nvSpPr>
        <p:spPr>
          <a:xfrm>
            <a:off x="1005840" y="1572768"/>
            <a:ext cx="7132320" cy="1097280"/>
          </a:xfrm>
          <a:prstGeom prst="rect">
            <a:avLst/>
          </a:prstGeom>
          <a:noFill/>
        </p:spPr>
        <p:txBody>
          <a:bodyPr wrap="square" lIns="0" rIns="0" tIns="0" bIns="0" anchor="t">
            <a:spAutoFit/>
          </a:bodyPr>
          <a:lstStyle/>
          <a:p>
            <a:pPr algn="ctr">
              <a:lnSpc>
                <a:spcPct val="107000"/>
              </a:lnSpc>
              <a:spcBef>
                <a:spcPts val="0"/>
              </a:spcBef>
              <a:spcAft>
                <a:spcPts val="300"/>
              </a:spcAft>
              <a:buNone/>
            </a:pPr>
            <a:r>
              <a:rPr sz="3300" b="1">
                <a:solidFill>
                  <a:srgbClr val="134E2D"/>
                </a:solidFill>
                <a:latin typeface="Cambria"/>
              </a:rPr>
              <a:t>GPU-Initiated Communication</a:t>
            </a:r>
          </a:p>
          <a:p>
            <a:pPr algn="ctr">
              <a:lnSpc>
                <a:spcPct val="107000"/>
              </a:lnSpc>
              <a:spcBef>
                <a:spcPts val="0"/>
              </a:spcBef>
              <a:spcAft>
                <a:spcPts val="300"/>
              </a:spcAft>
              <a:buNone/>
            </a:pPr>
            <a:r>
              <a:rPr sz="3300" b="1">
                <a:solidFill>
                  <a:srgbClr val="134E2D"/>
                </a:solidFill>
                <a:latin typeface="Cambria"/>
              </a:rPr>
              <a:t>and Application Scalability</a:t>
            </a:r>
          </a:p>
        </p:txBody>
      </p:sp>
      <p:sp>
        <p:nvSpPr>
          <p:cNvPr id="317" name="Text: From microbenchmarks to a conjugate gradient application"/>
          <p:cNvSpPr txBox="1"/>
          <p:nvPr/>
        </p:nvSpPr>
        <p:spPr>
          <a:xfrm>
            <a:off x="1234440" y="2798064"/>
            <a:ext cx="6675120" cy="493776"/>
          </a:xfrm>
          <a:prstGeom prst="rect">
            <a:avLst/>
          </a:prstGeom>
          <a:noFill/>
        </p:spPr>
        <p:txBody>
          <a:bodyPr wrap="square" lIns="0" rIns="0" tIns="0" bIns="0" anchor="t">
            <a:spAutoFit/>
          </a:bodyPr>
          <a:lstStyle/>
          <a:p>
            <a:pPr algn="ctr">
              <a:lnSpc>
                <a:spcPct val="107000"/>
              </a:lnSpc>
              <a:spcBef>
                <a:spcPts val="0"/>
              </a:spcBef>
              <a:spcAft>
                <a:spcPts val="300"/>
              </a:spcAft>
              <a:buNone/>
            </a:pPr>
            <a:r>
              <a:rPr sz="1600" b="0">
                <a:solidFill>
                  <a:srgbClr val="2E2E2E"/>
                </a:solidFill>
                <a:latin typeface="Arial"/>
              </a:rPr>
              <a:t>From microbenchmarks to a conjugate gradient application</a:t>
            </a:r>
          </a:p>
        </p:txBody>
      </p:sp>
      <p:sp>
        <p:nvSpPr>
          <p:cNvPr id="318" name="Text: Franco Nicolas Merenda"/>
          <p:cNvSpPr txBox="1"/>
          <p:nvPr/>
        </p:nvSpPr>
        <p:spPr>
          <a:xfrm>
            <a:off x="2103120" y="3447288"/>
            <a:ext cx="4937760" cy="320040"/>
          </a:xfrm>
          <a:prstGeom prst="rect">
            <a:avLst/>
          </a:prstGeom>
          <a:noFill/>
        </p:spPr>
        <p:txBody>
          <a:bodyPr wrap="square" lIns="0" rIns="0" tIns="0" bIns="0" anchor="t">
            <a:spAutoFit/>
          </a:bodyPr>
          <a:lstStyle/>
          <a:p>
            <a:pPr algn="ctr">
              <a:lnSpc>
                <a:spcPct val="107000"/>
              </a:lnSpc>
              <a:spcBef>
                <a:spcPts val="0"/>
              </a:spcBef>
              <a:spcAft>
                <a:spcPts val="300"/>
              </a:spcAft>
              <a:buNone/>
            </a:pPr>
            <a:r>
              <a:rPr sz="1800" b="1">
                <a:solidFill>
                  <a:srgbClr val="134E2D"/>
                </a:solidFill>
                <a:latin typeface="Arial"/>
              </a:rPr>
              <a:t>Franco Nicolas Merenda</a:t>
            </a:r>
          </a:p>
        </p:txBody>
      </p:sp>
      <p:sp>
        <p:nvSpPr>
          <p:cNvPr id="319" name="Text: Università degli Studi di Salerno · Computer Science&#10;Supervisor: "/>
          <p:cNvSpPr txBox="1"/>
          <p:nvPr/>
        </p:nvSpPr>
        <p:spPr>
          <a:xfrm>
            <a:off x="1188720" y="3931920"/>
            <a:ext cx="6766560" cy="685800"/>
          </a:xfrm>
          <a:prstGeom prst="rect">
            <a:avLst/>
          </a:prstGeom>
          <a:noFill/>
        </p:spPr>
        <p:txBody>
          <a:bodyPr wrap="square" lIns="0" rIns="0" tIns="0" bIns="0" anchor="t">
            <a:spAutoFit/>
          </a:bodyPr>
          <a:lstStyle/>
          <a:p>
            <a:pPr algn="ctr">
              <a:lnSpc>
                <a:spcPct val="107000"/>
              </a:lnSpc>
              <a:spcBef>
                <a:spcPts val="0"/>
              </a:spcBef>
              <a:spcAft>
                <a:spcPts val="300"/>
              </a:spcAft>
              <a:buNone/>
            </a:pPr>
            <a:r>
              <a:rPr sz="1100" b="0">
                <a:solidFill>
                  <a:srgbClr val="2E2E2E"/>
                </a:solidFill>
                <a:latin typeface="Arial"/>
              </a:rPr>
              <a:t>Università degli Studi di Salerno · Computer Science</a:t>
            </a:r>
          </a:p>
          <a:p>
            <a:pPr algn="ctr">
              <a:lnSpc>
                <a:spcPct val="107000"/>
              </a:lnSpc>
              <a:spcBef>
                <a:spcPts val="0"/>
              </a:spcBef>
              <a:spcAft>
                <a:spcPts val="300"/>
              </a:spcAft>
              <a:buNone/>
            </a:pPr>
            <a:r>
              <a:rPr sz="1100" b="0">
                <a:solidFill>
                  <a:srgbClr val="2E2E2E"/>
                </a:solidFill>
                <a:latin typeface="Arial"/>
              </a:rPr>
              <a:t>Supervisor: Prof. Biagio Cosenza · Co-supervisor: Lorenzo Carpentieri</a:t>
            </a:r>
          </a:p>
          <a:p>
            <a:pPr algn="ctr">
              <a:lnSpc>
                <a:spcPct val="107000"/>
              </a:lnSpc>
              <a:spcBef>
                <a:spcPts val="0"/>
              </a:spcBef>
              <a:spcAft>
                <a:spcPts val="300"/>
              </a:spcAft>
              <a:buNone/>
            </a:pPr>
            <a:r>
              <a:rPr sz="1100" b="0">
                <a:solidFill>
                  <a:srgbClr val="2E2E2E"/>
                </a:solidFill>
                <a:latin typeface="Arial"/>
              </a:rPr>
              <a:t>Academic year 2025–2026</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Text: BACKUP A1 · EVIDENCE DETAILS"/>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BACKUP A1 · EVIDENCE DETAILS</a:t>
            </a:r>
          </a:p>
        </p:txBody>
      </p:sp>
      <p:sp>
        <p:nvSpPr>
          <p:cNvPr id="365" name="Text: Full solver endpoints &amp; protocol"/>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Full solver endpoints &amp; protocol</a:t>
            </a:r>
          </a:p>
        </p:txBody>
      </p:sp>
      <p:sp>
        <p:nvSpPr>
          <p:cNvPr id="366" name="Text: 8n4g · seconds · best / median residual-valid solver time"/>
          <p:cNvSpPr txBox="1"/>
          <p:nvPr/>
        </p:nvSpPr>
        <p:spPr>
          <a:xfrm>
            <a:off x="603504" y="1316736"/>
            <a:ext cx="7936992" cy="356616"/>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526258"/>
                </a:solidFill>
                <a:latin typeface="Arial"/>
              </a:rPr>
              <a:t>8n4g · seconds · best / median residual-valid solver time</a:t>
            </a:r>
          </a:p>
        </p:txBody>
      </p:sp>
      <p:sp>
        <p:nvSpPr>
          <p:cNvPr id="367" name="Rectangle 366"/>
          <p:cNvSpPr/>
          <p:nvPr/>
        </p:nvSpPr>
        <p:spPr>
          <a:xfrm>
            <a:off x="594360" y="1792224"/>
            <a:ext cx="2880360" cy="347472"/>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 Backend"/>
          <p:cNvSpPr txBox="1"/>
          <p:nvPr/>
        </p:nvSpPr>
        <p:spPr>
          <a:xfrm>
            <a:off x="685800" y="1874519"/>
            <a:ext cx="2734056" cy="23774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FFFFFF"/>
                </a:solidFill>
                <a:latin typeface="Arial"/>
              </a:rPr>
              <a:t>Backend</a:t>
            </a:r>
          </a:p>
        </p:txBody>
      </p:sp>
      <p:sp>
        <p:nvSpPr>
          <p:cNvPr id="369" name="Rectangle 368"/>
          <p:cNvSpPr/>
          <p:nvPr/>
        </p:nvSpPr>
        <p:spPr>
          <a:xfrm>
            <a:off x="3474720" y="1792224"/>
            <a:ext cx="2523744" cy="347472"/>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Text: Bump_2911"/>
          <p:cNvSpPr txBox="1"/>
          <p:nvPr/>
        </p:nvSpPr>
        <p:spPr>
          <a:xfrm>
            <a:off x="3566160" y="1874519"/>
            <a:ext cx="2377439" cy="23774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FFFFFF"/>
                </a:solidFill>
                <a:latin typeface="Arial"/>
              </a:rPr>
              <a:t>Bump_2911</a:t>
            </a:r>
          </a:p>
        </p:txBody>
      </p:sp>
      <p:sp>
        <p:nvSpPr>
          <p:cNvPr id="371" name="Rectangle 370"/>
          <p:cNvSpPr/>
          <p:nvPr/>
        </p:nvSpPr>
        <p:spPr>
          <a:xfrm>
            <a:off x="5998464" y="1792224"/>
            <a:ext cx="2551176" cy="347472"/>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Text: Queen_4147"/>
          <p:cNvSpPr txBox="1"/>
          <p:nvPr/>
        </p:nvSpPr>
        <p:spPr>
          <a:xfrm>
            <a:off x="6089903" y="1874519"/>
            <a:ext cx="2404872" cy="23774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FFFFFF"/>
                </a:solidFill>
                <a:latin typeface="Arial"/>
              </a:rPr>
              <a:t>Queen_4147</a:t>
            </a:r>
          </a:p>
        </p:txBody>
      </p:sp>
      <p:sp>
        <p:nvSpPr>
          <p:cNvPr id="373" name="Rectangle 372"/>
          <p:cNvSpPr/>
          <p:nvPr/>
        </p:nvSpPr>
        <p:spPr>
          <a:xfrm>
            <a:off x="594360" y="2139696"/>
            <a:ext cx="2880360"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Text: MPI"/>
          <p:cNvSpPr txBox="1"/>
          <p:nvPr/>
        </p:nvSpPr>
        <p:spPr>
          <a:xfrm>
            <a:off x="685800" y="2217420"/>
            <a:ext cx="2734056"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MPI</a:t>
            </a:r>
          </a:p>
        </p:txBody>
      </p:sp>
      <p:sp>
        <p:nvSpPr>
          <p:cNvPr id="375" name="Rectangle 374"/>
          <p:cNvSpPr/>
          <p:nvPr/>
        </p:nvSpPr>
        <p:spPr>
          <a:xfrm>
            <a:off x="3474720" y="2139696"/>
            <a:ext cx="2523744"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Text: 12.55 / 86.60"/>
          <p:cNvSpPr txBox="1"/>
          <p:nvPr/>
        </p:nvSpPr>
        <p:spPr>
          <a:xfrm>
            <a:off x="3566160" y="2217420"/>
            <a:ext cx="2377439"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12.55 / 86.60</a:t>
            </a:r>
          </a:p>
        </p:txBody>
      </p:sp>
      <p:sp>
        <p:nvSpPr>
          <p:cNvPr id="377" name="Rectangle 376"/>
          <p:cNvSpPr/>
          <p:nvPr/>
        </p:nvSpPr>
        <p:spPr>
          <a:xfrm>
            <a:off x="5998464" y="2139696"/>
            <a:ext cx="2551176"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Text: 17.21 / 84.76"/>
          <p:cNvSpPr txBox="1"/>
          <p:nvPr/>
        </p:nvSpPr>
        <p:spPr>
          <a:xfrm>
            <a:off x="6089903" y="2217420"/>
            <a:ext cx="2404872"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17.21 / 84.76</a:t>
            </a:r>
          </a:p>
        </p:txBody>
      </p:sp>
      <p:sp>
        <p:nvSpPr>
          <p:cNvPr id="379" name="Rectangle 378"/>
          <p:cNvSpPr/>
          <p:nvPr/>
        </p:nvSpPr>
        <p:spPr>
          <a:xfrm>
            <a:off x="594360" y="2487168"/>
            <a:ext cx="28803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Text: NCCL"/>
          <p:cNvSpPr txBox="1"/>
          <p:nvPr/>
        </p:nvSpPr>
        <p:spPr>
          <a:xfrm>
            <a:off x="685800" y="2564891"/>
            <a:ext cx="2734056"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NCCL</a:t>
            </a:r>
          </a:p>
        </p:txBody>
      </p:sp>
      <p:sp>
        <p:nvSpPr>
          <p:cNvPr id="381" name="Rectangle 380"/>
          <p:cNvSpPr/>
          <p:nvPr/>
        </p:nvSpPr>
        <p:spPr>
          <a:xfrm>
            <a:off x="3474720" y="2487168"/>
            <a:ext cx="2523744"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Text: 6.00 / 6.37"/>
          <p:cNvSpPr txBox="1"/>
          <p:nvPr/>
        </p:nvSpPr>
        <p:spPr>
          <a:xfrm>
            <a:off x="3566160" y="2564891"/>
            <a:ext cx="2377439"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6.00 / 6.37</a:t>
            </a:r>
          </a:p>
        </p:txBody>
      </p:sp>
      <p:sp>
        <p:nvSpPr>
          <p:cNvPr id="383" name="Rectangle 382"/>
          <p:cNvSpPr/>
          <p:nvPr/>
        </p:nvSpPr>
        <p:spPr>
          <a:xfrm>
            <a:off x="5998464" y="2487168"/>
            <a:ext cx="2551176"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Text: 7.25 / 7.51"/>
          <p:cNvSpPr txBox="1"/>
          <p:nvPr/>
        </p:nvSpPr>
        <p:spPr>
          <a:xfrm>
            <a:off x="6089903" y="2564891"/>
            <a:ext cx="2404872"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7.25 / 7.51</a:t>
            </a:r>
          </a:p>
        </p:txBody>
      </p:sp>
      <p:sp>
        <p:nvSpPr>
          <p:cNvPr id="385" name="Rectangle 384"/>
          <p:cNvSpPr/>
          <p:nvPr/>
        </p:nvSpPr>
        <p:spPr>
          <a:xfrm>
            <a:off x="594360" y="2834640"/>
            <a:ext cx="2880360"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Text: Host NVSHMEM"/>
          <p:cNvSpPr txBox="1"/>
          <p:nvPr/>
        </p:nvSpPr>
        <p:spPr>
          <a:xfrm>
            <a:off x="685800" y="2912364"/>
            <a:ext cx="2734056"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Host NVSHMEM</a:t>
            </a:r>
          </a:p>
        </p:txBody>
      </p:sp>
      <p:sp>
        <p:nvSpPr>
          <p:cNvPr id="387" name="Rectangle 386"/>
          <p:cNvSpPr/>
          <p:nvPr/>
        </p:nvSpPr>
        <p:spPr>
          <a:xfrm>
            <a:off x="3474720" y="2834640"/>
            <a:ext cx="2523744"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Text: 13.48 / 13.73"/>
          <p:cNvSpPr txBox="1"/>
          <p:nvPr/>
        </p:nvSpPr>
        <p:spPr>
          <a:xfrm>
            <a:off x="3566160" y="2912364"/>
            <a:ext cx="2377439"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13.48 / 13.73</a:t>
            </a:r>
          </a:p>
        </p:txBody>
      </p:sp>
      <p:sp>
        <p:nvSpPr>
          <p:cNvPr id="389" name="Rectangle 388"/>
          <p:cNvSpPr/>
          <p:nvPr/>
        </p:nvSpPr>
        <p:spPr>
          <a:xfrm>
            <a:off x="5998464" y="2834640"/>
            <a:ext cx="2551176"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Text: 14.68 / 14.88"/>
          <p:cNvSpPr txBox="1"/>
          <p:nvPr/>
        </p:nvSpPr>
        <p:spPr>
          <a:xfrm>
            <a:off x="6089903" y="2912364"/>
            <a:ext cx="2404872"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14.68 / 14.88</a:t>
            </a:r>
          </a:p>
        </p:txBody>
      </p:sp>
      <p:sp>
        <p:nvSpPr>
          <p:cNvPr id="391" name="Rectangle 390"/>
          <p:cNvSpPr/>
          <p:nvPr/>
        </p:nvSpPr>
        <p:spPr>
          <a:xfrm>
            <a:off x="594360" y="3182112"/>
            <a:ext cx="28803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Text: OSHMPI halo + MPI"/>
          <p:cNvSpPr txBox="1"/>
          <p:nvPr/>
        </p:nvSpPr>
        <p:spPr>
          <a:xfrm>
            <a:off x="685800" y="3259836"/>
            <a:ext cx="2734056"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OSHMPI halo + MPI</a:t>
            </a:r>
          </a:p>
        </p:txBody>
      </p:sp>
      <p:sp>
        <p:nvSpPr>
          <p:cNvPr id="393" name="Rectangle 392"/>
          <p:cNvSpPr/>
          <p:nvPr/>
        </p:nvSpPr>
        <p:spPr>
          <a:xfrm>
            <a:off x="3474720" y="3182112"/>
            <a:ext cx="2523744"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Text: 8.00 / 8.33"/>
          <p:cNvSpPr txBox="1"/>
          <p:nvPr/>
        </p:nvSpPr>
        <p:spPr>
          <a:xfrm>
            <a:off x="3566160" y="3259836"/>
            <a:ext cx="2377439"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8.00 / 8.33</a:t>
            </a:r>
          </a:p>
        </p:txBody>
      </p:sp>
      <p:sp>
        <p:nvSpPr>
          <p:cNvPr id="395" name="Rectangle 394"/>
          <p:cNvSpPr/>
          <p:nvPr/>
        </p:nvSpPr>
        <p:spPr>
          <a:xfrm>
            <a:off x="5998464" y="3182112"/>
            <a:ext cx="2551176"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Text: 9.60 / 9.86"/>
          <p:cNvSpPr txBox="1"/>
          <p:nvPr/>
        </p:nvSpPr>
        <p:spPr>
          <a:xfrm>
            <a:off x="6089903" y="3259836"/>
            <a:ext cx="2404872"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9.60 / 9.86</a:t>
            </a:r>
          </a:p>
        </p:txBody>
      </p:sp>
      <p:sp>
        <p:nvSpPr>
          <p:cNvPr id="397" name="Rectangle 396"/>
          <p:cNvSpPr/>
          <p:nvPr/>
        </p:nvSpPr>
        <p:spPr>
          <a:xfrm>
            <a:off x="594360" y="3529584"/>
            <a:ext cx="2880360"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Text: Device NVSHMEM"/>
          <p:cNvSpPr txBox="1"/>
          <p:nvPr/>
        </p:nvSpPr>
        <p:spPr>
          <a:xfrm>
            <a:off x="685800" y="3607308"/>
            <a:ext cx="2734056"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Device NVSHMEM</a:t>
            </a:r>
          </a:p>
        </p:txBody>
      </p:sp>
      <p:sp>
        <p:nvSpPr>
          <p:cNvPr id="399" name="Rectangle 398"/>
          <p:cNvSpPr/>
          <p:nvPr/>
        </p:nvSpPr>
        <p:spPr>
          <a:xfrm>
            <a:off x="3474720" y="3529584"/>
            <a:ext cx="2523744"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Text: 6.32 / 6.41"/>
          <p:cNvSpPr txBox="1"/>
          <p:nvPr/>
        </p:nvSpPr>
        <p:spPr>
          <a:xfrm>
            <a:off x="3566160" y="3607308"/>
            <a:ext cx="2377439"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6.32 / 6.41</a:t>
            </a:r>
          </a:p>
        </p:txBody>
      </p:sp>
      <p:sp>
        <p:nvSpPr>
          <p:cNvPr id="401" name="Rectangle 400"/>
          <p:cNvSpPr/>
          <p:nvPr/>
        </p:nvSpPr>
        <p:spPr>
          <a:xfrm>
            <a:off x="5998464" y="3529584"/>
            <a:ext cx="2551176" cy="347472"/>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Text: 8.79 / 8.91"/>
          <p:cNvSpPr txBox="1"/>
          <p:nvPr/>
        </p:nvSpPr>
        <p:spPr>
          <a:xfrm>
            <a:off x="6089903" y="3607308"/>
            <a:ext cx="2404872"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8.79 / 8.91</a:t>
            </a:r>
          </a:p>
        </p:txBody>
      </p:sp>
      <p:sp>
        <p:nvSpPr>
          <p:cNvPr id="403" name="Text: Solver: 3 allocations × 3 launches planned per configuration; com"/>
          <p:cNvSpPr txBox="1"/>
          <p:nvPr/>
        </p:nvSpPr>
        <p:spPr>
          <a:xfrm>
            <a:off x="713232" y="4059936"/>
            <a:ext cx="7680960" cy="457200"/>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526258"/>
                </a:solidFill>
                <a:latin typeface="Arial"/>
              </a:rPr>
              <a:t>Solver: 3 allocations × 3 launches planned per configuration; completed valid runs retained.</a:t>
            </a:r>
          </a:p>
          <a:p>
            <a:pPr algn="l">
              <a:lnSpc>
                <a:spcPct val="107000"/>
              </a:lnSpc>
              <a:spcBef>
                <a:spcPts val="0"/>
              </a:spcBef>
              <a:spcAft>
                <a:spcPts val="300"/>
              </a:spcAft>
              <a:buNone/>
            </a:pPr>
            <a:r>
              <a:rPr sz="1000" b="0">
                <a:solidFill>
                  <a:srgbClr val="526258"/>
                </a:solidFill>
                <a:latin typeface="Arial"/>
              </a:rPr>
              <a:t>Patterns: median of allocation means; 5 allocations, or 3 for all-to-all and CG step.</a:t>
            </a:r>
          </a:p>
        </p:txBody>
      </p:sp>
      <p:sp>
        <p:nvSpPr>
          <p:cNvPr id="404" name="Text: Sources: acg-summary.csv; thesis methodology. Best curves are rep"/>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Sources: acg-summary.csv; thesis methodology. Best curves are representative minima, not typical-performance estimates.</a:t>
            </a:r>
          </a:p>
        </p:txBody>
      </p:sp>
      <p:sp>
        <p:nvSpPr>
          <p:cNvPr id="405" name="Text: A1"/>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A1</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Text: BACKUP A2 · PORTABILITY"/>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BACKUP A2 · PORTABILITY</a:t>
            </a:r>
          </a:p>
        </p:txBody>
      </p:sp>
      <p:sp>
        <p:nvSpPr>
          <p:cNvPr id="397" name="Text: SYCL can retain native performance"/>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SYCL can retain native performance</a:t>
            </a:r>
          </a:p>
        </p:txBody>
      </p:sp>
      <p:sp>
        <p:nvSpPr>
          <p:cNvPr id="398" name="Text: 0.87–1.02×"/>
          <p:cNvSpPr txBox="1"/>
          <p:nvPr/>
        </p:nvSpPr>
        <p:spPr>
          <a:xfrm>
            <a:off x="822960" y="1700784"/>
            <a:ext cx="4572000" cy="914400"/>
          </a:xfrm>
          <a:prstGeom prst="rect">
            <a:avLst/>
          </a:prstGeom>
          <a:noFill/>
        </p:spPr>
        <p:txBody>
          <a:bodyPr wrap="square" lIns="0" rIns="0" tIns="0" bIns="0" anchor="t">
            <a:spAutoFit/>
          </a:bodyPr>
          <a:lstStyle/>
          <a:p>
            <a:pPr algn="l">
              <a:lnSpc>
                <a:spcPct val="107000"/>
              </a:lnSpc>
              <a:spcBef>
                <a:spcPts val="0"/>
              </a:spcBef>
              <a:spcAft>
                <a:spcPts val="300"/>
              </a:spcAft>
              <a:buNone/>
            </a:pPr>
            <a:r>
              <a:rPr sz="4800" b="1">
                <a:solidFill>
                  <a:srgbClr val="134E2D"/>
                </a:solidFill>
                <a:latin typeface="Arial"/>
              </a:rPr>
              <a:t>0.87–1.02×</a:t>
            </a:r>
          </a:p>
        </p:txBody>
      </p:sp>
      <p:sp>
        <p:nvSpPr>
          <p:cNvPr id="399" name="Text: Paired SYCL / native solver-time ratios&#10;Within one node · both ma"/>
          <p:cNvSpPr txBox="1"/>
          <p:nvPr/>
        </p:nvSpPr>
        <p:spPr>
          <a:xfrm>
            <a:off x="877824" y="2743200"/>
            <a:ext cx="4297680" cy="640080"/>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0">
                <a:solidFill>
                  <a:srgbClr val="2E2E2E"/>
                </a:solidFill>
                <a:latin typeface="Arial"/>
              </a:rPr>
              <a:t>Paired SYCL / native solver-time ratios</a:t>
            </a:r>
          </a:p>
          <a:p>
            <a:pPr algn="l">
              <a:lnSpc>
                <a:spcPct val="107000"/>
              </a:lnSpc>
              <a:spcBef>
                <a:spcPts val="0"/>
              </a:spcBef>
              <a:spcAft>
                <a:spcPts val="300"/>
              </a:spcAft>
              <a:buNone/>
            </a:pPr>
            <a:r>
              <a:rPr sz="1700" b="0">
                <a:solidFill>
                  <a:srgbClr val="2E2E2E"/>
                </a:solidFill>
                <a:latin typeface="Arial"/>
              </a:rPr>
              <a:t>Within one node · both matrices</a:t>
            </a:r>
          </a:p>
        </p:txBody>
      </p:sp>
      <p:sp>
        <p:nvSpPr>
          <p:cNvPr id="400" name="Rounded Rectangle 399"/>
          <p:cNvSpPr/>
          <p:nvPr/>
        </p:nvSpPr>
        <p:spPr>
          <a:xfrm>
            <a:off x="5376672" y="1764792"/>
            <a:ext cx="3108960" cy="220370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Text: Keep the execution contract"/>
          <p:cNvSpPr txBox="1"/>
          <p:nvPr/>
        </p:nvSpPr>
        <p:spPr>
          <a:xfrm>
            <a:off x="5513832" y="1911095"/>
            <a:ext cx="2834640"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Keep the execution contract</a:t>
            </a:r>
          </a:p>
        </p:txBody>
      </p:sp>
      <p:sp>
        <p:nvSpPr>
          <p:cNvPr id="402" name="Text: Match layout and synchronization.&#10;Across nodes, host completion c"/>
          <p:cNvSpPr txBox="1"/>
          <p:nvPr/>
        </p:nvSpPr>
        <p:spPr>
          <a:xfrm>
            <a:off x="5532120" y="2615184"/>
            <a:ext cx="2798064" cy="1261872"/>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Match layout and synchronization.</a:t>
            </a:r>
          </a:p>
          <a:p>
            <a:pPr algn="l">
              <a:lnSpc>
                <a:spcPct val="107000"/>
              </a:lnSpc>
              <a:spcBef>
                <a:spcPts val="0"/>
              </a:spcBef>
              <a:spcAft>
                <a:spcPts val="300"/>
              </a:spcAft>
              <a:buNone/>
            </a:pPr>
            <a:r>
              <a:rPr sz="1400" b="0">
                <a:solidFill>
                  <a:srgbClr val="2E2E2E"/>
                </a:solidFill>
                <a:latin typeface="Arial"/>
              </a:rPr>
              <a:t>Across nodes, host completion can dominate.</a:t>
            </a:r>
          </a:p>
        </p:txBody>
      </p:sp>
      <p:sp>
        <p:nvSpPr>
          <p:cNvPr id="403" name="Text: This is performance retention on NVIDIA A100, not cross-vendor pe"/>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This is performance retention on NVIDIA A100, not cross-vendor performance portability.</a:t>
            </a:r>
          </a:p>
        </p:txBody>
      </p:sp>
      <p:sp>
        <p:nvSpPr>
          <p:cNvPr id="404" name="Text: Source: acg-sycl-table.tex; paired-ratio aggregation. Separate al"/>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 acg-sycl-table.tex; paired-ratio aggregation. Separate allocations and versions from the main campaign.</a:t>
            </a:r>
          </a:p>
        </p:txBody>
      </p:sp>
      <p:sp>
        <p:nvSpPr>
          <p:cNvPr id="405" name="Text: A2"/>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A2</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Text: BACKUP A3 · BENCHMARK CORRESPONDENCE"/>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BACKUP A3 · BENCHMARK CORRESPONDENCE</a:t>
            </a:r>
          </a:p>
        </p:txBody>
      </p:sp>
      <p:sp>
        <p:nvSpPr>
          <p:cNvPr id="413" name="Text: Transfer requires matched dependencies"/>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Transfer requires matched dependencies</a:t>
            </a:r>
          </a:p>
        </p:txBody>
      </p:sp>
      <p:sp>
        <p:nvSpPr>
          <p:cNvPr id="414" name="Rounded Rectangle 413"/>
          <p:cNvSpPr/>
          <p:nvPr/>
        </p:nvSpPr>
        <p:spPr>
          <a:xfrm>
            <a:off x="594360" y="1691640"/>
            <a:ext cx="3822191" cy="210312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Text: Matched scalar reductions"/>
          <p:cNvSpPr txBox="1"/>
          <p:nvPr/>
        </p:nvSpPr>
        <p:spPr>
          <a:xfrm>
            <a:off x="731520" y="1837944"/>
            <a:ext cx="3547871"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Matched scalar reductions</a:t>
            </a:r>
          </a:p>
        </p:txBody>
      </p:sp>
      <p:sp>
        <p:nvSpPr>
          <p:cNvPr id="416" name="Text: MPI / NCCL, one FP64 sum&#10;&#10;Mean relative differences:&#10;7.8–11.1% ac"/>
          <p:cNvSpPr txBox="1"/>
          <p:nvPr/>
        </p:nvSpPr>
        <p:spPr>
          <a:xfrm>
            <a:off x="749808" y="2542032"/>
            <a:ext cx="3511296" cy="1161287"/>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MPI / NCCL, one FP64 sum</a:t>
            </a:r>
          </a:p>
          <a:p>
            <a:pPr algn="l">
              <a:lnSpc>
                <a:spcPct val="107000"/>
              </a:lnSpc>
              <a:spcBef>
                <a:spcPts val="0"/>
              </a:spcBef>
              <a:spcAft>
                <a:spcPts val="300"/>
              </a:spcAft>
              <a:buNone/>
            </a:pPr>
            <a:r>
              <a:rPr sz="1400" b="0">
                <a:solidFill>
                  <a:srgbClr val="2E2E2E"/>
                </a:solidFill>
                <a:latin typeface="Arial"/>
              </a:rPr>
              <a:t/>
            </a:r>
          </a:p>
          <a:p>
            <a:pPr algn="l">
              <a:lnSpc>
                <a:spcPct val="107000"/>
              </a:lnSpc>
              <a:spcBef>
                <a:spcPts val="0"/>
              </a:spcBef>
              <a:spcAft>
                <a:spcPts val="300"/>
              </a:spcAft>
              <a:buNone/>
            </a:pPr>
            <a:r>
              <a:rPr sz="1400" b="0">
                <a:solidFill>
                  <a:srgbClr val="2E2E2E"/>
                </a:solidFill>
                <a:latin typeface="Arial"/>
              </a:rPr>
              <a:t>Mean relative differences:</a:t>
            </a:r>
          </a:p>
          <a:p>
            <a:pPr algn="l">
              <a:lnSpc>
                <a:spcPct val="107000"/>
              </a:lnSpc>
              <a:spcBef>
                <a:spcPts val="0"/>
              </a:spcBef>
              <a:spcAft>
                <a:spcPts val="300"/>
              </a:spcAft>
              <a:buNone/>
            </a:pPr>
            <a:r>
              <a:rPr sz="1400" b="0">
                <a:solidFill>
                  <a:srgbClr val="2E2E2E"/>
                </a:solidFill>
                <a:latin typeface="Arial"/>
              </a:rPr>
              <a:t>7.8–11.1% across five topologies</a:t>
            </a:r>
          </a:p>
        </p:txBody>
      </p:sp>
      <p:sp>
        <p:nvSpPr>
          <p:cNvPr id="417" name="Rounded Rectangle 416"/>
          <p:cNvSpPr/>
          <p:nvPr/>
        </p:nvSpPr>
        <p:spPr>
          <a:xfrm>
            <a:off x="4727448" y="1691640"/>
            <a:ext cx="3822191" cy="210312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Text: Device CG-step scaling"/>
          <p:cNvSpPr txBox="1"/>
          <p:nvPr/>
        </p:nvSpPr>
        <p:spPr>
          <a:xfrm>
            <a:off x="4864608" y="1837944"/>
            <a:ext cx="3547871"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Device CG-step scaling</a:t>
            </a:r>
          </a:p>
        </p:txBody>
      </p:sp>
      <p:sp>
        <p:nvSpPr>
          <p:cNvPr id="419" name="Text: Grid side 8192: 8.0% / 12.6%&#10;Grid side 512: 582% / 853%&#10;&#10;Bump / Q"/>
          <p:cNvSpPr txBox="1"/>
          <p:nvPr/>
        </p:nvSpPr>
        <p:spPr>
          <a:xfrm>
            <a:off x="4882896" y="2542032"/>
            <a:ext cx="3511296" cy="1161287"/>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Grid side 8192: 8.0% / 12.6%</a:t>
            </a:r>
          </a:p>
          <a:p>
            <a:pPr algn="l">
              <a:lnSpc>
                <a:spcPct val="107000"/>
              </a:lnSpc>
              <a:spcBef>
                <a:spcPts val="0"/>
              </a:spcBef>
              <a:spcAft>
                <a:spcPts val="300"/>
              </a:spcAft>
              <a:buNone/>
            </a:pPr>
            <a:r>
              <a:rPr sz="1400" b="0">
                <a:solidFill>
                  <a:srgbClr val="2E2E2E"/>
                </a:solidFill>
                <a:latin typeface="Arial"/>
              </a:rPr>
              <a:t>Grid side 512: 582% / 853%</a:t>
            </a:r>
          </a:p>
          <a:p>
            <a:pPr algn="l">
              <a:lnSpc>
                <a:spcPct val="107000"/>
              </a:lnSpc>
              <a:spcBef>
                <a:spcPts val="0"/>
              </a:spcBef>
              <a:spcAft>
                <a:spcPts val="300"/>
              </a:spcAft>
              <a:buNone/>
            </a:pPr>
            <a:r>
              <a:rPr sz="1400" b="0">
                <a:solidFill>
                  <a:srgbClr val="2E2E2E"/>
                </a:solidFill>
                <a:latin typeface="Arial"/>
              </a:rPr>
              <a:t/>
            </a:r>
          </a:p>
          <a:p>
            <a:pPr algn="l">
              <a:lnSpc>
                <a:spcPct val="107000"/>
              </a:lnSpc>
              <a:spcBef>
                <a:spcPts val="0"/>
              </a:spcBef>
              <a:spcAft>
                <a:spcPts val="300"/>
              </a:spcAft>
              <a:buNone/>
            </a:pPr>
            <a:r>
              <a:rPr sz="1400" b="0">
                <a:solidFill>
                  <a:srgbClr val="2E2E2E"/>
                </a:solidFill>
                <a:latin typeface="Arial"/>
              </a:rPr>
              <a:t>Bump / Queen mean deviations</a:t>
            </a:r>
          </a:p>
        </p:txBody>
      </p:sp>
      <p:sp>
        <p:nvSpPr>
          <p:cNvPr id="420" name="Text: Even an unchanged communication sequence can mislead when local w"/>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Even an unchanged communication sequence can mislead when local work per GPU differs.</a:t>
            </a:r>
          </a:p>
        </p:txBody>
      </p:sp>
      <p:sp>
        <p:nvSpPr>
          <p:cNvPr id="421" name="Text: Sources: reduction-error-table.tex; cg-device-correlation-table.t"/>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Sources: reduction-error-table.tex; cg-device-correlation-table.tex. Descriptive checks, not held-out predictions.</a:t>
            </a:r>
          </a:p>
        </p:txBody>
      </p:sp>
      <p:sp>
        <p:nvSpPr>
          <p:cNvPr id="422" name="Text: A3"/>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A3</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Text: MOTIVATION"/>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MOTIVATION</a:t>
            </a:r>
          </a:p>
        </p:txBody>
      </p:sp>
      <p:sp>
        <p:nvSpPr>
          <p:cNvPr id="443" name="Text: Fast GPUs still wait for data"/>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Fast GPUs still wait for data</a:t>
            </a:r>
          </a:p>
        </p:txBody>
      </p:sp>
      <p:sp>
        <p:nvSpPr>
          <p:cNvPr id="444" name="Text: Scientific simulation"/>
          <p:cNvSpPr txBox="1"/>
          <p:nvPr/>
        </p:nvSpPr>
        <p:spPr>
          <a:xfrm>
            <a:off x="758952" y="1508760"/>
            <a:ext cx="3566160" cy="338328"/>
          </a:xfrm>
          <a:prstGeom prst="rect">
            <a:avLst/>
          </a:prstGeom>
          <a:noFill/>
        </p:spPr>
        <p:txBody>
          <a:bodyPr wrap="square" lIns="0" rIns="0" tIns="0" bIns="0" anchor="t">
            <a:spAutoFit/>
          </a:bodyPr>
          <a:lstStyle/>
          <a:p>
            <a:pPr algn="l">
              <a:lnSpc>
                <a:spcPct val="107000"/>
              </a:lnSpc>
              <a:spcBef>
                <a:spcPts val="0"/>
              </a:spcBef>
              <a:spcAft>
                <a:spcPts val="300"/>
              </a:spcAft>
              <a:buNone/>
            </a:pPr>
            <a:r>
              <a:rPr sz="1900" b="1">
                <a:solidFill>
                  <a:srgbClr val="134E2D"/>
                </a:solidFill>
                <a:latin typeface="Arial"/>
              </a:rPr>
              <a:t>Scientific simulation</a:t>
            </a:r>
          </a:p>
        </p:txBody>
      </p:sp>
      <p:sp>
        <p:nvSpPr>
          <p:cNvPr id="445" name="Rounded Rectangle 444"/>
          <p:cNvSpPr/>
          <p:nvPr/>
        </p:nvSpPr>
        <p:spPr>
          <a:xfrm>
            <a:off x="795528" y="2039112"/>
            <a:ext cx="859536" cy="603504"/>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Text: GPU 0"/>
          <p:cNvSpPr txBox="1"/>
          <p:nvPr/>
        </p:nvSpPr>
        <p:spPr>
          <a:xfrm>
            <a:off x="859536" y="2066543"/>
            <a:ext cx="731519" cy="548640"/>
          </a:xfrm>
          <a:prstGeom prst="rect">
            <a:avLst/>
          </a:prstGeom>
          <a:noFill/>
        </p:spPr>
        <p:txBody>
          <a:bodyPr wrap="square" lIns="0" rIns="0" tIns="0" bIns="0" anchor="ctr">
            <a:spAutoFit/>
          </a:bodyPr>
          <a:lstStyle/>
          <a:p>
            <a:pPr algn="ctr">
              <a:lnSpc>
                <a:spcPct val="107000"/>
              </a:lnSpc>
              <a:spcBef>
                <a:spcPts val="0"/>
              </a:spcBef>
              <a:spcAft>
                <a:spcPts val="300"/>
              </a:spcAft>
              <a:buNone/>
            </a:pPr>
            <a:r>
              <a:rPr sz="1600" b="1">
                <a:solidFill>
                  <a:srgbClr val="FFFFFF"/>
                </a:solidFill>
                <a:latin typeface="Arial"/>
              </a:rPr>
              <a:t>GPU 0</a:t>
            </a:r>
          </a:p>
        </p:txBody>
      </p:sp>
      <p:sp>
        <p:nvSpPr>
          <p:cNvPr id="447" name="Rectangle 446"/>
          <p:cNvSpPr/>
          <p:nvPr/>
        </p:nvSpPr>
        <p:spPr>
          <a:xfrm>
            <a:off x="841248" y="27889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Rectangle 447"/>
          <p:cNvSpPr/>
          <p:nvPr/>
        </p:nvSpPr>
        <p:spPr>
          <a:xfrm>
            <a:off x="1097280" y="27889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Rectangle 448"/>
          <p:cNvSpPr/>
          <p:nvPr/>
        </p:nvSpPr>
        <p:spPr>
          <a:xfrm>
            <a:off x="1353312" y="27889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Rectangle 449"/>
          <p:cNvSpPr/>
          <p:nvPr/>
        </p:nvSpPr>
        <p:spPr>
          <a:xfrm>
            <a:off x="841248" y="30175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Rectangle 450"/>
          <p:cNvSpPr/>
          <p:nvPr/>
        </p:nvSpPr>
        <p:spPr>
          <a:xfrm>
            <a:off x="1097280" y="30175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Rectangle 451"/>
          <p:cNvSpPr/>
          <p:nvPr/>
        </p:nvSpPr>
        <p:spPr>
          <a:xfrm>
            <a:off x="1353312" y="30175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Rectangle 452"/>
          <p:cNvSpPr/>
          <p:nvPr/>
        </p:nvSpPr>
        <p:spPr>
          <a:xfrm>
            <a:off x="841248" y="32461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Rectangle 453"/>
          <p:cNvSpPr/>
          <p:nvPr/>
        </p:nvSpPr>
        <p:spPr>
          <a:xfrm>
            <a:off x="1097280" y="32461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Rectangle 454"/>
          <p:cNvSpPr/>
          <p:nvPr/>
        </p:nvSpPr>
        <p:spPr>
          <a:xfrm>
            <a:off x="1353312" y="32461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Right Arrow 455"/>
          <p:cNvSpPr/>
          <p:nvPr/>
        </p:nvSpPr>
        <p:spPr>
          <a:xfrm>
            <a:off x="1682496" y="2240280"/>
            <a:ext cx="210312" cy="164592"/>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Rounded Rectangle 456"/>
          <p:cNvSpPr/>
          <p:nvPr/>
        </p:nvSpPr>
        <p:spPr>
          <a:xfrm>
            <a:off x="1892807" y="2039112"/>
            <a:ext cx="859536" cy="603504"/>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Text: GPU 1"/>
          <p:cNvSpPr txBox="1"/>
          <p:nvPr/>
        </p:nvSpPr>
        <p:spPr>
          <a:xfrm>
            <a:off x="1956815" y="2066543"/>
            <a:ext cx="731519" cy="548640"/>
          </a:xfrm>
          <a:prstGeom prst="rect">
            <a:avLst/>
          </a:prstGeom>
          <a:noFill/>
        </p:spPr>
        <p:txBody>
          <a:bodyPr wrap="square" lIns="0" rIns="0" tIns="0" bIns="0" anchor="ctr">
            <a:spAutoFit/>
          </a:bodyPr>
          <a:lstStyle/>
          <a:p>
            <a:pPr algn="ctr">
              <a:lnSpc>
                <a:spcPct val="107000"/>
              </a:lnSpc>
              <a:spcBef>
                <a:spcPts val="0"/>
              </a:spcBef>
              <a:spcAft>
                <a:spcPts val="300"/>
              </a:spcAft>
              <a:buNone/>
            </a:pPr>
            <a:r>
              <a:rPr sz="1600" b="1">
                <a:solidFill>
                  <a:srgbClr val="FFFFFF"/>
                </a:solidFill>
                <a:latin typeface="Arial"/>
              </a:rPr>
              <a:t>GPU 1</a:t>
            </a:r>
          </a:p>
        </p:txBody>
      </p:sp>
      <p:sp>
        <p:nvSpPr>
          <p:cNvPr id="459" name="Rectangle 458"/>
          <p:cNvSpPr/>
          <p:nvPr/>
        </p:nvSpPr>
        <p:spPr>
          <a:xfrm>
            <a:off x="1938528" y="27889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Rectangle 459"/>
          <p:cNvSpPr/>
          <p:nvPr/>
        </p:nvSpPr>
        <p:spPr>
          <a:xfrm>
            <a:off x="2194560" y="27889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Rectangle 460"/>
          <p:cNvSpPr/>
          <p:nvPr/>
        </p:nvSpPr>
        <p:spPr>
          <a:xfrm>
            <a:off x="2450592" y="27889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Rectangle 461"/>
          <p:cNvSpPr/>
          <p:nvPr/>
        </p:nvSpPr>
        <p:spPr>
          <a:xfrm>
            <a:off x="1938528" y="30175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Rectangle 462"/>
          <p:cNvSpPr/>
          <p:nvPr/>
        </p:nvSpPr>
        <p:spPr>
          <a:xfrm>
            <a:off x="2194560" y="30175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Rectangle 463"/>
          <p:cNvSpPr/>
          <p:nvPr/>
        </p:nvSpPr>
        <p:spPr>
          <a:xfrm>
            <a:off x="2450592" y="30175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Rectangle 464"/>
          <p:cNvSpPr/>
          <p:nvPr/>
        </p:nvSpPr>
        <p:spPr>
          <a:xfrm>
            <a:off x="1938528" y="32461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Rectangle 465"/>
          <p:cNvSpPr/>
          <p:nvPr/>
        </p:nvSpPr>
        <p:spPr>
          <a:xfrm>
            <a:off x="2194560" y="32461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Rectangle 466"/>
          <p:cNvSpPr/>
          <p:nvPr/>
        </p:nvSpPr>
        <p:spPr>
          <a:xfrm>
            <a:off x="2450592" y="32461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Right Arrow 467"/>
          <p:cNvSpPr/>
          <p:nvPr/>
        </p:nvSpPr>
        <p:spPr>
          <a:xfrm>
            <a:off x="2779776" y="2240280"/>
            <a:ext cx="210312" cy="164592"/>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Rounded Rectangle 468"/>
          <p:cNvSpPr/>
          <p:nvPr/>
        </p:nvSpPr>
        <p:spPr>
          <a:xfrm>
            <a:off x="2990088" y="2039112"/>
            <a:ext cx="859536" cy="603504"/>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Text: GPU 2"/>
          <p:cNvSpPr txBox="1"/>
          <p:nvPr/>
        </p:nvSpPr>
        <p:spPr>
          <a:xfrm>
            <a:off x="3054096" y="2066543"/>
            <a:ext cx="731519" cy="548640"/>
          </a:xfrm>
          <a:prstGeom prst="rect">
            <a:avLst/>
          </a:prstGeom>
          <a:noFill/>
        </p:spPr>
        <p:txBody>
          <a:bodyPr wrap="square" lIns="0" rIns="0" tIns="0" bIns="0" anchor="ctr">
            <a:spAutoFit/>
          </a:bodyPr>
          <a:lstStyle/>
          <a:p>
            <a:pPr algn="ctr">
              <a:lnSpc>
                <a:spcPct val="107000"/>
              </a:lnSpc>
              <a:spcBef>
                <a:spcPts val="0"/>
              </a:spcBef>
              <a:spcAft>
                <a:spcPts val="300"/>
              </a:spcAft>
              <a:buNone/>
            </a:pPr>
            <a:r>
              <a:rPr sz="1600" b="1">
                <a:solidFill>
                  <a:srgbClr val="FFFFFF"/>
                </a:solidFill>
                <a:latin typeface="Arial"/>
              </a:rPr>
              <a:t>GPU 2</a:t>
            </a:r>
          </a:p>
        </p:txBody>
      </p:sp>
      <p:sp>
        <p:nvSpPr>
          <p:cNvPr id="471" name="Rectangle 470"/>
          <p:cNvSpPr/>
          <p:nvPr/>
        </p:nvSpPr>
        <p:spPr>
          <a:xfrm>
            <a:off x="3035808" y="27889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Rectangle 471"/>
          <p:cNvSpPr/>
          <p:nvPr/>
        </p:nvSpPr>
        <p:spPr>
          <a:xfrm>
            <a:off x="3291839" y="27889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Rectangle 472"/>
          <p:cNvSpPr/>
          <p:nvPr/>
        </p:nvSpPr>
        <p:spPr>
          <a:xfrm>
            <a:off x="3547872" y="27889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Rectangle 473"/>
          <p:cNvSpPr/>
          <p:nvPr/>
        </p:nvSpPr>
        <p:spPr>
          <a:xfrm>
            <a:off x="3035808" y="30175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Rectangle 474"/>
          <p:cNvSpPr/>
          <p:nvPr/>
        </p:nvSpPr>
        <p:spPr>
          <a:xfrm>
            <a:off x="3291839" y="30175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Rectangle 475"/>
          <p:cNvSpPr/>
          <p:nvPr/>
        </p:nvSpPr>
        <p:spPr>
          <a:xfrm>
            <a:off x="3547872" y="30175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Rectangle 476"/>
          <p:cNvSpPr/>
          <p:nvPr/>
        </p:nvSpPr>
        <p:spPr>
          <a:xfrm>
            <a:off x="3035808" y="32461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Rectangle 477"/>
          <p:cNvSpPr/>
          <p:nvPr/>
        </p:nvSpPr>
        <p:spPr>
          <a:xfrm>
            <a:off x="3291839" y="3246120"/>
            <a:ext cx="219456" cy="1920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Rectangle 478"/>
          <p:cNvSpPr/>
          <p:nvPr/>
        </p:nvSpPr>
        <p:spPr>
          <a:xfrm>
            <a:off x="3547872" y="3246120"/>
            <a:ext cx="219456" cy="192024"/>
          </a:xfrm>
          <a:prstGeom prst="rect">
            <a:avLst/>
          </a:prstGeom>
          <a:solidFill>
            <a:srgbClr val="7EB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Text: Exchange boundary values&#10;Combine small global sums"/>
          <p:cNvSpPr txBox="1"/>
          <p:nvPr/>
        </p:nvSpPr>
        <p:spPr>
          <a:xfrm>
            <a:off x="786384" y="3675887"/>
            <a:ext cx="3429000" cy="548640"/>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0">
                <a:solidFill>
                  <a:srgbClr val="2E2E2E"/>
                </a:solidFill>
                <a:latin typeface="Arial"/>
              </a:rPr>
              <a:t>Exchange boundary values</a:t>
            </a:r>
          </a:p>
          <a:p>
            <a:pPr algn="l">
              <a:lnSpc>
                <a:spcPct val="107000"/>
              </a:lnSpc>
              <a:spcBef>
                <a:spcPts val="0"/>
              </a:spcBef>
              <a:spcAft>
                <a:spcPts val="300"/>
              </a:spcAft>
              <a:buNone/>
            </a:pPr>
            <a:r>
              <a:rPr sz="1500" b="0">
                <a:solidFill>
                  <a:srgbClr val="2E2E2E"/>
                </a:solidFill>
                <a:latin typeface="Arial"/>
              </a:rPr>
              <a:t>Combine small global sums</a:t>
            </a:r>
          </a:p>
        </p:txBody>
      </p:sp>
      <p:sp>
        <p:nvSpPr>
          <p:cNvPr id="481" name="Text: Distributed AI"/>
          <p:cNvSpPr txBox="1"/>
          <p:nvPr/>
        </p:nvSpPr>
        <p:spPr>
          <a:xfrm>
            <a:off x="4773168" y="1508760"/>
            <a:ext cx="3566160" cy="338328"/>
          </a:xfrm>
          <a:prstGeom prst="rect">
            <a:avLst/>
          </a:prstGeom>
          <a:noFill/>
        </p:spPr>
        <p:txBody>
          <a:bodyPr wrap="square" lIns="0" rIns="0" tIns="0" bIns="0" anchor="t">
            <a:spAutoFit/>
          </a:bodyPr>
          <a:lstStyle/>
          <a:p>
            <a:pPr algn="l">
              <a:lnSpc>
                <a:spcPct val="107000"/>
              </a:lnSpc>
              <a:spcBef>
                <a:spcPts val="0"/>
              </a:spcBef>
              <a:spcAft>
                <a:spcPts val="300"/>
              </a:spcAft>
              <a:buNone/>
            </a:pPr>
            <a:r>
              <a:rPr sz="1900" b="1">
                <a:solidFill>
                  <a:srgbClr val="134E2D"/>
                </a:solidFill>
                <a:latin typeface="Arial"/>
              </a:rPr>
              <a:t>Distributed AI</a:t>
            </a:r>
          </a:p>
        </p:txBody>
      </p:sp>
      <p:sp>
        <p:nvSpPr>
          <p:cNvPr id="482" name="Rounded Rectangle 481"/>
          <p:cNvSpPr/>
          <p:nvPr/>
        </p:nvSpPr>
        <p:spPr>
          <a:xfrm>
            <a:off x="4846320" y="2468880"/>
            <a:ext cx="1024128" cy="612648"/>
          </a:xfrm>
          <a:prstGeom prst="roundRect">
            <a:avLst>
              <a:gd name="adj" fmla="val 12000"/>
            </a:avLst>
          </a:prstGeom>
          <a:solidFill>
            <a:srgbClr val="277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Text: Tokens"/>
          <p:cNvSpPr txBox="1"/>
          <p:nvPr/>
        </p:nvSpPr>
        <p:spPr>
          <a:xfrm>
            <a:off x="4910328" y="2496312"/>
            <a:ext cx="896112" cy="557784"/>
          </a:xfrm>
          <a:prstGeom prst="rect">
            <a:avLst/>
          </a:prstGeom>
          <a:noFill/>
        </p:spPr>
        <p:txBody>
          <a:bodyPr wrap="square" lIns="0" rIns="0" tIns="0" bIns="0" anchor="ctr">
            <a:spAutoFit/>
          </a:bodyPr>
          <a:lstStyle/>
          <a:p>
            <a:pPr algn="ctr">
              <a:lnSpc>
                <a:spcPct val="107000"/>
              </a:lnSpc>
              <a:spcBef>
                <a:spcPts val="0"/>
              </a:spcBef>
              <a:spcAft>
                <a:spcPts val="300"/>
              </a:spcAft>
              <a:buNone/>
            </a:pPr>
            <a:r>
              <a:rPr sz="1600" b="1">
                <a:solidFill>
                  <a:srgbClr val="FFFFFF"/>
                </a:solidFill>
                <a:latin typeface="Arial"/>
              </a:rPr>
              <a:t>Tokens</a:t>
            </a:r>
          </a:p>
        </p:txBody>
      </p:sp>
      <p:cxnSp>
        <p:nvCxnSpPr>
          <p:cNvPr id="484" name="Connector 483"/>
          <p:cNvCxnSpPr/>
          <p:nvPr/>
        </p:nvCxnSpPr>
        <p:spPr>
          <a:xfrm flipV="1">
            <a:off x="5870448" y="2157984"/>
            <a:ext cx="283464" cy="617220"/>
          </a:xfrm>
          <a:prstGeom prst="line">
            <a:avLst/>
          </a:prstGeom>
          <a:ln w="17780">
            <a:solidFill>
              <a:srgbClr val="07902A"/>
            </a:solidFill>
          </a:ln>
        </p:spPr>
        <p:style>
          <a:lnRef idx="2">
            <a:schemeClr val="accent1"/>
          </a:lnRef>
          <a:fillRef idx="0">
            <a:schemeClr val="accent1"/>
          </a:fillRef>
          <a:effectRef idx="1">
            <a:schemeClr val="accent1"/>
          </a:effectRef>
          <a:fontRef idx="minor">
            <a:schemeClr val="tx1"/>
          </a:fontRef>
        </p:style>
      </p:cxnSp>
      <p:sp>
        <p:nvSpPr>
          <p:cNvPr id="485" name="Rounded Rectangle 484"/>
          <p:cNvSpPr/>
          <p:nvPr/>
        </p:nvSpPr>
        <p:spPr>
          <a:xfrm>
            <a:off x="6903720" y="1901952"/>
            <a:ext cx="1234440" cy="502920"/>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Text: Expert 1"/>
          <p:cNvSpPr txBox="1"/>
          <p:nvPr/>
        </p:nvSpPr>
        <p:spPr>
          <a:xfrm>
            <a:off x="6967728" y="1929384"/>
            <a:ext cx="1106424" cy="4480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Expert 1</a:t>
            </a:r>
          </a:p>
        </p:txBody>
      </p:sp>
      <p:sp>
        <p:nvSpPr>
          <p:cNvPr id="487" name="Right Arrow 486"/>
          <p:cNvSpPr/>
          <p:nvPr/>
        </p:nvSpPr>
        <p:spPr>
          <a:xfrm>
            <a:off x="6153912" y="2084832"/>
            <a:ext cx="722376" cy="146304"/>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8" name="Connector 487"/>
          <p:cNvCxnSpPr/>
          <p:nvPr/>
        </p:nvCxnSpPr>
        <p:spPr>
          <a:xfrm>
            <a:off x="5870448" y="2775204"/>
            <a:ext cx="283464" cy="86868"/>
          </a:xfrm>
          <a:prstGeom prst="line">
            <a:avLst/>
          </a:prstGeom>
          <a:ln w="17780">
            <a:solidFill>
              <a:srgbClr val="07902A"/>
            </a:solidFill>
          </a:ln>
        </p:spPr>
        <p:style>
          <a:lnRef idx="2">
            <a:schemeClr val="accent1"/>
          </a:lnRef>
          <a:fillRef idx="0">
            <a:schemeClr val="accent1"/>
          </a:fillRef>
          <a:effectRef idx="1">
            <a:schemeClr val="accent1"/>
          </a:effectRef>
          <a:fontRef idx="minor">
            <a:schemeClr val="tx1"/>
          </a:fontRef>
        </p:style>
      </p:cxnSp>
      <p:sp>
        <p:nvSpPr>
          <p:cNvPr id="489" name="Rounded Rectangle 488"/>
          <p:cNvSpPr/>
          <p:nvPr/>
        </p:nvSpPr>
        <p:spPr>
          <a:xfrm>
            <a:off x="6903720" y="2606040"/>
            <a:ext cx="1234440" cy="502920"/>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Text: Expert 2"/>
          <p:cNvSpPr txBox="1"/>
          <p:nvPr/>
        </p:nvSpPr>
        <p:spPr>
          <a:xfrm>
            <a:off x="6967728" y="2633472"/>
            <a:ext cx="1106424" cy="4480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Expert 2</a:t>
            </a:r>
          </a:p>
        </p:txBody>
      </p:sp>
      <p:sp>
        <p:nvSpPr>
          <p:cNvPr id="491" name="Right Arrow 490"/>
          <p:cNvSpPr/>
          <p:nvPr/>
        </p:nvSpPr>
        <p:spPr>
          <a:xfrm>
            <a:off x="6153912" y="2788920"/>
            <a:ext cx="722376" cy="146304"/>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2" name="Connector 491"/>
          <p:cNvCxnSpPr/>
          <p:nvPr/>
        </p:nvCxnSpPr>
        <p:spPr>
          <a:xfrm>
            <a:off x="5870448" y="2775204"/>
            <a:ext cx="283464" cy="790956"/>
          </a:xfrm>
          <a:prstGeom prst="line">
            <a:avLst/>
          </a:prstGeom>
          <a:ln w="17780">
            <a:solidFill>
              <a:srgbClr val="07902A"/>
            </a:solidFill>
          </a:ln>
        </p:spPr>
        <p:style>
          <a:lnRef idx="2">
            <a:schemeClr val="accent1"/>
          </a:lnRef>
          <a:fillRef idx="0">
            <a:schemeClr val="accent1"/>
          </a:fillRef>
          <a:effectRef idx="1">
            <a:schemeClr val="accent1"/>
          </a:effectRef>
          <a:fontRef idx="minor">
            <a:schemeClr val="tx1"/>
          </a:fontRef>
        </p:style>
      </p:cxnSp>
      <p:sp>
        <p:nvSpPr>
          <p:cNvPr id="493" name="Rounded Rectangle 492"/>
          <p:cNvSpPr/>
          <p:nvPr/>
        </p:nvSpPr>
        <p:spPr>
          <a:xfrm>
            <a:off x="6903720" y="3310128"/>
            <a:ext cx="1234440" cy="502920"/>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 Expert 3"/>
          <p:cNvSpPr txBox="1"/>
          <p:nvPr/>
        </p:nvSpPr>
        <p:spPr>
          <a:xfrm>
            <a:off x="6967728" y="3337560"/>
            <a:ext cx="1106424" cy="4480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Expert 3</a:t>
            </a:r>
          </a:p>
        </p:txBody>
      </p:sp>
      <p:sp>
        <p:nvSpPr>
          <p:cNvPr id="495" name="Right Arrow 494"/>
          <p:cNvSpPr/>
          <p:nvPr/>
        </p:nvSpPr>
        <p:spPr>
          <a:xfrm>
            <a:off x="6153912" y="3493008"/>
            <a:ext cx="722376" cy="146304"/>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Text: Route activations across GPUs"/>
          <p:cNvSpPr txBox="1"/>
          <p:nvPr/>
        </p:nvSpPr>
        <p:spPr>
          <a:xfrm>
            <a:off x="4800600" y="3895344"/>
            <a:ext cx="3566160" cy="292608"/>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0">
                <a:solidFill>
                  <a:srgbClr val="2E2E2E"/>
                </a:solidFill>
                <a:latin typeface="Arial"/>
              </a:rPr>
              <a:t>Route activations across GPUs</a:t>
            </a:r>
          </a:p>
        </p:txBody>
      </p:sp>
      <p:sp>
        <p:nvSpPr>
          <p:cNvPr id="497" name="Text: Scalability depends on time spent waiting, not just GPU compute s"/>
          <p:cNvSpPr txBox="1"/>
          <p:nvPr/>
        </p:nvSpPr>
        <p:spPr>
          <a:xfrm>
            <a:off x="594360" y="422910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Scalability depends on time spent waiting, not just GPU compute speed.</a:t>
            </a:r>
          </a:p>
        </p:txBody>
      </p:sp>
      <p:sp>
        <p:nvSpPr>
          <p:cNvPr id="498" name="Text: Thesis Ch. 1; Hamidouche et al. (2025); Shen et al. (2026)"/>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Thesis Ch. 1; Hamidouche et al. (2025); Shen et al. (2026)</a:t>
            </a:r>
          </a:p>
        </p:txBody>
      </p:sp>
      <p:sp>
        <p:nvSpPr>
          <p:cNvPr id="499" name="Text: 02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02 / 14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Text: RESEARCH QUESTIONS"/>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RESEARCH QUESTIONS</a:t>
            </a:r>
          </a:p>
        </p:txBody>
      </p:sp>
      <p:sp>
        <p:nvSpPr>
          <p:cNvPr id="479" name="Text: When does a faster path help?"/>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When does a faster path help?</a:t>
            </a:r>
          </a:p>
        </p:txBody>
      </p:sp>
      <p:sp>
        <p:nvSpPr>
          <p:cNvPr id="480" name="Oval 479"/>
          <p:cNvSpPr/>
          <p:nvPr/>
        </p:nvSpPr>
        <p:spPr>
          <a:xfrm>
            <a:off x="731520" y="1709928"/>
            <a:ext cx="411480" cy="411480"/>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Text: 1"/>
          <p:cNvSpPr txBox="1"/>
          <p:nvPr/>
        </p:nvSpPr>
        <p:spPr>
          <a:xfrm>
            <a:off x="731520" y="1719072"/>
            <a:ext cx="411480" cy="393192"/>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1</a:t>
            </a:r>
          </a:p>
        </p:txBody>
      </p:sp>
      <p:sp>
        <p:nvSpPr>
          <p:cNvPr id="482" name="Text: Benefit"/>
          <p:cNvSpPr txBox="1"/>
          <p:nvPr/>
        </p:nvSpPr>
        <p:spPr>
          <a:xfrm>
            <a:off x="1316736" y="1691640"/>
            <a:ext cx="1508760" cy="320040"/>
          </a:xfrm>
          <a:prstGeom prst="rect">
            <a:avLst/>
          </a:prstGeom>
          <a:noFill/>
        </p:spPr>
        <p:txBody>
          <a:bodyPr wrap="square" lIns="0" rIns="0" tIns="0" bIns="0" anchor="t">
            <a:spAutoFit/>
          </a:bodyPr>
          <a:lstStyle/>
          <a:p>
            <a:pPr algn="l">
              <a:lnSpc>
                <a:spcPct val="107000"/>
              </a:lnSpc>
              <a:spcBef>
                <a:spcPts val="0"/>
              </a:spcBef>
              <a:spcAft>
                <a:spcPts val="300"/>
              </a:spcAft>
              <a:buNone/>
            </a:pPr>
            <a:r>
              <a:rPr sz="1800" b="1">
                <a:solidFill>
                  <a:srgbClr val="134E2D"/>
                </a:solidFill>
                <a:latin typeface="Arial"/>
              </a:rPr>
              <a:t>Benefit</a:t>
            </a:r>
          </a:p>
        </p:txBody>
      </p:sp>
      <p:sp>
        <p:nvSpPr>
          <p:cNvPr id="483" name="Text: When does device initiation repay its costs?"/>
          <p:cNvSpPr txBox="1"/>
          <p:nvPr/>
        </p:nvSpPr>
        <p:spPr>
          <a:xfrm>
            <a:off x="2798064" y="1737360"/>
            <a:ext cx="5532120" cy="374904"/>
          </a:xfrm>
          <a:prstGeom prst="rect">
            <a:avLst/>
          </a:prstGeom>
          <a:noFill/>
        </p:spPr>
        <p:txBody>
          <a:bodyPr wrap="square" lIns="0" rIns="0" tIns="0" bIns="0" anchor="t">
            <a:spAutoFit/>
          </a:bodyPr>
          <a:lstStyle/>
          <a:p>
            <a:pPr algn="l">
              <a:lnSpc>
                <a:spcPct val="107000"/>
              </a:lnSpc>
              <a:spcBef>
                <a:spcPts val="0"/>
              </a:spcBef>
              <a:spcAft>
                <a:spcPts val="300"/>
              </a:spcAft>
              <a:buNone/>
            </a:pPr>
            <a:r>
              <a:rPr sz="1600" b="0">
                <a:solidFill>
                  <a:srgbClr val="2E2E2E"/>
                </a:solidFill>
                <a:latin typeface="Arial"/>
              </a:rPr>
              <a:t>When does device initiation repay its costs?</a:t>
            </a:r>
          </a:p>
        </p:txBody>
      </p:sp>
      <p:sp>
        <p:nvSpPr>
          <p:cNvPr id="484" name="Oval 483"/>
          <p:cNvSpPr/>
          <p:nvPr/>
        </p:nvSpPr>
        <p:spPr>
          <a:xfrm>
            <a:off x="731520" y="2441448"/>
            <a:ext cx="411480" cy="411480"/>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Text: 2"/>
          <p:cNvSpPr txBox="1"/>
          <p:nvPr/>
        </p:nvSpPr>
        <p:spPr>
          <a:xfrm>
            <a:off x="731520" y="2450591"/>
            <a:ext cx="411480" cy="393192"/>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2</a:t>
            </a:r>
          </a:p>
        </p:txBody>
      </p:sp>
      <p:sp>
        <p:nvSpPr>
          <p:cNvPr id="486" name="Text: Integration"/>
          <p:cNvSpPr txBox="1"/>
          <p:nvPr/>
        </p:nvSpPr>
        <p:spPr>
          <a:xfrm>
            <a:off x="1316736" y="2423160"/>
            <a:ext cx="1508760" cy="320040"/>
          </a:xfrm>
          <a:prstGeom prst="rect">
            <a:avLst/>
          </a:prstGeom>
          <a:noFill/>
        </p:spPr>
        <p:txBody>
          <a:bodyPr wrap="square" lIns="0" rIns="0" tIns="0" bIns="0" anchor="t">
            <a:spAutoFit/>
          </a:bodyPr>
          <a:lstStyle/>
          <a:p>
            <a:pPr algn="l">
              <a:lnSpc>
                <a:spcPct val="107000"/>
              </a:lnSpc>
              <a:spcBef>
                <a:spcPts val="0"/>
              </a:spcBef>
              <a:spcAft>
                <a:spcPts val="300"/>
              </a:spcAft>
              <a:buNone/>
            </a:pPr>
            <a:r>
              <a:rPr sz="1800" b="1">
                <a:solidFill>
                  <a:srgbClr val="134E2D"/>
                </a:solidFill>
                <a:latin typeface="Arial"/>
              </a:rPr>
              <a:t>Integration</a:t>
            </a:r>
          </a:p>
        </p:txBody>
      </p:sp>
      <p:sp>
        <p:nvSpPr>
          <p:cNvPr id="487" name="Text: What do memory and completion adaptations cost?"/>
          <p:cNvSpPr txBox="1"/>
          <p:nvPr/>
        </p:nvSpPr>
        <p:spPr>
          <a:xfrm>
            <a:off x="2798064" y="2468880"/>
            <a:ext cx="5532120" cy="374904"/>
          </a:xfrm>
          <a:prstGeom prst="rect">
            <a:avLst/>
          </a:prstGeom>
          <a:noFill/>
        </p:spPr>
        <p:txBody>
          <a:bodyPr wrap="square" lIns="0" rIns="0" tIns="0" bIns="0" anchor="t">
            <a:spAutoFit/>
          </a:bodyPr>
          <a:lstStyle/>
          <a:p>
            <a:pPr algn="l">
              <a:lnSpc>
                <a:spcPct val="107000"/>
              </a:lnSpc>
              <a:spcBef>
                <a:spcPts val="0"/>
              </a:spcBef>
              <a:spcAft>
                <a:spcPts val="300"/>
              </a:spcAft>
              <a:buNone/>
            </a:pPr>
            <a:r>
              <a:rPr sz="1600" b="0">
                <a:solidFill>
                  <a:srgbClr val="2E2E2E"/>
                </a:solidFill>
                <a:latin typeface="Arial"/>
              </a:rPr>
              <a:t>What do memory and completion adaptations cost?</a:t>
            </a:r>
          </a:p>
        </p:txBody>
      </p:sp>
      <p:sp>
        <p:nvSpPr>
          <p:cNvPr id="488" name="Oval 487"/>
          <p:cNvSpPr/>
          <p:nvPr/>
        </p:nvSpPr>
        <p:spPr>
          <a:xfrm>
            <a:off x="731520" y="3172968"/>
            <a:ext cx="411480" cy="411480"/>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Text: 3"/>
          <p:cNvSpPr txBox="1"/>
          <p:nvPr/>
        </p:nvSpPr>
        <p:spPr>
          <a:xfrm>
            <a:off x="731520" y="3182112"/>
            <a:ext cx="411480" cy="393192"/>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3</a:t>
            </a:r>
          </a:p>
        </p:txBody>
      </p:sp>
      <p:sp>
        <p:nvSpPr>
          <p:cNvPr id="490" name="Text: Transfer"/>
          <p:cNvSpPr txBox="1"/>
          <p:nvPr/>
        </p:nvSpPr>
        <p:spPr>
          <a:xfrm>
            <a:off x="1316736" y="3154680"/>
            <a:ext cx="1508760" cy="320040"/>
          </a:xfrm>
          <a:prstGeom prst="rect">
            <a:avLst/>
          </a:prstGeom>
          <a:noFill/>
        </p:spPr>
        <p:txBody>
          <a:bodyPr wrap="square" lIns="0" rIns="0" tIns="0" bIns="0" anchor="t">
            <a:spAutoFit/>
          </a:bodyPr>
          <a:lstStyle/>
          <a:p>
            <a:pPr algn="l">
              <a:lnSpc>
                <a:spcPct val="107000"/>
              </a:lnSpc>
              <a:spcBef>
                <a:spcPts val="0"/>
              </a:spcBef>
              <a:spcAft>
                <a:spcPts val="300"/>
              </a:spcAft>
              <a:buNone/>
            </a:pPr>
            <a:r>
              <a:rPr sz="1800" b="1">
                <a:solidFill>
                  <a:srgbClr val="134E2D"/>
                </a:solidFill>
                <a:latin typeface="Arial"/>
              </a:rPr>
              <a:t>Transfer</a:t>
            </a:r>
          </a:p>
        </p:txBody>
      </p:sp>
      <p:sp>
        <p:nvSpPr>
          <p:cNvPr id="491" name="Text: Which benchmark observations survive in a solver?"/>
          <p:cNvSpPr txBox="1"/>
          <p:nvPr/>
        </p:nvSpPr>
        <p:spPr>
          <a:xfrm>
            <a:off x="2798064" y="3200400"/>
            <a:ext cx="5532120" cy="374904"/>
          </a:xfrm>
          <a:prstGeom prst="rect">
            <a:avLst/>
          </a:prstGeom>
          <a:noFill/>
        </p:spPr>
        <p:txBody>
          <a:bodyPr wrap="square" lIns="0" rIns="0" tIns="0" bIns="0" anchor="t">
            <a:spAutoFit/>
          </a:bodyPr>
          <a:lstStyle/>
          <a:p>
            <a:pPr algn="l">
              <a:lnSpc>
                <a:spcPct val="107000"/>
              </a:lnSpc>
              <a:spcBef>
                <a:spcPts val="0"/>
              </a:spcBef>
              <a:spcAft>
                <a:spcPts val="300"/>
              </a:spcAft>
              <a:buNone/>
            </a:pPr>
            <a:r>
              <a:rPr sz="1600" b="0">
                <a:solidFill>
                  <a:srgbClr val="2E2E2E"/>
                </a:solidFill>
                <a:latin typeface="Arial"/>
              </a:rPr>
              <a:t>Which benchmark observations survive in a solver?</a:t>
            </a:r>
          </a:p>
        </p:txBody>
      </p:sp>
      <p:sp>
        <p:nvSpPr>
          <p:cNvPr id="492" name="Rounded Rectangle 491"/>
          <p:cNvSpPr/>
          <p:nvPr/>
        </p:nvSpPr>
        <p:spPr>
          <a:xfrm>
            <a:off x="941832" y="3977639"/>
            <a:ext cx="2139696" cy="438912"/>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Text: Patterns"/>
          <p:cNvSpPr txBox="1"/>
          <p:nvPr/>
        </p:nvSpPr>
        <p:spPr>
          <a:xfrm>
            <a:off x="1005840" y="4005072"/>
            <a:ext cx="2011679" cy="384048"/>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Patterns</a:t>
            </a:r>
          </a:p>
        </p:txBody>
      </p:sp>
      <p:sp>
        <p:nvSpPr>
          <p:cNvPr id="494" name="Right Arrow 493"/>
          <p:cNvSpPr/>
          <p:nvPr/>
        </p:nvSpPr>
        <p:spPr>
          <a:xfrm>
            <a:off x="3291840" y="4114800"/>
            <a:ext cx="310896" cy="137160"/>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Rounded Rectangle 494"/>
          <p:cNvSpPr/>
          <p:nvPr/>
        </p:nvSpPr>
        <p:spPr>
          <a:xfrm>
            <a:off x="3703320" y="3977639"/>
            <a:ext cx="2139696" cy="438912"/>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Text: Composite work"/>
          <p:cNvSpPr txBox="1"/>
          <p:nvPr/>
        </p:nvSpPr>
        <p:spPr>
          <a:xfrm>
            <a:off x="3767328" y="4005072"/>
            <a:ext cx="2011679" cy="384048"/>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Composite work</a:t>
            </a:r>
          </a:p>
        </p:txBody>
      </p:sp>
      <p:sp>
        <p:nvSpPr>
          <p:cNvPr id="497" name="Right Arrow 496"/>
          <p:cNvSpPr/>
          <p:nvPr/>
        </p:nvSpPr>
        <p:spPr>
          <a:xfrm>
            <a:off x="6053328" y="4114800"/>
            <a:ext cx="310896" cy="137160"/>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Rounded Rectangle 497"/>
          <p:cNvSpPr/>
          <p:nvPr/>
        </p:nvSpPr>
        <p:spPr>
          <a:xfrm>
            <a:off x="6464808" y="3977639"/>
            <a:ext cx="2139696" cy="438912"/>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Text: Complete solver"/>
          <p:cNvSpPr txBox="1"/>
          <p:nvPr/>
        </p:nvSpPr>
        <p:spPr>
          <a:xfrm>
            <a:off x="6528816" y="4005072"/>
            <a:ext cx="2011679" cy="384048"/>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Complete solver</a:t>
            </a:r>
          </a:p>
        </p:txBody>
      </p:sp>
      <p:sp>
        <p:nvSpPr>
          <p:cNvPr id="500" name="Text: Thesis: research questions and evaluation methodology"/>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Thesis: research questions and evaluation methodology</a:t>
            </a:r>
          </a:p>
        </p:txBody>
      </p:sp>
      <p:sp>
        <p:nvSpPr>
          <p:cNvPr id="501" name="Text: 06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06 / 14</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Text: MOTIVATION"/>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MOTIVATION</a:t>
            </a:r>
          </a:p>
        </p:txBody>
      </p:sp>
      <p:sp>
        <p:nvSpPr>
          <p:cNvPr id="493" name="Text: Why the interest now?"/>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Why the interest now?</a:t>
            </a:r>
          </a:p>
        </p:txBody>
      </p:sp>
      <p:sp>
        <p:nvSpPr>
          <p:cNvPr id="494" name="Rounded Rectangle 493"/>
          <p:cNvSpPr/>
          <p:nvPr/>
        </p:nvSpPr>
        <p:spPr>
          <a:xfrm>
            <a:off x="594360" y="1618488"/>
            <a:ext cx="2468880" cy="219456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740664" y="1783080"/>
            <a:ext cx="384048" cy="384048"/>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Text: 1"/>
          <p:cNvSpPr txBox="1"/>
          <p:nvPr/>
        </p:nvSpPr>
        <p:spPr>
          <a:xfrm>
            <a:off x="740664" y="1792224"/>
            <a:ext cx="384048" cy="365759"/>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1</a:t>
            </a:r>
          </a:p>
        </p:txBody>
      </p:sp>
      <p:sp>
        <p:nvSpPr>
          <p:cNvPr id="497" name="Text: Smaller latency budgets"/>
          <p:cNvSpPr txBox="1"/>
          <p:nvPr/>
        </p:nvSpPr>
        <p:spPr>
          <a:xfrm>
            <a:off x="1252728" y="1764792"/>
            <a:ext cx="1673352"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Smaller latency budgets</a:t>
            </a:r>
          </a:p>
        </p:txBody>
      </p:sp>
      <p:sp>
        <p:nvSpPr>
          <p:cNvPr id="498" name="Text: Inference repeatedly waits on small collectives."/>
          <p:cNvSpPr txBox="1"/>
          <p:nvPr/>
        </p:nvSpPr>
        <p:spPr>
          <a:xfrm>
            <a:off x="749808" y="2468880"/>
            <a:ext cx="2157984" cy="1252728"/>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Inference repeatedly waits on small collectives.</a:t>
            </a:r>
          </a:p>
        </p:txBody>
      </p:sp>
      <p:sp>
        <p:nvSpPr>
          <p:cNvPr id="499" name="Rounded Rectangle 498"/>
          <p:cNvSpPr/>
          <p:nvPr/>
        </p:nvSpPr>
        <p:spPr>
          <a:xfrm>
            <a:off x="3337560" y="1618488"/>
            <a:ext cx="2468880" cy="219456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3483864" y="1783080"/>
            <a:ext cx="384048" cy="384048"/>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Text: 2"/>
          <p:cNvSpPr txBox="1"/>
          <p:nvPr/>
        </p:nvSpPr>
        <p:spPr>
          <a:xfrm>
            <a:off x="3483864" y="1792224"/>
            <a:ext cx="384048" cy="365759"/>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2</a:t>
            </a:r>
          </a:p>
        </p:txBody>
      </p:sp>
      <p:sp>
        <p:nvSpPr>
          <p:cNvPr id="502" name="Text: Data-dependent traffic"/>
          <p:cNvSpPr txBox="1"/>
          <p:nvPr/>
        </p:nvSpPr>
        <p:spPr>
          <a:xfrm>
            <a:off x="3995928" y="1764792"/>
            <a:ext cx="1673352"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Data-dependent traffic</a:t>
            </a:r>
          </a:p>
        </p:txBody>
      </p:sp>
      <p:sp>
        <p:nvSpPr>
          <p:cNvPr id="503" name="Text: MoE routing and irregular work need fine-grained control."/>
          <p:cNvSpPr txBox="1"/>
          <p:nvPr/>
        </p:nvSpPr>
        <p:spPr>
          <a:xfrm>
            <a:off x="3493008" y="2468880"/>
            <a:ext cx="2157984" cy="1252728"/>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MoE routing and irregular work need fine-grained control.</a:t>
            </a:r>
          </a:p>
        </p:txBody>
      </p:sp>
      <p:sp>
        <p:nvSpPr>
          <p:cNvPr id="504" name="Rounded Rectangle 503"/>
          <p:cNvSpPr/>
          <p:nvPr/>
        </p:nvSpPr>
        <p:spPr>
          <a:xfrm>
            <a:off x="6080760" y="1618488"/>
            <a:ext cx="2468880" cy="219456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6227064" y="1783080"/>
            <a:ext cx="384048" cy="384048"/>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Text: 3"/>
          <p:cNvSpPr txBox="1"/>
          <p:nvPr/>
        </p:nvSpPr>
        <p:spPr>
          <a:xfrm>
            <a:off x="6227064" y="1792224"/>
            <a:ext cx="384048" cy="365759"/>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3</a:t>
            </a:r>
          </a:p>
        </p:txBody>
      </p:sp>
      <p:sp>
        <p:nvSpPr>
          <p:cNvPr id="507" name="Text: Better device interfaces"/>
          <p:cNvSpPr txBox="1"/>
          <p:nvPr/>
        </p:nvSpPr>
        <p:spPr>
          <a:xfrm>
            <a:off x="6739128" y="1764792"/>
            <a:ext cx="1673352"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Better device interfaces</a:t>
            </a:r>
          </a:p>
        </p:txBody>
      </p:sp>
      <p:sp>
        <p:nvSpPr>
          <p:cNvPr id="508" name="Text: Symmetric memory and device APIs enable fused execution."/>
          <p:cNvSpPr txBox="1"/>
          <p:nvPr/>
        </p:nvSpPr>
        <p:spPr>
          <a:xfrm>
            <a:off x="6236208" y="2468880"/>
            <a:ext cx="2157984" cy="1252728"/>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Symmetric memory and device APIs enable fused execution.</a:t>
            </a:r>
          </a:p>
        </p:txBody>
      </p:sp>
      <p:sp>
        <p:nvSpPr>
          <p:cNvPr id="509" name="Text: The opportunity: reduce orchestration and overlap useful work wit"/>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The opportunity: reduce orchestration and overlap useful work with communication.</a:t>
            </a:r>
          </a:p>
        </p:txBody>
      </p:sp>
      <p:sp>
        <p:nvSpPr>
          <p:cNvPr id="510" name="Text: Hamidouche et al. (2025); Ma et al. (2026); Shen et al. (2026)"/>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Hamidouche et al. (2025); Ma et al. (2026); Shen et al. (2026)</a:t>
            </a:r>
          </a:p>
        </p:txBody>
      </p:sp>
      <p:sp>
        <p:nvSpPr>
          <p:cNvPr id="511" name="Text: 04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04 / 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Text: BACKGROUND"/>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BACKGROUND</a:t>
            </a:r>
          </a:p>
        </p:txBody>
      </p:sp>
      <p:sp>
        <p:nvSpPr>
          <p:cNvPr id="511" name="Text: One ecosystem, different contracts"/>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One ecosystem, different contracts</a:t>
            </a:r>
          </a:p>
        </p:txBody>
      </p:sp>
      <p:sp>
        <p:nvSpPr>
          <p:cNvPr id="512" name="Rectangle 511"/>
          <p:cNvSpPr/>
          <p:nvPr/>
        </p:nvSpPr>
        <p:spPr>
          <a:xfrm>
            <a:off x="594360" y="1618488"/>
            <a:ext cx="1947672" cy="420624"/>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 Path"/>
          <p:cNvSpPr txBox="1"/>
          <p:nvPr/>
        </p:nvSpPr>
        <p:spPr>
          <a:xfrm>
            <a:off x="685800" y="1700784"/>
            <a:ext cx="1801368" cy="31089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FFFFFF"/>
                </a:solidFill>
                <a:latin typeface="Arial"/>
              </a:rPr>
              <a:t>Path</a:t>
            </a:r>
          </a:p>
        </p:txBody>
      </p:sp>
      <p:sp>
        <p:nvSpPr>
          <p:cNvPr id="514" name="Rectangle 513"/>
          <p:cNvSpPr/>
          <p:nvPr/>
        </p:nvSpPr>
        <p:spPr>
          <a:xfrm>
            <a:off x="2542032" y="1618488"/>
            <a:ext cx="1984248" cy="420624"/>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 Who issues the call?"/>
          <p:cNvSpPr txBox="1"/>
          <p:nvPr/>
        </p:nvSpPr>
        <p:spPr>
          <a:xfrm>
            <a:off x="2633472" y="1700784"/>
            <a:ext cx="1837943" cy="31089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FFFFFF"/>
                </a:solidFill>
                <a:latin typeface="Arial"/>
              </a:rPr>
              <a:t>Who issues the call?</a:t>
            </a:r>
          </a:p>
        </p:txBody>
      </p:sp>
      <p:sp>
        <p:nvSpPr>
          <p:cNvPr id="516" name="Rectangle 515"/>
          <p:cNvSpPr/>
          <p:nvPr/>
        </p:nvSpPr>
        <p:spPr>
          <a:xfrm>
            <a:off x="4526279" y="1618488"/>
            <a:ext cx="4023360" cy="420624"/>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 What the programmer controls"/>
          <p:cNvSpPr txBox="1"/>
          <p:nvPr/>
        </p:nvSpPr>
        <p:spPr>
          <a:xfrm>
            <a:off x="4617719" y="1700784"/>
            <a:ext cx="3877056" cy="31089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FFFFFF"/>
                </a:solidFill>
                <a:latin typeface="Arial"/>
              </a:rPr>
              <a:t>What the programmer controls</a:t>
            </a:r>
          </a:p>
        </p:txBody>
      </p:sp>
      <p:sp>
        <p:nvSpPr>
          <p:cNvPr id="518" name="Rectangle 517"/>
          <p:cNvSpPr/>
          <p:nvPr/>
        </p:nvSpPr>
        <p:spPr>
          <a:xfrm>
            <a:off x="594360" y="2039112"/>
            <a:ext cx="1947672" cy="4206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 GPU-aware MPI"/>
          <p:cNvSpPr txBox="1"/>
          <p:nvPr/>
        </p:nvSpPr>
        <p:spPr>
          <a:xfrm>
            <a:off x="685800" y="2116836"/>
            <a:ext cx="1801368"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GPU-aware MPI</a:t>
            </a:r>
          </a:p>
        </p:txBody>
      </p:sp>
      <p:sp>
        <p:nvSpPr>
          <p:cNvPr id="520" name="Rectangle 519"/>
          <p:cNvSpPr/>
          <p:nvPr/>
        </p:nvSpPr>
        <p:spPr>
          <a:xfrm>
            <a:off x="2542032" y="2039112"/>
            <a:ext cx="1984248" cy="4206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 CPU"/>
          <p:cNvSpPr txBox="1"/>
          <p:nvPr/>
        </p:nvSpPr>
        <p:spPr>
          <a:xfrm>
            <a:off x="2633472" y="2116836"/>
            <a:ext cx="1837943"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CPU</a:t>
            </a:r>
          </a:p>
        </p:txBody>
      </p:sp>
      <p:sp>
        <p:nvSpPr>
          <p:cNvPr id="522" name="Rectangle 521"/>
          <p:cNvSpPr/>
          <p:nvPr/>
        </p:nvSpPr>
        <p:spPr>
          <a:xfrm>
            <a:off x="4526279" y="2039112"/>
            <a:ext cx="4023360" cy="4206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 Device buffers; message / collective semantics"/>
          <p:cNvSpPr txBox="1"/>
          <p:nvPr/>
        </p:nvSpPr>
        <p:spPr>
          <a:xfrm>
            <a:off x="4617719" y="2116836"/>
            <a:ext cx="3877056"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Device buffers; message / collective semantics</a:t>
            </a:r>
          </a:p>
        </p:txBody>
      </p:sp>
      <p:sp>
        <p:nvSpPr>
          <p:cNvPr id="524" name="Rectangle 523"/>
          <p:cNvSpPr/>
          <p:nvPr/>
        </p:nvSpPr>
        <p:spPr>
          <a:xfrm>
            <a:off x="594360" y="2459736"/>
            <a:ext cx="1947672"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 Traditional NCCL"/>
          <p:cNvSpPr txBox="1"/>
          <p:nvPr/>
        </p:nvSpPr>
        <p:spPr>
          <a:xfrm>
            <a:off x="685800" y="2537460"/>
            <a:ext cx="1801368"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Traditional NCCL</a:t>
            </a:r>
          </a:p>
        </p:txBody>
      </p:sp>
      <p:sp>
        <p:nvSpPr>
          <p:cNvPr id="526" name="Rectangle 525"/>
          <p:cNvSpPr/>
          <p:nvPr/>
        </p:nvSpPr>
        <p:spPr>
          <a:xfrm>
            <a:off x="2542032" y="2459736"/>
            <a:ext cx="1984248"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 CPU, on a stream"/>
          <p:cNvSpPr txBox="1"/>
          <p:nvPr/>
        </p:nvSpPr>
        <p:spPr>
          <a:xfrm>
            <a:off x="2633472" y="2537460"/>
            <a:ext cx="1837943"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CPU, on a stream</a:t>
            </a:r>
          </a:p>
        </p:txBody>
      </p:sp>
      <p:sp>
        <p:nvSpPr>
          <p:cNvPr id="528" name="Rectangle 527"/>
          <p:cNvSpPr/>
          <p:nvPr/>
        </p:nvSpPr>
        <p:spPr>
          <a:xfrm>
            <a:off x="4526279" y="2459736"/>
            <a:ext cx="40233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 Collectives and grouped peer transfers"/>
          <p:cNvSpPr txBox="1"/>
          <p:nvPr/>
        </p:nvSpPr>
        <p:spPr>
          <a:xfrm>
            <a:off x="4617719" y="2537460"/>
            <a:ext cx="3877056"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Collectives and grouped peer transfers</a:t>
            </a:r>
          </a:p>
        </p:txBody>
      </p:sp>
      <p:sp>
        <p:nvSpPr>
          <p:cNvPr id="530" name="Rectangle 529"/>
          <p:cNvSpPr/>
          <p:nvPr/>
        </p:nvSpPr>
        <p:spPr>
          <a:xfrm>
            <a:off x="594360" y="2880360"/>
            <a:ext cx="1947672" cy="4206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 NVSHMEM"/>
          <p:cNvSpPr txBox="1"/>
          <p:nvPr/>
        </p:nvSpPr>
        <p:spPr>
          <a:xfrm>
            <a:off x="685800" y="2958084"/>
            <a:ext cx="1801368"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NVSHMEM</a:t>
            </a:r>
          </a:p>
        </p:txBody>
      </p:sp>
      <p:sp>
        <p:nvSpPr>
          <p:cNvPr id="532" name="Rectangle 531"/>
          <p:cNvSpPr/>
          <p:nvPr/>
        </p:nvSpPr>
        <p:spPr>
          <a:xfrm>
            <a:off x="2542032" y="2880360"/>
            <a:ext cx="1984248" cy="4206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 CPU or GPU"/>
          <p:cNvSpPr txBox="1"/>
          <p:nvPr/>
        </p:nvSpPr>
        <p:spPr>
          <a:xfrm>
            <a:off x="2633472" y="2958084"/>
            <a:ext cx="1837943"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CPU or GPU</a:t>
            </a:r>
          </a:p>
        </p:txBody>
      </p:sp>
      <p:sp>
        <p:nvSpPr>
          <p:cNvPr id="534" name="Rectangle 533"/>
          <p:cNvSpPr/>
          <p:nvPr/>
        </p:nvSpPr>
        <p:spPr>
          <a:xfrm>
            <a:off x="4526279" y="2880360"/>
            <a:ext cx="4023360" cy="420624"/>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 Symmetric memory; puts, signals, ordering"/>
          <p:cNvSpPr txBox="1"/>
          <p:nvPr/>
        </p:nvSpPr>
        <p:spPr>
          <a:xfrm>
            <a:off x="4617719" y="2958084"/>
            <a:ext cx="3877056"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Symmetric memory; puts, signals, ordering</a:t>
            </a:r>
          </a:p>
        </p:txBody>
      </p:sp>
      <p:sp>
        <p:nvSpPr>
          <p:cNvPr id="536" name="Rectangle 535"/>
          <p:cNvSpPr/>
          <p:nvPr/>
        </p:nvSpPr>
        <p:spPr>
          <a:xfrm>
            <a:off x="594360" y="3300984"/>
            <a:ext cx="1947672"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Text: NCCL device API / GIN"/>
          <p:cNvSpPr txBox="1"/>
          <p:nvPr/>
        </p:nvSpPr>
        <p:spPr>
          <a:xfrm>
            <a:off x="685800" y="3378708"/>
            <a:ext cx="1801368"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NCCL device API / GIN</a:t>
            </a:r>
          </a:p>
        </p:txBody>
      </p:sp>
      <p:sp>
        <p:nvSpPr>
          <p:cNvPr id="538" name="Rectangle 537"/>
          <p:cNvSpPr/>
          <p:nvPr/>
        </p:nvSpPr>
        <p:spPr>
          <a:xfrm>
            <a:off x="2542032" y="3300984"/>
            <a:ext cx="1984248"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Text: GPU kernel"/>
          <p:cNvSpPr txBox="1"/>
          <p:nvPr/>
        </p:nvSpPr>
        <p:spPr>
          <a:xfrm>
            <a:off x="2633472" y="3378708"/>
            <a:ext cx="1837943"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GPU kernel</a:t>
            </a:r>
          </a:p>
        </p:txBody>
      </p:sp>
      <p:sp>
        <p:nvSpPr>
          <p:cNvPr id="540" name="Rectangle 539"/>
          <p:cNvSpPr/>
          <p:nvPr/>
        </p:nvSpPr>
        <p:spPr>
          <a:xfrm>
            <a:off x="4526279" y="3300984"/>
            <a:ext cx="40233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Text: Registered windows; device-side operations"/>
          <p:cNvSpPr txBox="1"/>
          <p:nvPr/>
        </p:nvSpPr>
        <p:spPr>
          <a:xfrm>
            <a:off x="4617719" y="3378708"/>
            <a:ext cx="3877056"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Registered windows; device-side operations</a:t>
            </a:r>
          </a:p>
        </p:txBody>
      </p:sp>
      <p:sp>
        <p:nvSpPr>
          <p:cNvPr id="542" name="Rounded Rectangle 541"/>
          <p:cNvSpPr/>
          <p:nvPr/>
        </p:nvSpPr>
        <p:spPr>
          <a:xfrm>
            <a:off x="594360" y="3931920"/>
            <a:ext cx="7955279" cy="4663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Text: OSHMPI: SHMEM over MPI     oneCCL: collective interface     SYCL:"/>
          <p:cNvSpPr txBox="1"/>
          <p:nvPr/>
        </p:nvSpPr>
        <p:spPr>
          <a:xfrm>
            <a:off x="731520" y="4069080"/>
            <a:ext cx="768096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134E2D"/>
                </a:solidFill>
                <a:latin typeface="Arial"/>
              </a:rPr>
              <a:t>OSHMPI: SHMEM over MPI     oneCCL: collective interface     SYCL: compute model</a:t>
            </a:r>
          </a:p>
        </p:txBody>
      </p:sp>
      <p:sp>
        <p:nvSpPr>
          <p:cNvPr id="544" name="Text: NCCL device API introduced in 2.28; GIN from 2.28.7. NVIDIA docum"/>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NCCL device API introduced in 2.28; GIN from 2.28.7. NVIDIA documentation, checked 6 Oct 2026.</a:t>
            </a:r>
          </a:p>
        </p:txBody>
      </p:sp>
      <p:sp>
        <p:nvSpPr>
          <p:cNvPr id="545" name="Text: 05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05 / 14</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Text: BACKUP A5 · LIMITS &amp; NEXT EXPERIMENTS"/>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BACKUP A5 · LIMITS &amp; NEXT EXPERIMENTS</a:t>
            </a:r>
          </a:p>
        </p:txBody>
      </p:sp>
      <p:sp>
        <p:nvSpPr>
          <p:cNvPr id="548" name="Text: What the evidence leaves open"/>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What the evidence leaves open</a:t>
            </a:r>
          </a:p>
        </p:txBody>
      </p:sp>
      <p:sp>
        <p:nvSpPr>
          <p:cNvPr id="549" name="Rectangle 548"/>
          <p:cNvSpPr/>
          <p:nvPr/>
        </p:nvSpPr>
        <p:spPr>
          <a:xfrm>
            <a:off x="594360" y="1673352"/>
            <a:ext cx="3721608" cy="365760"/>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 Current limit"/>
          <p:cNvSpPr txBox="1"/>
          <p:nvPr/>
        </p:nvSpPr>
        <p:spPr>
          <a:xfrm>
            <a:off x="685800" y="1755648"/>
            <a:ext cx="3575304"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1">
                <a:solidFill>
                  <a:srgbClr val="FFFFFF"/>
                </a:solidFill>
                <a:latin typeface="Arial"/>
              </a:rPr>
              <a:t>Current limit</a:t>
            </a:r>
          </a:p>
        </p:txBody>
      </p:sp>
      <p:sp>
        <p:nvSpPr>
          <p:cNvPr id="551" name="Rectangle 550"/>
          <p:cNvSpPr/>
          <p:nvPr/>
        </p:nvSpPr>
        <p:spPr>
          <a:xfrm>
            <a:off x="4315968" y="1673352"/>
            <a:ext cx="4233672" cy="365760"/>
          </a:xfrm>
          <a:prstGeom prst="rect">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 Experiment that addresses it"/>
          <p:cNvSpPr txBox="1"/>
          <p:nvPr/>
        </p:nvSpPr>
        <p:spPr>
          <a:xfrm>
            <a:off x="4407408" y="1755648"/>
            <a:ext cx="4087368"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1">
                <a:solidFill>
                  <a:srgbClr val="FFFFFF"/>
                </a:solidFill>
                <a:latin typeface="Arial"/>
              </a:rPr>
              <a:t>Experiment that addresses it</a:t>
            </a:r>
          </a:p>
        </p:txBody>
      </p:sp>
      <p:sp>
        <p:nvSpPr>
          <p:cNvPr id="553" name="Rectangle 552"/>
          <p:cNvSpPr/>
          <p:nvPr/>
        </p:nvSpPr>
        <p:spPr>
          <a:xfrm>
            <a:off x="594360" y="2039112"/>
            <a:ext cx="3721608" cy="36576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 One cluster; proxy-assisted networking"/>
          <p:cNvSpPr txBox="1"/>
          <p:nvPr/>
        </p:nvSpPr>
        <p:spPr>
          <a:xfrm>
            <a:off x="685800" y="2116836"/>
            <a:ext cx="3575304"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One cluster; proxy-assisted networking</a:t>
            </a:r>
          </a:p>
        </p:txBody>
      </p:sp>
      <p:sp>
        <p:nvSpPr>
          <p:cNvPr id="555" name="Rectangle 554"/>
          <p:cNvSpPr/>
          <p:nvPr/>
        </p:nvSpPr>
        <p:spPr>
          <a:xfrm>
            <a:off x="4315968" y="2039112"/>
            <a:ext cx="4233672" cy="36576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 Matched proxy / verified GPU-posted runs"/>
          <p:cNvSpPr txBox="1"/>
          <p:nvPr/>
        </p:nvSpPr>
        <p:spPr>
          <a:xfrm>
            <a:off x="4407408" y="2116836"/>
            <a:ext cx="4087368"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Matched proxy / verified GPU-posted runs</a:t>
            </a:r>
          </a:p>
        </p:txBody>
      </p:sp>
      <p:sp>
        <p:nvSpPr>
          <p:cNvPr id="557" name="Rectangle 556"/>
          <p:cNvSpPr/>
          <p:nvPr/>
        </p:nvSpPr>
        <p:spPr>
          <a:xfrm>
            <a:off x="594360" y="2404872"/>
            <a:ext cx="3721608"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Text: Initiation changes with execution structure"/>
          <p:cNvSpPr txBox="1"/>
          <p:nvPr/>
        </p:nvSpPr>
        <p:spPr>
          <a:xfrm>
            <a:off x="685800" y="2482596"/>
            <a:ext cx="3575304"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Initiation changes with execution structure</a:t>
            </a:r>
          </a:p>
        </p:txBody>
      </p:sp>
      <p:sp>
        <p:nvSpPr>
          <p:cNvPr id="559" name="Rectangle 558"/>
          <p:cNvSpPr/>
          <p:nvPr/>
        </p:nvSpPr>
        <p:spPr>
          <a:xfrm>
            <a:off x="4315968" y="2404872"/>
            <a:ext cx="42336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 Vary invocation, persistence, and batching separately"/>
          <p:cNvSpPr txBox="1"/>
          <p:nvPr/>
        </p:nvSpPr>
        <p:spPr>
          <a:xfrm>
            <a:off x="4407408" y="2482596"/>
            <a:ext cx="4087368"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Vary invocation, persistence, and batching separately</a:t>
            </a:r>
          </a:p>
        </p:txBody>
      </p:sp>
      <p:sp>
        <p:nvSpPr>
          <p:cNvPr id="561" name="Rectangle 560"/>
          <p:cNvSpPr/>
          <p:nvPr/>
        </p:nvSpPr>
        <p:spPr>
          <a:xfrm>
            <a:off x="594360" y="2770632"/>
            <a:ext cx="3721608" cy="36576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 Regular halos; two solver matrices"/>
          <p:cNvSpPr txBox="1"/>
          <p:nvPr/>
        </p:nvSpPr>
        <p:spPr>
          <a:xfrm>
            <a:off x="685800" y="2848356"/>
            <a:ext cx="3575304"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Regular halos; two solver matrices</a:t>
            </a:r>
          </a:p>
        </p:txBody>
      </p:sp>
      <p:sp>
        <p:nvSpPr>
          <p:cNvPr id="563" name="Rectangle 562"/>
          <p:cNvSpPr/>
          <p:nvPr/>
        </p:nvSpPr>
        <p:spPr>
          <a:xfrm>
            <a:off x="4315968" y="2770632"/>
            <a:ext cx="4233672" cy="36576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 Replay real peer graphs; expand application set"/>
          <p:cNvSpPr txBox="1"/>
          <p:nvPr/>
        </p:nvSpPr>
        <p:spPr>
          <a:xfrm>
            <a:off x="4407408" y="2848356"/>
            <a:ext cx="4087368"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Replay real peer graphs; expand application set</a:t>
            </a:r>
          </a:p>
        </p:txBody>
      </p:sp>
      <p:sp>
        <p:nvSpPr>
          <p:cNvPr id="565" name="Rectangle 564"/>
          <p:cNvSpPr/>
          <p:nvPr/>
        </p:nvSpPr>
        <p:spPr>
          <a:xfrm>
            <a:off x="594360" y="3136392"/>
            <a:ext cx="3721608"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 Older measured library paths"/>
          <p:cNvSpPr txBox="1"/>
          <p:nvPr/>
        </p:nvSpPr>
        <p:spPr>
          <a:xfrm>
            <a:off x="685800" y="3214116"/>
            <a:ext cx="3575304"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Older measured library paths</a:t>
            </a:r>
          </a:p>
        </p:txBody>
      </p:sp>
      <p:sp>
        <p:nvSpPr>
          <p:cNvPr id="567" name="Rectangle 566"/>
          <p:cNvSpPr/>
          <p:nvPr/>
        </p:nvSpPr>
        <p:spPr>
          <a:xfrm>
            <a:off x="4315968" y="3136392"/>
            <a:ext cx="42336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 Compare newer NVSHMEM and NCCL device APIs"/>
          <p:cNvSpPr txBox="1"/>
          <p:nvPr/>
        </p:nvSpPr>
        <p:spPr>
          <a:xfrm>
            <a:off x="4407408" y="3214116"/>
            <a:ext cx="4087368"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Compare newer NVSHMEM and NCCL device APIs</a:t>
            </a:r>
          </a:p>
        </p:txBody>
      </p:sp>
      <p:sp>
        <p:nvSpPr>
          <p:cNvPr id="569" name="Rectangle 568"/>
          <p:cNvSpPr/>
          <p:nvPr/>
        </p:nvSpPr>
        <p:spPr>
          <a:xfrm>
            <a:off x="594360" y="3502152"/>
            <a:ext cx="3721608" cy="36576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Text: Portable adapter completion / staging"/>
          <p:cNvSpPr txBox="1"/>
          <p:nvPr/>
        </p:nvSpPr>
        <p:spPr>
          <a:xfrm>
            <a:off x="685800" y="3579876"/>
            <a:ext cx="3575304"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Portable adapter completion / staging</a:t>
            </a:r>
          </a:p>
        </p:txBody>
      </p:sp>
      <p:sp>
        <p:nvSpPr>
          <p:cNvPr id="571" name="Rectangle 570"/>
          <p:cNvSpPr/>
          <p:nvPr/>
        </p:nvSpPr>
        <p:spPr>
          <a:xfrm>
            <a:off x="4315968" y="3502152"/>
            <a:ext cx="4233672" cy="36576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Text: Device handles + stream-ordered completion"/>
          <p:cNvSpPr txBox="1"/>
          <p:nvPr/>
        </p:nvSpPr>
        <p:spPr>
          <a:xfrm>
            <a:off x="4407408" y="3579876"/>
            <a:ext cx="4087368"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2E2E2E"/>
                </a:solidFill>
                <a:latin typeface="Arial"/>
              </a:rPr>
              <a:t>Device handles + stream-ordered completion</a:t>
            </a:r>
          </a:p>
        </p:txBody>
      </p:sp>
      <p:sp>
        <p:nvSpPr>
          <p:cNvPr id="573" name="Text: Report complete-path gains and losses; do not infer a universal l"/>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Report complete-path gains and losses; do not infer a universal library ordering.</a:t>
            </a:r>
          </a:p>
        </p:txBody>
      </p:sp>
      <p:sp>
        <p:nvSpPr>
          <p:cNvPr id="574" name="Text: Thesis discussion and conclusions. Few independent allocations; n"/>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Thesis discussion and conclusions. Few independent allocations; no hypothesis tests; MoE is a microbenchmark only.</a:t>
            </a:r>
          </a:p>
        </p:txBody>
      </p:sp>
      <p:sp>
        <p:nvSpPr>
          <p:cNvPr id="575" name="Text: A5"/>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A5</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Text: EXPERIMENTAL SETUP"/>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EXPERIMENTAL SETUP</a:t>
            </a:r>
          </a:p>
        </p:txBody>
      </p:sp>
      <p:sp>
        <p:nvSpPr>
          <p:cNvPr id="554" name="Text: Measure complete configured paths"/>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Measure complete configured paths</a:t>
            </a:r>
          </a:p>
        </p:txBody>
      </p:sp>
      <p:sp>
        <p:nvSpPr>
          <p:cNvPr id="555" name="Text: Leonardo Booster"/>
          <p:cNvSpPr txBox="1"/>
          <p:nvPr/>
        </p:nvSpPr>
        <p:spPr>
          <a:xfrm>
            <a:off x="731520" y="1591056"/>
            <a:ext cx="3886200" cy="347472"/>
          </a:xfrm>
          <a:prstGeom prst="rect">
            <a:avLst/>
          </a:prstGeom>
          <a:noFill/>
        </p:spPr>
        <p:txBody>
          <a:bodyPr wrap="square" lIns="0" rIns="0" tIns="0" bIns="0" anchor="t">
            <a:spAutoFit/>
          </a:bodyPr>
          <a:lstStyle/>
          <a:p>
            <a:pPr algn="l">
              <a:lnSpc>
                <a:spcPct val="107000"/>
              </a:lnSpc>
              <a:spcBef>
                <a:spcPts val="0"/>
              </a:spcBef>
              <a:spcAft>
                <a:spcPts val="300"/>
              </a:spcAft>
              <a:buNone/>
            </a:pPr>
            <a:r>
              <a:rPr sz="2000" b="1">
                <a:solidFill>
                  <a:srgbClr val="134E2D"/>
                </a:solidFill>
                <a:latin typeface="Arial"/>
              </a:rPr>
              <a:t>Leonardo Booster</a:t>
            </a:r>
          </a:p>
        </p:txBody>
      </p:sp>
      <p:sp>
        <p:nvSpPr>
          <p:cNvPr id="556" name="Text: 1–32 A100 GPUs · CUDA + SYCL&#10;NVLink within nodes · InfiniBand acr"/>
          <p:cNvSpPr txBox="1"/>
          <p:nvPr/>
        </p:nvSpPr>
        <p:spPr>
          <a:xfrm>
            <a:off x="731520" y="2039112"/>
            <a:ext cx="3840480" cy="914400"/>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0">
                <a:solidFill>
                  <a:srgbClr val="2E2E2E"/>
                </a:solidFill>
                <a:latin typeface="Arial"/>
              </a:rPr>
              <a:t>1–32 A100 GPUs · CUDA + SYCL</a:t>
            </a:r>
          </a:p>
          <a:p>
            <a:pPr algn="l">
              <a:lnSpc>
                <a:spcPct val="107000"/>
              </a:lnSpc>
              <a:spcBef>
                <a:spcPts val="0"/>
              </a:spcBef>
              <a:spcAft>
                <a:spcPts val="300"/>
              </a:spcAft>
              <a:buNone/>
            </a:pPr>
            <a:r>
              <a:rPr sz="1500" b="0">
                <a:solidFill>
                  <a:srgbClr val="2E2E2E"/>
                </a:solidFill>
                <a:latin typeface="Arial"/>
              </a:rPr>
              <a:t>NVLink within nodes · InfiniBand across nodes</a:t>
            </a:r>
          </a:p>
        </p:txBody>
      </p:sp>
      <p:sp>
        <p:nvSpPr>
          <p:cNvPr id="557" name="Rounded Rectangle 556"/>
          <p:cNvSpPr/>
          <p:nvPr/>
        </p:nvSpPr>
        <p:spPr>
          <a:xfrm>
            <a:off x="4754880" y="1691640"/>
            <a:ext cx="1737360" cy="1417320"/>
          </a:xfrm>
          <a:prstGeom prst="roundRect">
            <a:avLst>
              <a:gd name="adj" fmla="val 12000"/>
            </a:avLst>
          </a:prstGeom>
          <a:solidFill>
            <a:srgbClr val="EEF5EE"/>
          </a:solidFill>
          <a:ln w="12700">
            <a:solidFill>
              <a:srgbClr val="134E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Text: Node 1"/>
          <p:cNvSpPr txBox="1"/>
          <p:nvPr/>
        </p:nvSpPr>
        <p:spPr>
          <a:xfrm>
            <a:off x="4901184" y="1801368"/>
            <a:ext cx="137160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1">
                <a:solidFill>
                  <a:srgbClr val="134E2D"/>
                </a:solidFill>
                <a:latin typeface="Arial"/>
              </a:rPr>
              <a:t>Node 1</a:t>
            </a:r>
          </a:p>
        </p:txBody>
      </p:sp>
      <p:sp>
        <p:nvSpPr>
          <p:cNvPr id="559" name="Rounded Rectangle 558"/>
          <p:cNvSpPr/>
          <p:nvPr/>
        </p:nvSpPr>
        <p:spPr>
          <a:xfrm>
            <a:off x="4901184" y="2221992"/>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 GPU"/>
          <p:cNvSpPr txBox="1"/>
          <p:nvPr/>
        </p:nvSpPr>
        <p:spPr>
          <a:xfrm>
            <a:off x="4965192" y="2249424"/>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61" name="Rounded Rectangle 560"/>
          <p:cNvSpPr/>
          <p:nvPr/>
        </p:nvSpPr>
        <p:spPr>
          <a:xfrm>
            <a:off x="5623560" y="2221992"/>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 GPU"/>
          <p:cNvSpPr txBox="1"/>
          <p:nvPr/>
        </p:nvSpPr>
        <p:spPr>
          <a:xfrm>
            <a:off x="5687568" y="2249424"/>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63" name="Rounded Rectangle 562"/>
          <p:cNvSpPr/>
          <p:nvPr/>
        </p:nvSpPr>
        <p:spPr>
          <a:xfrm>
            <a:off x="4901184" y="2615184"/>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 GPU"/>
          <p:cNvSpPr txBox="1"/>
          <p:nvPr/>
        </p:nvSpPr>
        <p:spPr>
          <a:xfrm>
            <a:off x="4965192" y="2642616"/>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65" name="Rounded Rectangle 564"/>
          <p:cNvSpPr/>
          <p:nvPr/>
        </p:nvSpPr>
        <p:spPr>
          <a:xfrm>
            <a:off x="5623560" y="2615184"/>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 GPU"/>
          <p:cNvSpPr txBox="1"/>
          <p:nvPr/>
        </p:nvSpPr>
        <p:spPr>
          <a:xfrm>
            <a:off x="5687568" y="2642616"/>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67" name="Rounded Rectangle 566"/>
          <p:cNvSpPr/>
          <p:nvPr/>
        </p:nvSpPr>
        <p:spPr>
          <a:xfrm>
            <a:off x="6784848" y="1691640"/>
            <a:ext cx="1737360" cy="1417320"/>
          </a:xfrm>
          <a:prstGeom prst="roundRect">
            <a:avLst>
              <a:gd name="adj" fmla="val 12000"/>
            </a:avLst>
          </a:prstGeom>
          <a:solidFill>
            <a:srgbClr val="EEF5EE"/>
          </a:solidFill>
          <a:ln w="12700">
            <a:solidFill>
              <a:srgbClr val="134E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 Node 2"/>
          <p:cNvSpPr txBox="1"/>
          <p:nvPr/>
        </p:nvSpPr>
        <p:spPr>
          <a:xfrm>
            <a:off x="6931152" y="1801368"/>
            <a:ext cx="137160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1">
                <a:solidFill>
                  <a:srgbClr val="134E2D"/>
                </a:solidFill>
                <a:latin typeface="Arial"/>
              </a:rPr>
              <a:t>Node 2</a:t>
            </a:r>
          </a:p>
        </p:txBody>
      </p:sp>
      <p:sp>
        <p:nvSpPr>
          <p:cNvPr id="569" name="Rounded Rectangle 568"/>
          <p:cNvSpPr/>
          <p:nvPr/>
        </p:nvSpPr>
        <p:spPr>
          <a:xfrm>
            <a:off x="6931152" y="2221992"/>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Text: GPU"/>
          <p:cNvSpPr txBox="1"/>
          <p:nvPr/>
        </p:nvSpPr>
        <p:spPr>
          <a:xfrm>
            <a:off x="6995160" y="2249424"/>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71" name="Rounded Rectangle 570"/>
          <p:cNvSpPr/>
          <p:nvPr/>
        </p:nvSpPr>
        <p:spPr>
          <a:xfrm>
            <a:off x="7653528" y="2221992"/>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Text: GPU"/>
          <p:cNvSpPr txBox="1"/>
          <p:nvPr/>
        </p:nvSpPr>
        <p:spPr>
          <a:xfrm>
            <a:off x="7717536" y="2249424"/>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73" name="Rounded Rectangle 572"/>
          <p:cNvSpPr/>
          <p:nvPr/>
        </p:nvSpPr>
        <p:spPr>
          <a:xfrm>
            <a:off x="6931152" y="2615184"/>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Text: GPU"/>
          <p:cNvSpPr txBox="1"/>
          <p:nvPr/>
        </p:nvSpPr>
        <p:spPr>
          <a:xfrm>
            <a:off x="6995160" y="2642616"/>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75" name="Rounded Rectangle 574"/>
          <p:cNvSpPr/>
          <p:nvPr/>
        </p:nvSpPr>
        <p:spPr>
          <a:xfrm>
            <a:off x="7653528" y="2615184"/>
            <a:ext cx="594360" cy="292608"/>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Text: GPU"/>
          <p:cNvSpPr txBox="1"/>
          <p:nvPr/>
        </p:nvSpPr>
        <p:spPr>
          <a:xfrm>
            <a:off x="7717536" y="2642616"/>
            <a:ext cx="466344" cy="2377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GPU</a:t>
            </a:r>
          </a:p>
        </p:txBody>
      </p:sp>
      <p:sp>
        <p:nvSpPr>
          <p:cNvPr id="577" name="Right Arrow 576"/>
          <p:cNvSpPr/>
          <p:nvPr/>
        </p:nvSpPr>
        <p:spPr>
          <a:xfrm>
            <a:off x="6510528" y="2295144"/>
            <a:ext cx="228600" cy="201168"/>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Text: Proxy-assisted NVSHMEM network posting"/>
          <p:cNvSpPr txBox="1"/>
          <p:nvPr/>
        </p:nvSpPr>
        <p:spPr>
          <a:xfrm>
            <a:off x="4736592" y="3319272"/>
            <a:ext cx="3767328" cy="484632"/>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1">
                <a:solidFill>
                  <a:srgbClr val="134E2D"/>
                </a:solidFill>
                <a:latin typeface="Arial"/>
              </a:rPr>
              <a:t>Proxy-assisted NVSHMEM network posting</a:t>
            </a:r>
          </a:p>
        </p:txBody>
      </p:sp>
      <p:sp>
        <p:nvSpPr>
          <p:cNvPr id="579" name="Text: Patterns → MoE / CG step → two sparse-matrix solves"/>
          <p:cNvSpPr txBox="1"/>
          <p:nvPr/>
        </p:nvSpPr>
        <p:spPr>
          <a:xfrm>
            <a:off x="731520" y="3108960"/>
            <a:ext cx="3657600" cy="786384"/>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Patterns → MoE / CG step → two sparse-matrix solves</a:t>
            </a:r>
          </a:p>
        </p:txBody>
      </p:sp>
      <p:sp>
        <p:nvSpPr>
          <p:cNvPr id="580" name="Text: 8n4g = 8 nodes × 4 GPUs per node. GPU count alone does not descri"/>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8n4g = 8 nodes × 4 GPUs per node. GPU count alone does not describe the path.</a:t>
            </a:r>
          </a:p>
        </p:txBody>
      </p:sp>
      <p:sp>
        <p:nvSpPr>
          <p:cNvPr id="581" name="Text: NCCL 2.18.5 · NVSHMEM 2.11.0 · common validation and completion-a"/>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NCCL 2.18.5 · NVSHMEM 2.11.0 · common validation and completion-aware timing; details in A1.</a:t>
            </a:r>
          </a:p>
        </p:txBody>
      </p:sp>
      <p:sp>
        <p:nvSpPr>
          <p:cNvPr id="582" name="Text: 08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08 / 14</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Text: BACKUP A4 · EXPLORATORY EVIDENCE"/>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BACKUP A4 · EXPLORATORY EVIDENCE</a:t>
            </a:r>
          </a:p>
        </p:txBody>
      </p:sp>
      <p:sp>
        <p:nvSpPr>
          <p:cNvPr id="575" name="Text: Newer NCCL: a follow-up candidate"/>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Newer NCCL: a follow-up candidate</a:t>
            </a:r>
          </a:p>
        </p:txBody>
      </p:sp>
      <p:sp>
        <p:nvSpPr>
          <p:cNvPr id="576" name="Text: 1n4g · supplied three-run medians · allreduce latency in µs ↓"/>
          <p:cNvSpPr txBox="1"/>
          <p:nvPr/>
        </p:nvSpPr>
        <p:spPr>
          <a:xfrm>
            <a:off x="603504" y="1316736"/>
            <a:ext cx="7936992" cy="356616"/>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526258"/>
                </a:solidFill>
                <a:latin typeface="Arial"/>
              </a:rPr>
              <a:t>1n4g · supplied three-run medians · allreduce latency in µs ↓</a:t>
            </a:r>
          </a:p>
        </p:txBody>
      </p:sp>
      <p:sp>
        <p:nvSpPr>
          <p:cNvPr id="577" name="Oval 576"/>
          <p:cNvSpPr/>
          <p:nvPr/>
        </p:nvSpPr>
        <p:spPr>
          <a:xfrm>
            <a:off x="749808" y="1833372"/>
            <a:ext cx="109728" cy="109728"/>
          </a:xfrm>
          <a:prstGeom prst="ellipse">
            <a:avLst/>
          </a:prstGeom>
          <a:solidFill>
            <a:srgbClr val="758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Text: 2.18.5 ordinary"/>
          <p:cNvSpPr txBox="1"/>
          <p:nvPr/>
        </p:nvSpPr>
        <p:spPr>
          <a:xfrm>
            <a:off x="932688" y="1792224"/>
            <a:ext cx="23042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2.18.5 ordinary</a:t>
            </a:r>
          </a:p>
        </p:txBody>
      </p:sp>
      <p:sp>
        <p:nvSpPr>
          <p:cNvPr id="579" name="Oval 578"/>
          <p:cNvSpPr/>
          <p:nvPr/>
        </p:nvSpPr>
        <p:spPr>
          <a:xfrm>
            <a:off x="3264408" y="1833372"/>
            <a:ext cx="109728" cy="109728"/>
          </a:xfrm>
          <a:prstGeom prst="ellipse">
            <a:avLst/>
          </a:prstGeom>
          <a:solidFill>
            <a:srgbClr val="277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Text: 2.31.2 ordinary"/>
          <p:cNvSpPr txBox="1"/>
          <p:nvPr/>
        </p:nvSpPr>
        <p:spPr>
          <a:xfrm>
            <a:off x="3447288" y="1792224"/>
            <a:ext cx="23042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2.31.2 ordinary</a:t>
            </a:r>
          </a:p>
        </p:txBody>
      </p:sp>
      <p:sp>
        <p:nvSpPr>
          <p:cNvPr id="581" name="Oval 580"/>
          <p:cNvSpPr/>
          <p:nvPr/>
        </p:nvSpPr>
        <p:spPr>
          <a:xfrm>
            <a:off x="5779008" y="1833372"/>
            <a:ext cx="109728" cy="109728"/>
          </a:xfrm>
          <a:prstGeom prst="ellipse">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Text: 2.31.2 symmetric"/>
          <p:cNvSpPr txBox="1"/>
          <p:nvPr/>
        </p:nvSpPr>
        <p:spPr>
          <a:xfrm>
            <a:off x="5961888" y="1792224"/>
            <a:ext cx="23042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2.31.2 symmetric</a:t>
            </a:r>
          </a:p>
        </p:txBody>
      </p:sp>
      <p:graphicFrame>
        <p:nvGraphicFramePr>
          <p:cNvPr id="583" name="Chart 582"/>
          <p:cNvGraphicFramePr>
            <a:graphicFrameLocks noGrp="1"/>
          </p:cNvGraphicFramePr>
          <p:nvPr/>
        </p:nvGraphicFramePr>
        <p:xfrm>
          <a:off x="594360" y="2084831"/>
          <a:ext cx="5001768" cy="1847088"/>
        </p:xfrm>
        <a:graphic>
          <a:graphicData uri="http://schemas.openxmlformats.org/drawingml/2006/chart">
            <c:chart r:id="rId3"/>
          </a:graphicData>
        </a:graphic>
      </p:graphicFrame>
      <p:sp>
        <p:nvSpPr>
          <p:cNvPr id="584" name="Text: Gain at small sizes&#10;Regression at 256 KiB"/>
          <p:cNvSpPr txBox="1"/>
          <p:nvPr/>
        </p:nvSpPr>
        <p:spPr>
          <a:xfrm>
            <a:off x="5888736" y="2423160"/>
            <a:ext cx="2587752" cy="75895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Gain at small sizes</a:t>
            </a:r>
          </a:p>
          <a:p>
            <a:pPr algn="l">
              <a:lnSpc>
                <a:spcPct val="107000"/>
              </a:lnSpc>
              <a:spcBef>
                <a:spcPts val="0"/>
              </a:spcBef>
              <a:spcAft>
                <a:spcPts val="300"/>
              </a:spcAft>
              <a:buNone/>
            </a:pPr>
            <a:r>
              <a:rPr sz="1700" b="1">
                <a:solidFill>
                  <a:srgbClr val="134E2D"/>
                </a:solidFill>
                <a:latin typeface="Arial"/>
              </a:rPr>
              <a:t>Regression at 256 KiB</a:t>
            </a:r>
          </a:p>
        </p:txBody>
      </p:sp>
      <p:sp>
        <p:nvSpPr>
          <p:cNvPr id="585" name="Text: Small all-to-all does not&#10;share the small-size gain."/>
          <p:cNvSpPr txBox="1"/>
          <p:nvPr/>
        </p:nvSpPr>
        <p:spPr>
          <a:xfrm>
            <a:off x="5888736" y="3383280"/>
            <a:ext cx="2587752" cy="47548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2E2E2E"/>
                </a:solidFill>
                <a:latin typeface="Arial"/>
              </a:rPr>
              <a:t>Small all-to-all does not</a:t>
            </a:r>
          </a:p>
          <a:p>
            <a:pPr algn="l">
              <a:lnSpc>
                <a:spcPct val="107000"/>
              </a:lnSpc>
              <a:spcBef>
                <a:spcPts val="0"/>
              </a:spcBef>
              <a:spcAft>
                <a:spcPts val="300"/>
              </a:spcAft>
              <a:buNone/>
            </a:pPr>
            <a:r>
              <a:rPr sz="1300" b="0">
                <a:solidFill>
                  <a:srgbClr val="2E2E2E"/>
                </a:solidFill>
                <a:latin typeface="Arial"/>
              </a:rPr>
              <a:t>share the small-size gain.</a:t>
            </a:r>
          </a:p>
        </p:txBody>
      </p:sp>
      <p:sp>
        <p:nvSpPr>
          <p:cNvPr id="586" name="Text: Symmetric allocation / registration does not establish device-sid"/>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Symmetric allocation / registration does not establish device-side invocation.</a:t>
            </a:r>
          </a:p>
        </p:txBody>
      </p:sp>
      <p:sp>
        <p:nvSpPr>
          <p:cNvPr id="587" name="Text: Source: appendix, nccl-preliminary.tex. Invocation, datatype, ful"/>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 appendix, nccl-preliminary.tex. Invocation, datatype, full timing contract, and individual trials unavailable.</a:t>
            </a:r>
          </a:p>
        </p:txBody>
      </p:sp>
      <p:sp>
        <p:nvSpPr>
          <p:cNvPr id="588" name="Text: A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A4</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Text: CONTRIBUTIONS"/>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CONTRIBUTIONS</a:t>
            </a:r>
          </a:p>
        </p:txBody>
      </p:sp>
      <p:sp>
        <p:nvSpPr>
          <p:cNvPr id="581" name="Text: What I built and evaluated"/>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What I built and evaluated</a:t>
            </a:r>
          </a:p>
        </p:txBody>
      </p:sp>
      <p:sp>
        <p:nvSpPr>
          <p:cNvPr id="582" name="Rounded Rectangle 581"/>
          <p:cNvSpPr/>
          <p:nvPr/>
        </p:nvSpPr>
        <p:spPr>
          <a:xfrm>
            <a:off x="594360" y="1609344"/>
            <a:ext cx="2468880" cy="2350008"/>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Text: Unified benchmark"/>
          <p:cNvSpPr txBox="1"/>
          <p:nvPr/>
        </p:nvSpPr>
        <p:spPr>
          <a:xfrm>
            <a:off x="731520" y="1755648"/>
            <a:ext cx="2194560"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Unified benchmark</a:t>
            </a:r>
          </a:p>
        </p:txBody>
      </p:sp>
      <p:sp>
        <p:nvSpPr>
          <p:cNvPr id="584" name="Text: CUDA + SYCL&#10;Seven configured stacks&#10;Primitive + composite pattern"/>
          <p:cNvSpPr txBox="1"/>
          <p:nvPr/>
        </p:nvSpPr>
        <p:spPr>
          <a:xfrm>
            <a:off x="749808" y="2459736"/>
            <a:ext cx="2157984" cy="1408175"/>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CUDA + SYCL</a:t>
            </a:r>
          </a:p>
          <a:p>
            <a:pPr algn="l">
              <a:lnSpc>
                <a:spcPct val="107000"/>
              </a:lnSpc>
              <a:spcBef>
                <a:spcPts val="0"/>
              </a:spcBef>
              <a:spcAft>
                <a:spcPts val="300"/>
              </a:spcAft>
              <a:buNone/>
            </a:pPr>
            <a:r>
              <a:rPr sz="1400" b="0">
                <a:solidFill>
                  <a:srgbClr val="2E2E2E"/>
                </a:solidFill>
                <a:latin typeface="Arial"/>
              </a:rPr>
              <a:t>Seven configured stacks</a:t>
            </a:r>
          </a:p>
          <a:p>
            <a:pPr algn="l">
              <a:lnSpc>
                <a:spcPct val="107000"/>
              </a:lnSpc>
              <a:spcBef>
                <a:spcPts val="0"/>
              </a:spcBef>
              <a:spcAft>
                <a:spcPts val="300"/>
              </a:spcAft>
              <a:buNone/>
            </a:pPr>
            <a:r>
              <a:rPr sz="1400" b="0">
                <a:solidFill>
                  <a:srgbClr val="2E2E2E"/>
                </a:solidFill>
                <a:latin typeface="Arial"/>
              </a:rPr>
              <a:t>Primitive + composite patterns</a:t>
            </a:r>
          </a:p>
        </p:txBody>
      </p:sp>
      <p:sp>
        <p:nvSpPr>
          <p:cNvPr id="585" name="Rounded Rectangle 584"/>
          <p:cNvSpPr/>
          <p:nvPr/>
        </p:nvSpPr>
        <p:spPr>
          <a:xfrm>
            <a:off x="3337560" y="1609344"/>
            <a:ext cx="2468880" cy="2350008"/>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Text: oneCCL extensions"/>
          <p:cNvSpPr txBox="1"/>
          <p:nvPr/>
        </p:nvSpPr>
        <p:spPr>
          <a:xfrm>
            <a:off x="3474720" y="1755648"/>
            <a:ext cx="2194560"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oneCCL extensions</a:t>
            </a:r>
          </a:p>
        </p:txBody>
      </p:sp>
      <p:sp>
        <p:nvSpPr>
          <p:cNvPr id="587" name="Text: Grouped NCCL point-to-point&#10;OSHMPI operation support&#10;NVSHMEM runt"/>
          <p:cNvSpPr txBox="1"/>
          <p:nvPr/>
        </p:nvSpPr>
        <p:spPr>
          <a:xfrm>
            <a:off x="3493008" y="2459736"/>
            <a:ext cx="2157984" cy="1408175"/>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Grouped NCCL point-to-point</a:t>
            </a:r>
          </a:p>
          <a:p>
            <a:pPr algn="l">
              <a:lnSpc>
                <a:spcPct val="107000"/>
              </a:lnSpc>
              <a:spcBef>
                <a:spcPts val="0"/>
              </a:spcBef>
              <a:spcAft>
                <a:spcPts val="300"/>
              </a:spcAft>
              <a:buNone/>
            </a:pPr>
            <a:r>
              <a:rPr sz="1400" b="0">
                <a:solidFill>
                  <a:srgbClr val="2E2E2E"/>
                </a:solidFill>
                <a:latin typeface="Arial"/>
              </a:rPr>
              <a:t>OSHMPI operation support</a:t>
            </a:r>
          </a:p>
          <a:p>
            <a:pPr algn="l">
              <a:lnSpc>
                <a:spcPct val="107000"/>
              </a:lnSpc>
              <a:spcBef>
                <a:spcPts val="0"/>
              </a:spcBef>
              <a:spcAft>
                <a:spcPts val="300"/>
              </a:spcAft>
              <a:buNone/>
            </a:pPr>
            <a:r>
              <a:rPr sz="1400" b="0">
                <a:solidFill>
                  <a:srgbClr val="2E2E2E"/>
                </a:solidFill>
                <a:latin typeface="Arial"/>
              </a:rPr>
              <a:t>NVSHMEM runtime foundation</a:t>
            </a:r>
          </a:p>
        </p:txBody>
      </p:sp>
      <p:sp>
        <p:nvSpPr>
          <p:cNvPr id="588" name="Rounded Rectangle 587"/>
          <p:cNvSpPr/>
          <p:nvPr/>
        </p:nvSpPr>
        <p:spPr>
          <a:xfrm>
            <a:off x="6080760" y="1609344"/>
            <a:ext cx="2468880" cy="2350008"/>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Text: Application extensions"/>
          <p:cNvSpPr txBox="1"/>
          <p:nvPr/>
        </p:nvSpPr>
        <p:spPr>
          <a:xfrm>
            <a:off x="6217920" y="1755648"/>
            <a:ext cx="2194560"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Application extensions</a:t>
            </a:r>
          </a:p>
        </p:txBody>
      </p:sp>
      <p:sp>
        <p:nvSpPr>
          <p:cNvPr id="590" name="Text: OSHMPI halo communicator&#10;SYCL implementation of aCG&#10;Complete-solv"/>
          <p:cNvSpPr txBox="1"/>
          <p:nvPr/>
        </p:nvSpPr>
        <p:spPr>
          <a:xfrm>
            <a:off x="6236208" y="2459736"/>
            <a:ext cx="2157984" cy="1408175"/>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OSHMPI halo communicator</a:t>
            </a:r>
          </a:p>
          <a:p>
            <a:pPr algn="l">
              <a:lnSpc>
                <a:spcPct val="107000"/>
              </a:lnSpc>
              <a:spcBef>
                <a:spcPts val="0"/>
              </a:spcBef>
              <a:spcAft>
                <a:spcPts val="300"/>
              </a:spcAft>
              <a:buNone/>
            </a:pPr>
            <a:r>
              <a:rPr sz="1400" b="0">
                <a:solidFill>
                  <a:srgbClr val="2E2E2E"/>
                </a:solidFill>
                <a:latin typeface="Arial"/>
              </a:rPr>
              <a:t>SYCL implementation of aCG</a:t>
            </a:r>
          </a:p>
          <a:p>
            <a:pPr algn="l">
              <a:lnSpc>
                <a:spcPct val="107000"/>
              </a:lnSpc>
              <a:spcBef>
                <a:spcPts val="0"/>
              </a:spcBef>
              <a:spcAft>
                <a:spcPts val="300"/>
              </a:spcAft>
              <a:buNone/>
            </a:pPr>
            <a:r>
              <a:rPr sz="1400" b="0">
                <a:solidFill>
                  <a:srgbClr val="2E2E2E"/>
                </a:solidFill>
                <a:latin typeface="Arial"/>
              </a:rPr>
              <a:t>Complete-solver validation</a:t>
            </a:r>
          </a:p>
        </p:txBody>
      </p:sp>
      <p:sp>
        <p:nvSpPr>
          <p:cNvPr id="591" name="Text: Measured operation paths"/>
          <p:cNvSpPr txBox="1"/>
          <p:nvPr/>
        </p:nvSpPr>
        <p:spPr>
          <a:xfrm>
            <a:off x="777240" y="4105656"/>
            <a:ext cx="352044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1">
                <a:solidFill>
                  <a:srgbClr val="134E2D"/>
                </a:solidFill>
                <a:latin typeface="Arial"/>
              </a:rPr>
              <a:t>Measured operation paths</a:t>
            </a:r>
          </a:p>
        </p:txBody>
      </p:sp>
      <p:sp>
        <p:nvSpPr>
          <p:cNvPr id="592" name="Text: NVSHMEM adapter: runtime validated; operations unsupported"/>
          <p:cNvSpPr txBox="1"/>
          <p:nvPr/>
        </p:nvSpPr>
        <p:spPr>
          <a:xfrm>
            <a:off x="3950208" y="4078224"/>
            <a:ext cx="4370832" cy="374904"/>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526258"/>
                </a:solidFill>
                <a:latin typeface="Arial"/>
              </a:rPr>
              <a:t>NVSHMEM adapter: runtime validated; operations unsupported</a:t>
            </a:r>
          </a:p>
        </p:txBody>
      </p:sp>
      <p:sp>
        <p:nvSpPr>
          <p:cNvPr id="593" name="Text: Thesis Ch. 1: five contributions. Artifact references and impleme"/>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Thesis Ch. 1: five contributions. Artifact references and implementation status in the notes.</a:t>
            </a:r>
          </a:p>
        </p:txBody>
      </p:sp>
      <p:sp>
        <p:nvSpPr>
          <p:cNvPr id="594" name="Text: 07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07 / 14</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Text: DEFINITION"/>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DEFINITION</a:t>
            </a:r>
          </a:p>
        </p:txBody>
      </p:sp>
      <p:sp>
        <p:nvSpPr>
          <p:cNvPr id="617" name="Text: Move the call into the kernel"/>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Move the call into the kernel</a:t>
            </a:r>
          </a:p>
        </p:txBody>
      </p:sp>
      <p:sp>
        <p:nvSpPr>
          <p:cNvPr id="618" name="Text: GPU-initiated communication: GPU threads issue the communication "/>
          <p:cNvSpPr txBox="1"/>
          <p:nvPr/>
        </p:nvSpPr>
        <p:spPr>
          <a:xfrm>
            <a:off x="603504" y="1316736"/>
            <a:ext cx="7936992" cy="356616"/>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526258"/>
                </a:solidFill>
                <a:latin typeface="Arial"/>
              </a:rPr>
              <a:t>GPU-initiated communication: GPU threads issue the communication operation.</a:t>
            </a:r>
          </a:p>
        </p:txBody>
      </p:sp>
      <p:sp>
        <p:nvSpPr>
          <p:cNvPr id="619" name="Text: Host-orchestrated path"/>
          <p:cNvSpPr txBox="1"/>
          <p:nvPr/>
        </p:nvSpPr>
        <p:spPr>
          <a:xfrm>
            <a:off x="713232" y="1837943"/>
            <a:ext cx="3657600"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Host-orchestrated path</a:t>
            </a:r>
          </a:p>
        </p:txBody>
      </p:sp>
      <p:sp>
        <p:nvSpPr>
          <p:cNvPr id="620" name="Rounded Rectangle 619"/>
          <p:cNvSpPr/>
          <p:nvPr/>
        </p:nvSpPr>
        <p:spPr>
          <a:xfrm>
            <a:off x="731520" y="2267712"/>
            <a:ext cx="1481328" cy="521207"/>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Text: Compute"/>
          <p:cNvSpPr txBox="1"/>
          <p:nvPr/>
        </p:nvSpPr>
        <p:spPr>
          <a:xfrm>
            <a:off x="795528" y="2295144"/>
            <a:ext cx="1353312" cy="4663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1300" b="1">
                <a:solidFill>
                  <a:srgbClr val="FFFFFF"/>
                </a:solidFill>
                <a:latin typeface="Arial"/>
              </a:rPr>
              <a:t>Compute</a:t>
            </a:r>
          </a:p>
        </p:txBody>
      </p:sp>
      <p:sp>
        <p:nvSpPr>
          <p:cNvPr id="622" name="Right Arrow 621"/>
          <p:cNvSpPr/>
          <p:nvPr/>
        </p:nvSpPr>
        <p:spPr>
          <a:xfrm>
            <a:off x="2331720" y="2450592"/>
            <a:ext cx="329184" cy="164592"/>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Rounded Rectangle 622"/>
          <p:cNvSpPr/>
          <p:nvPr/>
        </p:nvSpPr>
        <p:spPr>
          <a:xfrm>
            <a:off x="2788920" y="2267712"/>
            <a:ext cx="1481328" cy="521207"/>
          </a:xfrm>
          <a:prstGeom prst="roundRect">
            <a:avLst>
              <a:gd name="adj" fmla="val 12000"/>
            </a:avLst>
          </a:prstGeom>
          <a:solidFill>
            <a:srgbClr val="758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Text: CPU submits"/>
          <p:cNvSpPr txBox="1"/>
          <p:nvPr/>
        </p:nvSpPr>
        <p:spPr>
          <a:xfrm>
            <a:off x="2852927" y="2295144"/>
            <a:ext cx="1353312" cy="4663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1300" b="1">
                <a:solidFill>
                  <a:srgbClr val="FFFFFF"/>
                </a:solidFill>
                <a:latin typeface="Arial"/>
              </a:rPr>
              <a:t>CPU submits</a:t>
            </a:r>
          </a:p>
        </p:txBody>
      </p:sp>
      <p:sp>
        <p:nvSpPr>
          <p:cNvPr id="625" name="Right Arrow 624"/>
          <p:cNvSpPr/>
          <p:nvPr/>
        </p:nvSpPr>
        <p:spPr>
          <a:xfrm>
            <a:off x="4389120" y="2450592"/>
            <a:ext cx="329184" cy="164592"/>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Rounded Rectangle 625"/>
          <p:cNvSpPr/>
          <p:nvPr/>
        </p:nvSpPr>
        <p:spPr>
          <a:xfrm>
            <a:off x="4846320" y="2267712"/>
            <a:ext cx="1481328" cy="521207"/>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Text: Communicate"/>
          <p:cNvSpPr txBox="1"/>
          <p:nvPr/>
        </p:nvSpPr>
        <p:spPr>
          <a:xfrm>
            <a:off x="4910328" y="2295144"/>
            <a:ext cx="1353312" cy="4663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1300" b="1">
                <a:solidFill>
                  <a:srgbClr val="FFFFFF"/>
                </a:solidFill>
                <a:latin typeface="Arial"/>
              </a:rPr>
              <a:t>Communicate</a:t>
            </a:r>
          </a:p>
        </p:txBody>
      </p:sp>
      <p:sp>
        <p:nvSpPr>
          <p:cNvPr id="628" name="Right Arrow 627"/>
          <p:cNvSpPr/>
          <p:nvPr/>
        </p:nvSpPr>
        <p:spPr>
          <a:xfrm>
            <a:off x="6446520" y="2450592"/>
            <a:ext cx="329184" cy="164592"/>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Rounded Rectangle 628"/>
          <p:cNvSpPr/>
          <p:nvPr/>
        </p:nvSpPr>
        <p:spPr>
          <a:xfrm>
            <a:off x="6903720" y="2267712"/>
            <a:ext cx="1481328" cy="521207"/>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Text: Compute"/>
          <p:cNvSpPr txBox="1"/>
          <p:nvPr/>
        </p:nvSpPr>
        <p:spPr>
          <a:xfrm>
            <a:off x="6967728" y="2295144"/>
            <a:ext cx="1353312" cy="466344"/>
          </a:xfrm>
          <a:prstGeom prst="rect">
            <a:avLst/>
          </a:prstGeom>
          <a:noFill/>
        </p:spPr>
        <p:txBody>
          <a:bodyPr wrap="square" lIns="0" rIns="0" tIns="0" bIns="0" anchor="ctr">
            <a:spAutoFit/>
          </a:bodyPr>
          <a:lstStyle/>
          <a:p>
            <a:pPr algn="ctr">
              <a:lnSpc>
                <a:spcPct val="107000"/>
              </a:lnSpc>
              <a:spcBef>
                <a:spcPts val="0"/>
              </a:spcBef>
              <a:spcAft>
                <a:spcPts val="300"/>
              </a:spcAft>
              <a:buNone/>
            </a:pPr>
            <a:r>
              <a:rPr sz="1300" b="1">
                <a:solidFill>
                  <a:srgbClr val="FFFFFF"/>
                </a:solidFill>
                <a:latin typeface="Arial"/>
              </a:rPr>
              <a:t>Compute</a:t>
            </a:r>
          </a:p>
        </p:txBody>
      </p:sp>
      <p:sp>
        <p:nvSpPr>
          <p:cNvPr id="631" name="Text: Persistent GPU work"/>
          <p:cNvSpPr txBox="1"/>
          <p:nvPr/>
        </p:nvSpPr>
        <p:spPr>
          <a:xfrm>
            <a:off x="713232" y="3072384"/>
            <a:ext cx="3657600" cy="274320"/>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Persistent GPU work</a:t>
            </a:r>
          </a:p>
        </p:txBody>
      </p:sp>
      <p:sp>
        <p:nvSpPr>
          <p:cNvPr id="632" name="Rounded Rectangle 631"/>
          <p:cNvSpPr/>
          <p:nvPr/>
        </p:nvSpPr>
        <p:spPr>
          <a:xfrm>
            <a:off x="731520" y="3538728"/>
            <a:ext cx="7644383" cy="640080"/>
          </a:xfrm>
          <a:prstGeom prst="roundRect">
            <a:avLst>
              <a:gd name="adj" fmla="val 12000"/>
            </a:avLst>
          </a:prstGeom>
          <a:solidFill>
            <a:srgbClr val="EEF5EE"/>
          </a:solidFill>
          <a:ln w="12700">
            <a:solidFill>
              <a:srgbClr val="0790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Text: Compute"/>
          <p:cNvSpPr txBox="1"/>
          <p:nvPr/>
        </p:nvSpPr>
        <p:spPr>
          <a:xfrm>
            <a:off x="914400" y="3721608"/>
            <a:ext cx="1371600" cy="256032"/>
          </a:xfrm>
          <a:prstGeom prst="rect">
            <a:avLst/>
          </a:prstGeom>
          <a:noFill/>
        </p:spPr>
        <p:txBody>
          <a:bodyPr wrap="square" lIns="0" rIns="0" tIns="0" bIns="0" anchor="t">
            <a:spAutoFit/>
          </a:bodyPr>
          <a:lstStyle/>
          <a:p>
            <a:pPr algn="ctr">
              <a:lnSpc>
                <a:spcPct val="107000"/>
              </a:lnSpc>
              <a:spcBef>
                <a:spcPts val="0"/>
              </a:spcBef>
              <a:spcAft>
                <a:spcPts val="300"/>
              </a:spcAft>
              <a:buNone/>
            </a:pPr>
            <a:r>
              <a:rPr sz="1400" b="1">
                <a:solidFill>
                  <a:srgbClr val="134E2D"/>
                </a:solidFill>
                <a:latin typeface="Arial"/>
              </a:rPr>
              <a:t>Compute</a:t>
            </a:r>
          </a:p>
        </p:txBody>
      </p:sp>
      <p:sp>
        <p:nvSpPr>
          <p:cNvPr id="634" name="Right Arrow 633"/>
          <p:cNvSpPr/>
          <p:nvPr/>
        </p:nvSpPr>
        <p:spPr>
          <a:xfrm>
            <a:off x="2359152" y="3758184"/>
            <a:ext cx="274320" cy="137160"/>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Text: Issue transfer"/>
          <p:cNvSpPr txBox="1"/>
          <p:nvPr/>
        </p:nvSpPr>
        <p:spPr>
          <a:xfrm>
            <a:off x="2816352" y="3721608"/>
            <a:ext cx="1371600" cy="256032"/>
          </a:xfrm>
          <a:prstGeom prst="rect">
            <a:avLst/>
          </a:prstGeom>
          <a:noFill/>
        </p:spPr>
        <p:txBody>
          <a:bodyPr wrap="square" lIns="0" rIns="0" tIns="0" bIns="0" anchor="t">
            <a:spAutoFit/>
          </a:bodyPr>
          <a:lstStyle/>
          <a:p>
            <a:pPr algn="ctr">
              <a:lnSpc>
                <a:spcPct val="107000"/>
              </a:lnSpc>
              <a:spcBef>
                <a:spcPts val="0"/>
              </a:spcBef>
              <a:spcAft>
                <a:spcPts val="300"/>
              </a:spcAft>
              <a:buNone/>
            </a:pPr>
            <a:r>
              <a:rPr sz="1400" b="1">
                <a:solidFill>
                  <a:srgbClr val="134E2D"/>
                </a:solidFill>
                <a:latin typeface="Arial"/>
              </a:rPr>
              <a:t>Issue transfer</a:t>
            </a:r>
          </a:p>
        </p:txBody>
      </p:sp>
      <p:sp>
        <p:nvSpPr>
          <p:cNvPr id="636" name="Right Arrow 635"/>
          <p:cNvSpPr/>
          <p:nvPr/>
        </p:nvSpPr>
        <p:spPr>
          <a:xfrm>
            <a:off x="4261104" y="3758184"/>
            <a:ext cx="274320" cy="137160"/>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Text: Wait / signal"/>
          <p:cNvSpPr txBox="1"/>
          <p:nvPr/>
        </p:nvSpPr>
        <p:spPr>
          <a:xfrm>
            <a:off x="4718304" y="3721608"/>
            <a:ext cx="1371600" cy="256032"/>
          </a:xfrm>
          <a:prstGeom prst="rect">
            <a:avLst/>
          </a:prstGeom>
          <a:noFill/>
        </p:spPr>
        <p:txBody>
          <a:bodyPr wrap="square" lIns="0" rIns="0" tIns="0" bIns="0" anchor="t">
            <a:spAutoFit/>
          </a:bodyPr>
          <a:lstStyle/>
          <a:p>
            <a:pPr algn="ctr">
              <a:lnSpc>
                <a:spcPct val="107000"/>
              </a:lnSpc>
              <a:spcBef>
                <a:spcPts val="0"/>
              </a:spcBef>
              <a:spcAft>
                <a:spcPts val="300"/>
              </a:spcAft>
              <a:buNone/>
            </a:pPr>
            <a:r>
              <a:rPr sz="1400" b="1">
                <a:solidFill>
                  <a:srgbClr val="134E2D"/>
                </a:solidFill>
                <a:latin typeface="Arial"/>
              </a:rPr>
              <a:t>Wait / signal</a:t>
            </a:r>
          </a:p>
        </p:txBody>
      </p:sp>
      <p:sp>
        <p:nvSpPr>
          <p:cNvPr id="638" name="Right Arrow 637"/>
          <p:cNvSpPr/>
          <p:nvPr/>
        </p:nvSpPr>
        <p:spPr>
          <a:xfrm>
            <a:off x="6163056" y="3758184"/>
            <a:ext cx="274320" cy="137160"/>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Text: Consume"/>
          <p:cNvSpPr txBox="1"/>
          <p:nvPr/>
        </p:nvSpPr>
        <p:spPr>
          <a:xfrm>
            <a:off x="6620256" y="3721608"/>
            <a:ext cx="1371600" cy="256032"/>
          </a:xfrm>
          <a:prstGeom prst="rect">
            <a:avLst/>
          </a:prstGeom>
          <a:noFill/>
        </p:spPr>
        <p:txBody>
          <a:bodyPr wrap="square" lIns="0" rIns="0" tIns="0" bIns="0" anchor="t">
            <a:spAutoFit/>
          </a:bodyPr>
          <a:lstStyle/>
          <a:p>
            <a:pPr algn="ctr">
              <a:lnSpc>
                <a:spcPct val="107000"/>
              </a:lnSpc>
              <a:spcBef>
                <a:spcPts val="0"/>
              </a:spcBef>
              <a:spcAft>
                <a:spcPts val="300"/>
              </a:spcAft>
              <a:buNone/>
            </a:pPr>
            <a:r>
              <a:rPr sz="1400" b="1">
                <a:solidFill>
                  <a:srgbClr val="134E2D"/>
                </a:solidFill>
                <a:latin typeface="Arial"/>
              </a:rPr>
              <a:t>Consume</a:t>
            </a:r>
          </a:p>
        </p:txBody>
      </p:sp>
      <p:sp>
        <p:nvSpPr>
          <p:cNvPr id="640" name="Text: GPU-aware memory ≠ GPU initiation. Device initiation can still us"/>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GPU-aware memory ≠ GPU initiation. Device initiation can still use CPU-proxy network progress.</a:t>
            </a:r>
          </a:p>
        </p:txBody>
      </p:sp>
      <p:sp>
        <p:nvSpPr>
          <p:cNvPr id="641" name="Text: 03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03 / 14</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Text: FINDING 1 · GPU INITIATION"/>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FINDING 1 · GPU INITIATION</a:t>
            </a:r>
          </a:p>
        </p:txBody>
      </p:sp>
      <p:sp>
        <p:nvSpPr>
          <p:cNvPr id="626" name="Text: Persistence helps regular halos"/>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Persistence helps regular halos</a:t>
            </a:r>
          </a:p>
        </p:txBody>
      </p:sp>
      <p:sp>
        <p:nvSpPr>
          <p:cNvPr id="627" name="Oval 626"/>
          <p:cNvSpPr/>
          <p:nvPr/>
        </p:nvSpPr>
        <p:spPr>
          <a:xfrm>
            <a:off x="749808" y="1495044"/>
            <a:ext cx="109728" cy="109728"/>
          </a:xfrm>
          <a:prstGeom prst="ellipse">
            <a:avLst/>
          </a:prstGeom>
          <a:solidFill>
            <a:srgbClr val="277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Text: CUDA MPI"/>
          <p:cNvSpPr txBox="1"/>
          <p:nvPr/>
        </p:nvSpPr>
        <p:spPr>
          <a:xfrm>
            <a:off x="932688" y="1453896"/>
            <a:ext cx="178308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CUDA MPI</a:t>
            </a:r>
          </a:p>
        </p:txBody>
      </p:sp>
      <p:sp>
        <p:nvSpPr>
          <p:cNvPr id="629" name="Oval 628"/>
          <p:cNvSpPr/>
          <p:nvPr/>
        </p:nvSpPr>
        <p:spPr>
          <a:xfrm>
            <a:off x="2743200" y="1495044"/>
            <a:ext cx="109728" cy="109728"/>
          </a:xfrm>
          <a:prstGeom prst="ellipse">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Text: Device NVSHMEM"/>
          <p:cNvSpPr txBox="1"/>
          <p:nvPr/>
        </p:nvSpPr>
        <p:spPr>
          <a:xfrm>
            <a:off x="2926080" y="1453896"/>
            <a:ext cx="178308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Device NVSHMEM</a:t>
            </a:r>
          </a:p>
        </p:txBody>
      </p:sp>
      <p:sp>
        <p:nvSpPr>
          <p:cNvPr id="631" name="Oval 630"/>
          <p:cNvSpPr/>
          <p:nvPr/>
        </p:nvSpPr>
        <p:spPr>
          <a:xfrm>
            <a:off x="4736592" y="1495044"/>
            <a:ext cx="109728" cy="109728"/>
          </a:xfrm>
          <a:prstGeom prst="ellipse">
            <a:avLst/>
          </a:prstGeom>
          <a:solidFill>
            <a:srgbClr val="758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Text: OSHMPI"/>
          <p:cNvSpPr txBox="1"/>
          <p:nvPr/>
        </p:nvSpPr>
        <p:spPr>
          <a:xfrm>
            <a:off x="4919472" y="1453896"/>
            <a:ext cx="178308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OSHMPI</a:t>
            </a:r>
          </a:p>
        </p:txBody>
      </p:sp>
      <p:graphicFrame>
        <p:nvGraphicFramePr>
          <p:cNvPr id="633" name="Chart 632"/>
          <p:cNvGraphicFramePr>
            <a:graphicFrameLocks noGrp="1"/>
          </p:cNvGraphicFramePr>
          <p:nvPr/>
        </p:nvGraphicFramePr>
        <p:xfrm>
          <a:off x="548640" y="1810512"/>
          <a:ext cx="5349240" cy="2103120"/>
        </p:xfrm>
        <a:graphic>
          <a:graphicData uri="http://schemas.openxmlformats.org/drawingml/2006/chart">
            <c:chart r:id="rId3"/>
          </a:graphicData>
        </a:graphic>
      </p:graphicFrame>
      <p:sp>
        <p:nvSpPr>
          <p:cNvPr id="634" name="Text: 40.6"/>
          <p:cNvSpPr txBox="1"/>
          <p:nvPr/>
        </p:nvSpPr>
        <p:spPr>
          <a:xfrm>
            <a:off x="6263640" y="1920240"/>
            <a:ext cx="1828800" cy="969264"/>
          </a:xfrm>
          <a:prstGeom prst="rect">
            <a:avLst/>
          </a:prstGeom>
          <a:noFill/>
        </p:spPr>
        <p:txBody>
          <a:bodyPr wrap="square" lIns="0" rIns="0" tIns="0" bIns="0" anchor="t">
            <a:spAutoFit/>
          </a:bodyPr>
          <a:lstStyle/>
          <a:p>
            <a:pPr algn="l">
              <a:lnSpc>
                <a:spcPct val="107000"/>
              </a:lnSpc>
              <a:spcBef>
                <a:spcPts val="0"/>
              </a:spcBef>
              <a:spcAft>
                <a:spcPts val="300"/>
              </a:spcAft>
              <a:buNone/>
            </a:pPr>
            <a:r>
              <a:rPr sz="5400" b="1">
                <a:solidFill>
                  <a:srgbClr val="07902A"/>
                </a:solidFill>
                <a:latin typeface="Arial"/>
              </a:rPr>
              <a:t>40.6</a:t>
            </a:r>
          </a:p>
        </p:txBody>
      </p:sp>
      <p:sp>
        <p:nvSpPr>
          <p:cNvPr id="635" name="Text: GB/s at 8n4g"/>
          <p:cNvSpPr txBox="1"/>
          <p:nvPr/>
        </p:nvSpPr>
        <p:spPr>
          <a:xfrm>
            <a:off x="6291072" y="2834640"/>
            <a:ext cx="1938528" cy="320040"/>
          </a:xfrm>
          <a:prstGeom prst="rect">
            <a:avLst/>
          </a:prstGeom>
          <a:noFill/>
        </p:spPr>
        <p:txBody>
          <a:bodyPr wrap="square" lIns="0" rIns="0" tIns="0" bIns="0" anchor="t">
            <a:spAutoFit/>
          </a:bodyPr>
          <a:lstStyle/>
          <a:p>
            <a:pPr algn="l">
              <a:lnSpc>
                <a:spcPct val="107000"/>
              </a:lnSpc>
              <a:spcBef>
                <a:spcPts val="0"/>
              </a:spcBef>
              <a:spcAft>
                <a:spcPts val="300"/>
              </a:spcAft>
              <a:buNone/>
            </a:pPr>
            <a:r>
              <a:rPr sz="1800" b="1">
                <a:solidFill>
                  <a:srgbClr val="134E2D"/>
                </a:solidFill>
                <a:latin typeface="Arial"/>
              </a:rPr>
              <a:t>GB/s at 8n4g</a:t>
            </a:r>
          </a:p>
        </p:txBody>
      </p:sp>
      <p:sp>
        <p:nvSpPr>
          <p:cNvPr id="636" name="Text: MPI: 35.7 GB/s&#10;100-exchange batches"/>
          <p:cNvSpPr txBox="1"/>
          <p:nvPr/>
        </p:nvSpPr>
        <p:spPr>
          <a:xfrm>
            <a:off x="6291072" y="3346704"/>
            <a:ext cx="2103120" cy="585216"/>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MPI: 35.7 GB/s</a:t>
            </a:r>
          </a:p>
          <a:p>
            <a:pPr algn="l">
              <a:lnSpc>
                <a:spcPct val="107000"/>
              </a:lnSpc>
              <a:spcBef>
                <a:spcPts val="0"/>
              </a:spcBef>
              <a:spcAft>
                <a:spcPts val="300"/>
              </a:spcAft>
              <a:buNone/>
            </a:pPr>
            <a:r>
              <a:rPr sz="1400" b="0">
                <a:solidFill>
                  <a:srgbClr val="2E2E2E"/>
                </a:solidFill>
                <a:latin typeface="Arial"/>
              </a:rPr>
              <a:t>100-exchange batches</a:t>
            </a:r>
          </a:p>
        </p:txBody>
      </p:sp>
      <p:sp>
        <p:nvSpPr>
          <p:cNvPr id="637" name="Text: The favorable regime is sustained neighbor traffic; small / isola"/>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The favorable regime is sustained neighbor traffic; small / isolated exchanges favor MPI.</a:t>
            </a:r>
          </a:p>
        </p:txBody>
      </p:sp>
      <p:sp>
        <p:nvSpPr>
          <p:cNvPr id="638" name="Text: Source: halo_1d-bandwidth-table.tex. Effective aggregate rate, no"/>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 halo_1d-bandwidth-table.tex. Effective aggregate rate, not a single-link rate; different completion contracts.</a:t>
            </a:r>
          </a:p>
        </p:txBody>
      </p:sp>
      <p:sp>
        <p:nvSpPr>
          <p:cNvPr id="639" name="Text: 09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09 / 14</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Text: FINDING 2 · WORKLOAD SENSITIVITY"/>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FINDING 2 · WORKLOAD SENSITIVITY</a:t>
            </a:r>
          </a:p>
        </p:txBody>
      </p:sp>
      <p:sp>
        <p:nvSpPr>
          <p:cNvPr id="640" name="Text: Routing changes the winner"/>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Routing changes the winner</a:t>
            </a:r>
          </a:p>
        </p:txBody>
      </p:sp>
      <p:sp>
        <p:nvSpPr>
          <p:cNvPr id="641" name="Oval 640"/>
          <p:cNvSpPr/>
          <p:nvPr/>
        </p:nvSpPr>
        <p:spPr>
          <a:xfrm>
            <a:off x="713232" y="1485900"/>
            <a:ext cx="109728" cy="109728"/>
          </a:xfrm>
          <a:prstGeom prst="ellipse">
            <a:avLst/>
          </a:prstGeom>
          <a:solidFill>
            <a:srgbClr val="277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Text: MPI"/>
          <p:cNvSpPr txBox="1"/>
          <p:nvPr/>
        </p:nvSpPr>
        <p:spPr>
          <a:xfrm>
            <a:off x="896112" y="1444752"/>
            <a:ext cx="1773936"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MPI</a:t>
            </a:r>
          </a:p>
        </p:txBody>
      </p:sp>
      <p:sp>
        <p:nvSpPr>
          <p:cNvPr id="643" name="Oval 642"/>
          <p:cNvSpPr/>
          <p:nvPr/>
        </p:nvSpPr>
        <p:spPr>
          <a:xfrm>
            <a:off x="2697480" y="1485900"/>
            <a:ext cx="109728" cy="109728"/>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Text: NCCL"/>
          <p:cNvSpPr txBox="1"/>
          <p:nvPr/>
        </p:nvSpPr>
        <p:spPr>
          <a:xfrm>
            <a:off x="2880360" y="1444752"/>
            <a:ext cx="1773936"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NCCL</a:t>
            </a:r>
          </a:p>
        </p:txBody>
      </p:sp>
      <p:sp>
        <p:nvSpPr>
          <p:cNvPr id="645" name="Oval 644"/>
          <p:cNvSpPr/>
          <p:nvPr/>
        </p:nvSpPr>
        <p:spPr>
          <a:xfrm>
            <a:off x="4681728" y="1485900"/>
            <a:ext cx="109728" cy="109728"/>
          </a:xfrm>
          <a:prstGeom prst="ellipse">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Text: NVSHMEM"/>
          <p:cNvSpPr txBox="1"/>
          <p:nvPr/>
        </p:nvSpPr>
        <p:spPr>
          <a:xfrm>
            <a:off x="4864608" y="1444752"/>
            <a:ext cx="1773936"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NVSHMEM</a:t>
            </a:r>
          </a:p>
        </p:txBody>
      </p:sp>
      <p:sp>
        <p:nvSpPr>
          <p:cNvPr id="647" name="Oval 646"/>
          <p:cNvSpPr/>
          <p:nvPr/>
        </p:nvSpPr>
        <p:spPr>
          <a:xfrm>
            <a:off x="6665976" y="1485900"/>
            <a:ext cx="109728" cy="109728"/>
          </a:xfrm>
          <a:prstGeom prst="ellipse">
            <a:avLst/>
          </a:prstGeom>
          <a:solidFill>
            <a:srgbClr val="758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Text: OSHMPI"/>
          <p:cNvSpPr txBox="1"/>
          <p:nvPr/>
        </p:nvSpPr>
        <p:spPr>
          <a:xfrm>
            <a:off x="6848856" y="1444752"/>
            <a:ext cx="1773936"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OSHMPI</a:t>
            </a:r>
          </a:p>
        </p:txBody>
      </p:sp>
      <p:graphicFrame>
        <p:nvGraphicFramePr>
          <p:cNvPr id="649" name="Chart 648"/>
          <p:cNvGraphicFramePr>
            <a:graphicFrameLocks noGrp="1"/>
          </p:cNvGraphicFramePr>
          <p:nvPr/>
        </p:nvGraphicFramePr>
        <p:xfrm>
          <a:off x="594360" y="1792224"/>
          <a:ext cx="7927848" cy="2167128"/>
        </p:xfrm>
        <a:graphic>
          <a:graphicData uri="http://schemas.openxmlformats.org/drawingml/2006/chart">
            <c:chart r:id="rId3"/>
          </a:graphicData>
        </a:graphic>
      </p:graphicFrame>
      <p:sp>
        <p:nvSpPr>
          <p:cNvPr id="650" name="Text: Same total volume and topology; a different payload distribution "/>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Same total volume and topology; a different payload distribution changes the ranking.</a:t>
            </a:r>
          </a:p>
        </p:txBody>
      </p:sp>
      <p:sp>
        <p:nvSpPr>
          <p:cNvPr id="651" name="Text: Source: moe-table.tex, selected direct paths. Routing, planning, "/>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 moe-table.tex, selected direct paths. Routing, planning, and packing are outside the timed interval.</a:t>
            </a:r>
          </a:p>
        </p:txBody>
      </p:sp>
      <p:sp>
        <p:nvSpPr>
          <p:cNvPr id="652" name="Text: 10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10 / 14</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Text: FINDING 4 · APPLICATION TRANSFER"/>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FINDING 4 · APPLICATION TRANSFER</a:t>
            </a:r>
          </a:p>
        </p:txBody>
      </p:sp>
      <p:sp>
        <p:nvSpPr>
          <p:cNvPr id="659" name="Text: The solver is the deciding test"/>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The solver is the deciding test</a:t>
            </a:r>
          </a:p>
        </p:txBody>
      </p:sp>
      <p:sp>
        <p:nvSpPr>
          <p:cNvPr id="660" name="Oval 659"/>
          <p:cNvSpPr/>
          <p:nvPr/>
        </p:nvSpPr>
        <p:spPr>
          <a:xfrm>
            <a:off x="731520" y="1458468"/>
            <a:ext cx="109728" cy="109728"/>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Text: NCCL"/>
          <p:cNvSpPr txBox="1"/>
          <p:nvPr/>
        </p:nvSpPr>
        <p:spPr>
          <a:xfrm>
            <a:off x="914400" y="1417320"/>
            <a:ext cx="228600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NCCL</a:t>
            </a:r>
          </a:p>
        </p:txBody>
      </p:sp>
      <p:sp>
        <p:nvSpPr>
          <p:cNvPr id="662" name="Oval 661"/>
          <p:cNvSpPr/>
          <p:nvPr/>
        </p:nvSpPr>
        <p:spPr>
          <a:xfrm>
            <a:off x="3227832" y="1458468"/>
            <a:ext cx="109728" cy="109728"/>
          </a:xfrm>
          <a:prstGeom prst="ellipse">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Text: Device NVSHMEM"/>
          <p:cNvSpPr txBox="1"/>
          <p:nvPr/>
        </p:nvSpPr>
        <p:spPr>
          <a:xfrm>
            <a:off x="3410712" y="1417320"/>
            <a:ext cx="228600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Device NVSHMEM</a:t>
            </a:r>
          </a:p>
        </p:txBody>
      </p:sp>
      <p:sp>
        <p:nvSpPr>
          <p:cNvPr id="664" name="Oval 663"/>
          <p:cNvSpPr/>
          <p:nvPr/>
        </p:nvSpPr>
        <p:spPr>
          <a:xfrm>
            <a:off x="5724144" y="1458468"/>
            <a:ext cx="109728" cy="109728"/>
          </a:xfrm>
          <a:prstGeom prst="ellipse">
            <a:avLst/>
          </a:prstGeom>
          <a:solidFill>
            <a:srgbClr val="758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Text: OSHMPI halo + MPI sums"/>
          <p:cNvSpPr txBox="1"/>
          <p:nvPr/>
        </p:nvSpPr>
        <p:spPr>
          <a:xfrm>
            <a:off x="5907024" y="1417320"/>
            <a:ext cx="2286000"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OSHMPI halo + MPI sums</a:t>
            </a:r>
          </a:p>
        </p:txBody>
      </p:sp>
      <p:graphicFrame>
        <p:nvGraphicFramePr>
          <p:cNvPr id="666" name="Chart 665"/>
          <p:cNvGraphicFramePr>
            <a:graphicFrameLocks noGrp="1"/>
          </p:cNvGraphicFramePr>
          <p:nvPr/>
        </p:nvGraphicFramePr>
        <p:xfrm>
          <a:off x="521207" y="1746504"/>
          <a:ext cx="4014215" cy="2002536"/>
        </p:xfrm>
        <a:graphic>
          <a:graphicData uri="http://schemas.openxmlformats.org/drawingml/2006/chart">
            <c:chart r:id="rId3"/>
          </a:graphicData>
        </a:graphic>
      </p:graphicFrame>
      <p:sp>
        <p:nvSpPr>
          <p:cNvPr id="667" name="Text: 8n4g: 6.00 / 6.32 / 8.00 s"/>
          <p:cNvSpPr txBox="1"/>
          <p:nvPr/>
        </p:nvSpPr>
        <p:spPr>
          <a:xfrm>
            <a:off x="822960" y="3803904"/>
            <a:ext cx="3621024" cy="237744"/>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134E2D"/>
                </a:solidFill>
                <a:latin typeface="Arial"/>
              </a:rPr>
              <a:t>8n4g: 6.00 / 6.32 / 8.00 s</a:t>
            </a:r>
          </a:p>
        </p:txBody>
      </p:sp>
      <p:graphicFrame>
        <p:nvGraphicFramePr>
          <p:cNvPr id="668" name="Chart 667"/>
          <p:cNvGraphicFramePr>
            <a:graphicFrameLocks noGrp="1"/>
          </p:cNvGraphicFramePr>
          <p:nvPr/>
        </p:nvGraphicFramePr>
        <p:xfrm>
          <a:off x="4590288" y="1746504"/>
          <a:ext cx="4014215" cy="2002536"/>
        </p:xfrm>
        <a:graphic>
          <a:graphicData uri="http://schemas.openxmlformats.org/drawingml/2006/chart">
            <c:chart r:id="rId4"/>
          </a:graphicData>
        </a:graphic>
      </p:graphicFrame>
      <p:sp>
        <p:nvSpPr>
          <p:cNvPr id="669" name="Text: 8n4g: 7.25 / 8.79 / 9.60 s"/>
          <p:cNvSpPr txBox="1"/>
          <p:nvPr/>
        </p:nvSpPr>
        <p:spPr>
          <a:xfrm>
            <a:off x="4892040" y="3803904"/>
            <a:ext cx="3621024" cy="237744"/>
          </a:xfrm>
          <a:prstGeom prst="rect">
            <a:avLst/>
          </a:prstGeom>
          <a:noFill/>
        </p:spPr>
        <p:txBody>
          <a:bodyPr wrap="square" lIns="0" rIns="0" tIns="0" bIns="0" anchor="t">
            <a:spAutoFit/>
          </a:bodyPr>
          <a:lstStyle/>
          <a:p>
            <a:pPr algn="l">
              <a:lnSpc>
                <a:spcPct val="107000"/>
              </a:lnSpc>
              <a:spcBef>
                <a:spcPts val="0"/>
              </a:spcBef>
              <a:spcAft>
                <a:spcPts val="300"/>
              </a:spcAft>
              <a:buNone/>
            </a:pPr>
            <a:r>
              <a:rPr sz="1100" b="0">
                <a:solidFill>
                  <a:srgbClr val="134E2D"/>
                </a:solidFill>
                <a:latin typeface="Arial"/>
              </a:rPr>
              <a:t>8n4g: 7.25 / 8.79 / 9.60 s</a:t>
            </a:r>
          </a:p>
        </p:txBody>
      </p:sp>
      <p:sp>
        <p:nvSpPr>
          <p:cNvPr id="670" name="Text: Device NVSHMEM gains on blocking OSHMPI at scale; no universal GP"/>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Device NVSHMEM gains on blocking OSHMPI at scale; no universal GPU-initiated lead.</a:t>
            </a:r>
          </a:p>
        </p:txBody>
      </p:sp>
      <p:sp>
        <p:nvSpPr>
          <p:cNvPr id="671" name="Text: Source: acg-summary.csv; fastest residual-valid trial per configu"/>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 acg-summary.csv; fastest residual-valid trial per configuration. Full backend endpoints and medians: A1.</a:t>
            </a:r>
          </a:p>
        </p:txBody>
      </p:sp>
      <p:sp>
        <p:nvSpPr>
          <p:cNvPr id="672" name="Text: 12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12 / 14</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Text: FINDING 3 · INTEGRATION COSTS"/>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FINDING 3 · INTEGRATION COSTS</a:t>
            </a:r>
          </a:p>
        </p:txBody>
      </p:sp>
      <p:sp>
        <p:nvSpPr>
          <p:cNvPr id="728" name="Text: An adapter can change the path"/>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An adapter can change the path</a:t>
            </a:r>
          </a:p>
        </p:txBody>
      </p:sp>
      <p:sp>
        <p:nvSpPr>
          <p:cNvPr id="729" name="Rounded Rectangle 728"/>
          <p:cNvSpPr/>
          <p:nvPr/>
        </p:nvSpPr>
        <p:spPr>
          <a:xfrm>
            <a:off x="594360" y="1645920"/>
            <a:ext cx="3822191" cy="141732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Text: oneCCL / NCCL"/>
          <p:cNvSpPr txBox="1"/>
          <p:nvPr/>
        </p:nvSpPr>
        <p:spPr>
          <a:xfrm>
            <a:off x="731520" y="1792224"/>
            <a:ext cx="3547871"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oneCCL / NCCL</a:t>
            </a:r>
          </a:p>
        </p:txBody>
      </p:sp>
      <p:sp>
        <p:nvSpPr>
          <p:cNvPr id="731" name="Text: Grouped peer transfers&#10;Asynchronous stream execution"/>
          <p:cNvSpPr txBox="1"/>
          <p:nvPr/>
        </p:nvSpPr>
        <p:spPr>
          <a:xfrm>
            <a:off x="749808" y="2496312"/>
            <a:ext cx="3511296" cy="475488"/>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Grouped peer transfers</a:t>
            </a:r>
          </a:p>
          <a:p>
            <a:pPr algn="l">
              <a:lnSpc>
                <a:spcPct val="107000"/>
              </a:lnSpc>
              <a:spcBef>
                <a:spcPts val="0"/>
              </a:spcBef>
              <a:spcAft>
                <a:spcPts val="300"/>
              </a:spcAft>
              <a:buNone/>
            </a:pPr>
            <a:r>
              <a:rPr sz="1400" b="0">
                <a:solidFill>
                  <a:srgbClr val="2E2E2E"/>
                </a:solidFill>
                <a:latin typeface="Arial"/>
              </a:rPr>
              <a:t>Asynchronous stream execution</a:t>
            </a:r>
          </a:p>
        </p:txBody>
      </p:sp>
      <p:sp>
        <p:nvSpPr>
          <p:cNvPr id="732" name="Rounded Rectangle 731"/>
          <p:cNvSpPr/>
          <p:nvPr/>
        </p:nvSpPr>
        <p:spPr>
          <a:xfrm>
            <a:off x="4727448" y="1645920"/>
            <a:ext cx="3822191" cy="1417320"/>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Text: oneCCL / OSHMPI"/>
          <p:cNvSpPr txBox="1"/>
          <p:nvPr/>
        </p:nvSpPr>
        <p:spPr>
          <a:xfrm>
            <a:off x="4864608" y="1792224"/>
            <a:ext cx="3547871" cy="621792"/>
          </a:xfrm>
          <a:prstGeom prst="rect">
            <a:avLst/>
          </a:prstGeom>
          <a:noFill/>
        </p:spPr>
        <p:txBody>
          <a:bodyPr wrap="square" lIns="0" rIns="0" tIns="0" bIns="0" anchor="t">
            <a:spAutoFit/>
          </a:bodyPr>
          <a:lstStyle/>
          <a:p>
            <a:pPr algn="l">
              <a:lnSpc>
                <a:spcPct val="107000"/>
              </a:lnSpc>
              <a:spcBef>
                <a:spcPts val="0"/>
              </a:spcBef>
              <a:spcAft>
                <a:spcPts val="300"/>
              </a:spcAft>
              <a:buNone/>
            </a:pPr>
            <a:r>
              <a:rPr sz="1700" b="1">
                <a:solidFill>
                  <a:srgbClr val="134E2D"/>
                </a:solidFill>
                <a:latin typeface="Arial"/>
              </a:rPr>
              <a:t>oneCCL / OSHMPI</a:t>
            </a:r>
          </a:p>
        </p:txBody>
      </p:sp>
      <p:sp>
        <p:nvSpPr>
          <p:cNvPr id="734" name="Text: Symmetric staging buffers&#10;Blocking completion adaptation"/>
          <p:cNvSpPr txBox="1"/>
          <p:nvPr/>
        </p:nvSpPr>
        <p:spPr>
          <a:xfrm>
            <a:off x="4882896" y="2496312"/>
            <a:ext cx="3511296" cy="475488"/>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0">
                <a:solidFill>
                  <a:srgbClr val="2E2E2E"/>
                </a:solidFill>
                <a:latin typeface="Arial"/>
              </a:rPr>
              <a:t>Symmetric staging buffers</a:t>
            </a:r>
          </a:p>
          <a:p>
            <a:pPr algn="l">
              <a:lnSpc>
                <a:spcPct val="107000"/>
              </a:lnSpc>
              <a:spcBef>
                <a:spcPts val="0"/>
              </a:spcBef>
              <a:spcAft>
                <a:spcPts val="300"/>
              </a:spcAft>
              <a:buNone/>
            </a:pPr>
            <a:r>
              <a:rPr sz="1400" b="0">
                <a:solidFill>
                  <a:srgbClr val="2E2E2E"/>
                </a:solidFill>
                <a:latin typeface="Arial"/>
              </a:rPr>
              <a:t>Blocking completion adaptation</a:t>
            </a:r>
          </a:p>
        </p:txBody>
      </p:sp>
      <p:sp>
        <p:nvSpPr>
          <p:cNvPr id="735" name="Text: 0.98×"/>
          <p:cNvSpPr txBox="1"/>
          <p:nvPr/>
        </p:nvSpPr>
        <p:spPr>
          <a:xfrm>
            <a:off x="777240" y="3246120"/>
            <a:ext cx="1645920" cy="777240"/>
          </a:xfrm>
          <a:prstGeom prst="rect">
            <a:avLst/>
          </a:prstGeom>
          <a:noFill/>
        </p:spPr>
        <p:txBody>
          <a:bodyPr wrap="square" lIns="0" rIns="0" tIns="0" bIns="0" anchor="t">
            <a:spAutoFit/>
          </a:bodyPr>
          <a:lstStyle/>
          <a:p>
            <a:pPr algn="l">
              <a:lnSpc>
                <a:spcPct val="107000"/>
              </a:lnSpc>
              <a:spcBef>
                <a:spcPts val="0"/>
              </a:spcBef>
              <a:spcAft>
                <a:spcPts val="300"/>
              </a:spcAft>
              <a:buNone/>
            </a:pPr>
            <a:r>
              <a:rPr sz="4200" b="1">
                <a:solidFill>
                  <a:srgbClr val="134E2D"/>
                </a:solidFill>
                <a:latin typeface="Arial"/>
              </a:rPr>
              <a:t>0.98×</a:t>
            </a:r>
          </a:p>
        </p:txBody>
      </p:sp>
      <p:sp>
        <p:nvSpPr>
          <p:cNvPr id="736" name="Text: adapted / direct time&#10;Bulk all-to-all · 8n4g"/>
          <p:cNvSpPr txBox="1"/>
          <p:nvPr/>
        </p:nvSpPr>
        <p:spPr>
          <a:xfrm>
            <a:off x="2414016" y="3383280"/>
            <a:ext cx="1828800" cy="58521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adapted / direct time</a:t>
            </a:r>
          </a:p>
          <a:p>
            <a:pPr algn="l">
              <a:lnSpc>
                <a:spcPct val="107000"/>
              </a:lnSpc>
              <a:spcBef>
                <a:spcPts val="0"/>
              </a:spcBef>
              <a:spcAft>
                <a:spcPts val="300"/>
              </a:spcAft>
              <a:buNone/>
            </a:pPr>
            <a:r>
              <a:rPr sz="1200" b="0">
                <a:solidFill>
                  <a:srgbClr val="2E2E2E"/>
                </a:solidFill>
                <a:latin typeface="Arial"/>
              </a:rPr>
              <a:t>Bulk all-to-all · 8n4g</a:t>
            </a:r>
          </a:p>
        </p:txBody>
      </p:sp>
      <p:sp>
        <p:nvSpPr>
          <p:cNvPr id="737" name="Text: 17.9×"/>
          <p:cNvSpPr txBox="1"/>
          <p:nvPr/>
        </p:nvSpPr>
        <p:spPr>
          <a:xfrm>
            <a:off x="4910328" y="3246120"/>
            <a:ext cx="1691640" cy="777240"/>
          </a:xfrm>
          <a:prstGeom prst="rect">
            <a:avLst/>
          </a:prstGeom>
          <a:noFill/>
        </p:spPr>
        <p:txBody>
          <a:bodyPr wrap="square" lIns="0" rIns="0" tIns="0" bIns="0" anchor="t">
            <a:spAutoFit/>
          </a:bodyPr>
          <a:lstStyle/>
          <a:p>
            <a:pPr algn="l">
              <a:lnSpc>
                <a:spcPct val="107000"/>
              </a:lnSpc>
              <a:spcBef>
                <a:spcPts val="0"/>
              </a:spcBef>
              <a:spcAft>
                <a:spcPts val="300"/>
              </a:spcAft>
              <a:buNone/>
            </a:pPr>
            <a:r>
              <a:rPr sz="4200" b="1">
                <a:solidFill>
                  <a:srgbClr val="A65C20"/>
                </a:solidFill>
                <a:latin typeface="Arial"/>
              </a:rPr>
              <a:t>17.9×</a:t>
            </a:r>
          </a:p>
        </p:txBody>
      </p:sp>
      <p:sp>
        <p:nvSpPr>
          <p:cNvPr id="738" name="Text: adapted / direct time&#10;16 MiB allreduce · 1n4g"/>
          <p:cNvSpPr txBox="1"/>
          <p:nvPr/>
        </p:nvSpPr>
        <p:spPr>
          <a:xfrm>
            <a:off x="6656832" y="3383280"/>
            <a:ext cx="1801368"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0">
                <a:solidFill>
                  <a:srgbClr val="2E2E2E"/>
                </a:solidFill>
                <a:latin typeface="Arial"/>
              </a:rPr>
              <a:t>adapted / direct time</a:t>
            </a:r>
          </a:p>
          <a:p>
            <a:pPr algn="l">
              <a:lnSpc>
                <a:spcPct val="107000"/>
              </a:lnSpc>
              <a:spcBef>
                <a:spcPts val="0"/>
              </a:spcBef>
              <a:spcAft>
                <a:spcPts val="300"/>
              </a:spcAft>
              <a:buNone/>
            </a:pPr>
            <a:r>
              <a:rPr sz="1200" b="0">
                <a:solidFill>
                  <a:srgbClr val="2E2E2E"/>
                </a:solidFill>
                <a:latin typeface="Arial"/>
              </a:rPr>
              <a:t>16 MiB allreduce · 1n4g</a:t>
            </a:r>
          </a:p>
        </p:txBody>
      </p:sp>
      <p:sp>
        <p:nvSpPr>
          <p:cNvPr id="739" name="Text: The cost follows buffer movement and completion semantics, not th"/>
          <p:cNvSpPr txBox="1"/>
          <p:nvPr/>
        </p:nvSpPr>
        <p:spPr>
          <a:xfrm>
            <a:off x="594360" y="4137660"/>
            <a:ext cx="7955279"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i="1">
                <a:solidFill>
                  <a:srgbClr val="134E2D"/>
                </a:solidFill>
                <a:latin typeface="Arial"/>
              </a:rPr>
              <a:t>The cost follows buffer movement and completion semantics, not the API name alone.</a:t>
            </a:r>
          </a:p>
        </p:txBody>
      </p:sp>
      <p:sp>
        <p:nvSpPr>
          <p:cNvPr id="740" name="Text: Source: adapter-comparison.csv. Two different operation regimes; "/>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Source: adapter-comparison.csv. Two different operation regimes; these are not initiation-only or wrapper-only comparisons.</a:t>
            </a:r>
          </a:p>
        </p:txBody>
      </p:sp>
      <p:sp>
        <p:nvSpPr>
          <p:cNvPr id="741" name="Text: 11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11 / 14</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Text: RECENT ADVANCES → FUTURE WORK"/>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RECENT ADVANCES → FUTURE WORK</a:t>
            </a:r>
          </a:p>
        </p:txBody>
      </p:sp>
      <p:sp>
        <p:nvSpPr>
          <p:cNvPr id="741" name="Text: What comes next?"/>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What comes next?</a:t>
            </a:r>
          </a:p>
        </p:txBody>
      </p:sp>
      <p:sp>
        <p:nvSpPr>
          <p:cNvPr id="742" name="Rounded Rectangle 741"/>
          <p:cNvSpPr/>
          <p:nvPr/>
        </p:nvSpPr>
        <p:spPr>
          <a:xfrm>
            <a:off x="713232" y="1719072"/>
            <a:ext cx="393192" cy="393192"/>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Text: 1"/>
          <p:cNvSpPr txBox="1"/>
          <p:nvPr/>
        </p:nvSpPr>
        <p:spPr>
          <a:xfrm>
            <a:off x="777240" y="1746504"/>
            <a:ext cx="265176" cy="338328"/>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1</a:t>
            </a:r>
          </a:p>
        </p:txBody>
      </p:sp>
      <p:sp>
        <p:nvSpPr>
          <p:cNvPr id="744" name="Text: NCCL device API + GIN"/>
          <p:cNvSpPr txBox="1"/>
          <p:nvPr/>
        </p:nvSpPr>
        <p:spPr>
          <a:xfrm>
            <a:off x="1280160" y="1737360"/>
            <a:ext cx="3017520" cy="585216"/>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1">
                <a:solidFill>
                  <a:srgbClr val="134E2D"/>
                </a:solidFill>
                <a:latin typeface="Arial"/>
              </a:rPr>
              <a:t>NCCL device API + GIN</a:t>
            </a:r>
          </a:p>
        </p:txBody>
      </p:sp>
      <p:sp>
        <p:nvSpPr>
          <p:cNvPr id="745" name="Right Arrow 744"/>
          <p:cNvSpPr/>
          <p:nvPr/>
        </p:nvSpPr>
        <p:spPr>
          <a:xfrm>
            <a:off x="4443984" y="1828800"/>
            <a:ext cx="320040" cy="146304"/>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Text: Compare verified proxy and GPU-posted paths"/>
          <p:cNvSpPr txBox="1"/>
          <p:nvPr/>
        </p:nvSpPr>
        <p:spPr>
          <a:xfrm>
            <a:off x="4992624" y="1728216"/>
            <a:ext cx="3383280" cy="521207"/>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0">
                <a:solidFill>
                  <a:srgbClr val="2E2E2E"/>
                </a:solidFill>
                <a:latin typeface="Arial"/>
              </a:rPr>
              <a:t>Compare verified proxy and GPU-posted paths</a:t>
            </a:r>
          </a:p>
        </p:txBody>
      </p:sp>
      <p:sp>
        <p:nvSpPr>
          <p:cNvPr id="747" name="Rounded Rectangle 746"/>
          <p:cNvSpPr/>
          <p:nvPr/>
        </p:nvSpPr>
        <p:spPr>
          <a:xfrm>
            <a:off x="713232" y="2423160"/>
            <a:ext cx="393192" cy="393192"/>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Text: 2"/>
          <p:cNvSpPr txBox="1"/>
          <p:nvPr/>
        </p:nvSpPr>
        <p:spPr>
          <a:xfrm>
            <a:off x="777240" y="2450591"/>
            <a:ext cx="265176" cy="338328"/>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2</a:t>
            </a:r>
          </a:p>
        </p:txBody>
      </p:sp>
      <p:sp>
        <p:nvSpPr>
          <p:cNvPr id="749" name="Text: Symmetric collectives:&#10;within 7% of modeled bound"/>
          <p:cNvSpPr txBox="1"/>
          <p:nvPr/>
        </p:nvSpPr>
        <p:spPr>
          <a:xfrm>
            <a:off x="1280160" y="2441448"/>
            <a:ext cx="3017520" cy="585216"/>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1">
                <a:solidFill>
                  <a:srgbClr val="134E2D"/>
                </a:solidFill>
                <a:latin typeface="Arial"/>
              </a:rPr>
              <a:t>Symmetric collectives:</a:t>
            </a:r>
          </a:p>
          <a:p>
            <a:pPr algn="l">
              <a:lnSpc>
                <a:spcPct val="107000"/>
              </a:lnSpc>
              <a:spcBef>
                <a:spcPts val="0"/>
              </a:spcBef>
              <a:spcAft>
                <a:spcPts val="300"/>
              </a:spcAft>
              <a:buNone/>
            </a:pPr>
            <a:r>
              <a:rPr sz="1500" b="1">
                <a:solidFill>
                  <a:srgbClr val="134E2D"/>
                </a:solidFill>
                <a:latin typeface="Arial"/>
              </a:rPr>
              <a:t>within 7% of modeled bound</a:t>
            </a:r>
          </a:p>
        </p:txBody>
      </p:sp>
      <p:sp>
        <p:nvSpPr>
          <p:cNvPr id="750" name="Right Arrow 749"/>
          <p:cNvSpPr/>
          <p:nvPr/>
        </p:nvSpPr>
        <p:spPr>
          <a:xfrm>
            <a:off x="4443984" y="2532888"/>
            <a:ext cx="320040" cy="146304"/>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Text: Match initiation, memory, and completion"/>
          <p:cNvSpPr txBox="1"/>
          <p:nvPr/>
        </p:nvSpPr>
        <p:spPr>
          <a:xfrm>
            <a:off x="4992624" y="2432303"/>
            <a:ext cx="3383280" cy="521207"/>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0">
                <a:solidFill>
                  <a:srgbClr val="2E2E2E"/>
                </a:solidFill>
                <a:latin typeface="Arial"/>
              </a:rPr>
              <a:t>Match initiation, memory, and completion</a:t>
            </a:r>
          </a:p>
        </p:txBody>
      </p:sp>
      <p:sp>
        <p:nvSpPr>
          <p:cNvPr id="752" name="Rounded Rectangle 751"/>
          <p:cNvSpPr/>
          <p:nvPr/>
        </p:nvSpPr>
        <p:spPr>
          <a:xfrm>
            <a:off x="713232" y="3127248"/>
            <a:ext cx="393192" cy="393192"/>
          </a:xfrm>
          <a:prstGeom prst="roundRect">
            <a:avLst>
              <a:gd name="adj" fmla="val 12000"/>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Text: 3"/>
          <p:cNvSpPr txBox="1"/>
          <p:nvPr/>
        </p:nvSpPr>
        <p:spPr>
          <a:xfrm>
            <a:off x="777240" y="3154679"/>
            <a:ext cx="265176" cy="338328"/>
          </a:xfrm>
          <a:prstGeom prst="rect">
            <a:avLst/>
          </a:prstGeom>
          <a:noFill/>
        </p:spPr>
        <p:txBody>
          <a:bodyPr wrap="square" lIns="0" rIns="0" tIns="0" bIns="0" anchor="ctr">
            <a:spAutoFit/>
          </a:bodyPr>
          <a:lstStyle/>
          <a:p>
            <a:pPr algn="ctr">
              <a:lnSpc>
                <a:spcPct val="107000"/>
              </a:lnSpc>
              <a:spcBef>
                <a:spcPts val="0"/>
              </a:spcBef>
              <a:spcAft>
                <a:spcPts val="300"/>
              </a:spcAft>
              <a:buNone/>
            </a:pPr>
            <a:r>
              <a:rPr sz="1400" b="1">
                <a:solidFill>
                  <a:srgbClr val="FFFFFF"/>
                </a:solidFill>
                <a:latin typeface="Arial"/>
              </a:rPr>
              <a:t>3</a:t>
            </a:r>
          </a:p>
        </p:txBody>
      </p:sp>
      <p:sp>
        <p:nvSpPr>
          <p:cNvPr id="754" name="Text: Portable device communication"/>
          <p:cNvSpPr txBox="1"/>
          <p:nvPr/>
        </p:nvSpPr>
        <p:spPr>
          <a:xfrm>
            <a:off x="1280160" y="3145536"/>
            <a:ext cx="3017520" cy="585216"/>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1">
                <a:solidFill>
                  <a:srgbClr val="134E2D"/>
                </a:solidFill>
                <a:latin typeface="Arial"/>
              </a:rPr>
              <a:t>Portable device communication</a:t>
            </a:r>
          </a:p>
        </p:txBody>
      </p:sp>
      <p:sp>
        <p:nvSpPr>
          <p:cNvPr id="755" name="Right Arrow 754"/>
          <p:cNvSpPr/>
          <p:nvPr/>
        </p:nvSpPr>
        <p:spPr>
          <a:xfrm>
            <a:off x="4443984" y="3236976"/>
            <a:ext cx="320040" cy="146304"/>
          </a:xfrm>
          <a:prstGeom prst="rightArrow">
            <a:avLst/>
          </a:prstGeom>
          <a:solidFill>
            <a:srgbClr val="07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Text: Expose device handles through oneCCL / SYCL"/>
          <p:cNvSpPr txBox="1"/>
          <p:nvPr/>
        </p:nvSpPr>
        <p:spPr>
          <a:xfrm>
            <a:off x="4992624" y="3136391"/>
            <a:ext cx="3383280" cy="521207"/>
          </a:xfrm>
          <a:prstGeom prst="rect">
            <a:avLst/>
          </a:prstGeom>
          <a:noFill/>
        </p:spPr>
        <p:txBody>
          <a:bodyPr wrap="square" lIns="0" rIns="0" tIns="0" bIns="0" anchor="t">
            <a:spAutoFit/>
          </a:bodyPr>
          <a:lstStyle/>
          <a:p>
            <a:pPr algn="l">
              <a:lnSpc>
                <a:spcPct val="107000"/>
              </a:lnSpc>
              <a:spcBef>
                <a:spcPts val="0"/>
              </a:spcBef>
              <a:spcAft>
                <a:spcPts val="300"/>
              </a:spcAft>
              <a:buNone/>
            </a:pPr>
            <a:r>
              <a:rPr sz="1500" b="0">
                <a:solidFill>
                  <a:srgbClr val="2E2E2E"/>
                </a:solidFill>
                <a:latin typeface="Arial"/>
              </a:rPr>
              <a:t>Expose device handles through oneCCL / SYCL</a:t>
            </a:r>
          </a:p>
        </p:txBody>
      </p:sp>
      <p:sp>
        <p:nvSpPr>
          <p:cNvPr id="757" name="Rounded Rectangle 756"/>
          <p:cNvSpPr/>
          <p:nvPr/>
        </p:nvSpPr>
        <p:spPr>
          <a:xfrm>
            <a:off x="594360" y="3977639"/>
            <a:ext cx="7955279" cy="448056"/>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Text: Then replay real peer graphs and validate the gain in complete ap"/>
          <p:cNvSpPr txBox="1"/>
          <p:nvPr/>
        </p:nvSpPr>
        <p:spPr>
          <a:xfrm>
            <a:off x="758952" y="4105656"/>
            <a:ext cx="7616952" cy="256032"/>
          </a:xfrm>
          <a:prstGeom prst="rect">
            <a:avLst/>
          </a:prstGeom>
          <a:noFill/>
        </p:spPr>
        <p:txBody>
          <a:bodyPr wrap="square" lIns="0" rIns="0" tIns="0" bIns="0" anchor="t">
            <a:spAutoFit/>
          </a:bodyPr>
          <a:lstStyle/>
          <a:p>
            <a:pPr algn="l">
              <a:lnSpc>
                <a:spcPct val="107000"/>
              </a:lnSpc>
              <a:spcBef>
                <a:spcPts val="0"/>
              </a:spcBef>
              <a:spcAft>
                <a:spcPts val="300"/>
              </a:spcAft>
              <a:buNone/>
            </a:pPr>
            <a:r>
              <a:rPr sz="1400" b="1">
                <a:solidFill>
                  <a:srgbClr val="134E2D"/>
                </a:solidFill>
                <a:latin typeface="Arial"/>
              </a:rPr>
              <a:t>Then replay real peer graphs and validate the gain in complete applications.</a:t>
            </a:r>
          </a:p>
        </p:txBody>
      </p:sp>
      <p:sp>
        <p:nvSpPr>
          <p:cNvPr id="759" name="Text: 7%: Shen et al. (2026), modeled scale-up latency bound. NCCL: NVI"/>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7%: Shen et al. (2026), modeled scale-up latency bound. NCCL: NVIDIA docs / Hamidouche et al. (2025).</a:t>
            </a:r>
          </a:p>
        </p:txBody>
      </p:sp>
      <p:sp>
        <p:nvSpPr>
          <p:cNvPr id="760" name="Text: 13 / 14"/>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13 / 14</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Text: BACKUP A6 · REFERENCES"/>
          <p:cNvSpPr txBox="1"/>
          <p:nvPr/>
        </p:nvSpPr>
        <p:spPr>
          <a:xfrm>
            <a:off x="594360" y="429768"/>
            <a:ext cx="7132320" cy="173736"/>
          </a:xfrm>
          <a:prstGeom prst="rect">
            <a:avLst/>
          </a:prstGeom>
          <a:noFill/>
        </p:spPr>
        <p:txBody>
          <a:bodyPr wrap="square" lIns="0" rIns="0" tIns="0" bIns="0" anchor="t">
            <a:spAutoFit/>
          </a:bodyPr>
          <a:lstStyle/>
          <a:p>
            <a:pPr algn="l">
              <a:lnSpc>
                <a:spcPct val="107000"/>
              </a:lnSpc>
              <a:spcBef>
                <a:spcPts val="0"/>
              </a:spcBef>
              <a:spcAft>
                <a:spcPts val="300"/>
              </a:spcAft>
              <a:buNone/>
            </a:pPr>
            <a:r>
              <a:rPr sz="900" b="1">
                <a:solidFill>
                  <a:srgbClr val="526258"/>
                </a:solidFill>
                <a:latin typeface="Arial"/>
              </a:rPr>
              <a:t>BACKUP A6 · REFERENCES</a:t>
            </a:r>
          </a:p>
        </p:txBody>
      </p:sp>
      <p:sp>
        <p:nvSpPr>
          <p:cNvPr id="793" name="Text: Selected sources &amp; artifacts"/>
          <p:cNvSpPr txBox="1"/>
          <p:nvPr/>
        </p:nvSpPr>
        <p:spPr>
          <a:xfrm>
            <a:off x="594360" y="722376"/>
            <a:ext cx="7955279" cy="603504"/>
          </a:xfrm>
          <a:prstGeom prst="rect">
            <a:avLst/>
          </a:prstGeom>
          <a:noFill/>
        </p:spPr>
        <p:txBody>
          <a:bodyPr wrap="square" lIns="0" rIns="0" tIns="0" bIns="0" anchor="t">
            <a:spAutoFit/>
          </a:bodyPr>
          <a:lstStyle/>
          <a:p>
            <a:pPr algn="l">
              <a:lnSpc>
                <a:spcPct val="107000"/>
              </a:lnSpc>
              <a:spcBef>
                <a:spcPts val="0"/>
              </a:spcBef>
              <a:spcAft>
                <a:spcPts val="300"/>
              </a:spcAft>
              <a:buNone/>
            </a:pPr>
            <a:r>
              <a:rPr sz="3000" b="1">
                <a:solidFill>
                  <a:srgbClr val="134E2D"/>
                </a:solidFill>
                <a:latin typeface="Cambria"/>
              </a:rPr>
              <a:t>Selected sources &amp; artifacts</a:t>
            </a:r>
          </a:p>
        </p:txBody>
      </p:sp>
      <p:sp>
        <p:nvSpPr>
          <p:cNvPr id="794" name="Oval 793"/>
          <p:cNvSpPr/>
          <p:nvPr/>
        </p:nvSpPr>
        <p:spPr>
          <a:xfrm>
            <a:off x="694944" y="1645920"/>
            <a:ext cx="237744" cy="23774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Text: 1"/>
          <p:cNvSpPr txBox="1"/>
          <p:nvPr/>
        </p:nvSpPr>
        <p:spPr>
          <a:xfrm>
            <a:off x="694944" y="1655064"/>
            <a:ext cx="237744" cy="2194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1</a:t>
            </a:r>
          </a:p>
        </p:txBody>
      </p:sp>
      <p:sp>
        <p:nvSpPr>
          <p:cNvPr id="796" name="Text: NVSHMEM mechanisms"/>
          <p:cNvSpPr txBox="1"/>
          <p:nvPr/>
        </p:nvSpPr>
        <p:spPr>
          <a:xfrm>
            <a:off x="1088136" y="1618488"/>
            <a:ext cx="205740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134E2D"/>
                </a:solidFill>
                <a:latin typeface="Arial"/>
              </a:rPr>
              <a:t>NVSHMEM mechanisms</a:t>
            </a:r>
          </a:p>
        </p:txBody>
      </p:sp>
      <p:sp>
        <p:nvSpPr>
          <p:cNvPr id="797" name="Text: Ma et al. (2026). Demystifying NVSHMEM. arXiv:2606.05951."/>
          <p:cNvSpPr txBox="1"/>
          <p:nvPr/>
        </p:nvSpPr>
        <p:spPr>
          <a:xfrm>
            <a:off x="3218688" y="1618488"/>
            <a:ext cx="5212080"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Ma et al. (2026). Demystifying NVSHMEM. arXiv:2606.05951.</a:t>
            </a:r>
          </a:p>
        </p:txBody>
      </p:sp>
      <p:sp>
        <p:nvSpPr>
          <p:cNvPr id="798" name="Oval 797"/>
          <p:cNvSpPr/>
          <p:nvPr/>
        </p:nvSpPr>
        <p:spPr>
          <a:xfrm>
            <a:off x="694944" y="2093975"/>
            <a:ext cx="237744" cy="23774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Text: 2"/>
          <p:cNvSpPr txBox="1"/>
          <p:nvPr/>
        </p:nvSpPr>
        <p:spPr>
          <a:xfrm>
            <a:off x="694944" y="2103119"/>
            <a:ext cx="237744" cy="2194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2</a:t>
            </a:r>
          </a:p>
        </p:txBody>
      </p:sp>
      <p:sp>
        <p:nvSpPr>
          <p:cNvPr id="800" name="Text: NCCL networking"/>
          <p:cNvSpPr txBox="1"/>
          <p:nvPr/>
        </p:nvSpPr>
        <p:spPr>
          <a:xfrm>
            <a:off x="1088136" y="2066543"/>
            <a:ext cx="205740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134E2D"/>
                </a:solidFill>
                <a:latin typeface="Arial"/>
              </a:rPr>
              <a:t>NCCL networking</a:t>
            </a:r>
          </a:p>
        </p:txBody>
      </p:sp>
      <p:sp>
        <p:nvSpPr>
          <p:cNvPr id="801" name="Text: Hamidouche et al. (2025). GPU-Initiated Networking for NCCL. arXi"/>
          <p:cNvSpPr txBox="1"/>
          <p:nvPr/>
        </p:nvSpPr>
        <p:spPr>
          <a:xfrm>
            <a:off x="3218688" y="2066543"/>
            <a:ext cx="5212080"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Hamidouche et al. (2025). GPU-Initiated Networking for NCCL. arXiv:2511.15076.</a:t>
            </a:r>
          </a:p>
        </p:txBody>
      </p:sp>
      <p:sp>
        <p:nvSpPr>
          <p:cNvPr id="802" name="Oval 801"/>
          <p:cNvSpPr/>
          <p:nvPr/>
        </p:nvSpPr>
        <p:spPr>
          <a:xfrm>
            <a:off x="694944" y="2542032"/>
            <a:ext cx="237744" cy="23774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Text: 3"/>
          <p:cNvSpPr txBox="1"/>
          <p:nvPr/>
        </p:nvSpPr>
        <p:spPr>
          <a:xfrm>
            <a:off x="694944" y="2551175"/>
            <a:ext cx="237744" cy="2194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3</a:t>
            </a:r>
          </a:p>
        </p:txBody>
      </p:sp>
      <p:sp>
        <p:nvSpPr>
          <p:cNvPr id="804" name="Text: Latency-bound collectives"/>
          <p:cNvSpPr txBox="1"/>
          <p:nvPr/>
        </p:nvSpPr>
        <p:spPr>
          <a:xfrm>
            <a:off x="1088136" y="2514600"/>
            <a:ext cx="205740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134E2D"/>
                </a:solidFill>
                <a:latin typeface="Arial"/>
              </a:rPr>
              <a:t>Latency-bound collectives</a:t>
            </a:r>
          </a:p>
        </p:txBody>
      </p:sp>
      <p:sp>
        <p:nvSpPr>
          <p:cNvPr id="805" name="Text: Shen et al. (2026). Every Microsecond Matters. arXiv:2607.16100."/>
          <p:cNvSpPr txBox="1"/>
          <p:nvPr/>
        </p:nvSpPr>
        <p:spPr>
          <a:xfrm>
            <a:off x="3218688" y="2514600"/>
            <a:ext cx="5212080"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Shen et al. (2026). Every Microsecond Matters. arXiv:2607.16100.</a:t>
            </a:r>
          </a:p>
        </p:txBody>
      </p:sp>
      <p:sp>
        <p:nvSpPr>
          <p:cNvPr id="806" name="Oval 805"/>
          <p:cNvSpPr/>
          <p:nvPr/>
        </p:nvSpPr>
        <p:spPr>
          <a:xfrm>
            <a:off x="694944" y="2990088"/>
            <a:ext cx="237744" cy="23774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Text: 4"/>
          <p:cNvSpPr txBox="1"/>
          <p:nvPr/>
        </p:nvSpPr>
        <p:spPr>
          <a:xfrm>
            <a:off x="694944" y="2999232"/>
            <a:ext cx="237744" cy="2194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4</a:t>
            </a:r>
          </a:p>
        </p:txBody>
      </p:sp>
      <p:sp>
        <p:nvSpPr>
          <p:cNvPr id="808" name="Text: API definitions"/>
          <p:cNvSpPr txBox="1"/>
          <p:nvPr/>
        </p:nvSpPr>
        <p:spPr>
          <a:xfrm>
            <a:off x="1088136" y="2962656"/>
            <a:ext cx="205740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134E2D"/>
                </a:solidFill>
                <a:latin typeface="Arial"/>
              </a:rPr>
              <a:t>API definitions</a:t>
            </a:r>
          </a:p>
        </p:txBody>
      </p:sp>
      <p:sp>
        <p:nvSpPr>
          <p:cNvPr id="809" name="Text: NVIDIA. NCCL Device-Initiated Communication documentation. Checke"/>
          <p:cNvSpPr txBox="1"/>
          <p:nvPr/>
        </p:nvSpPr>
        <p:spPr>
          <a:xfrm>
            <a:off x="3218688" y="2962656"/>
            <a:ext cx="5212080"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NVIDIA. NCCL Device-Initiated Communication documentation. Checked 6 Oct 2026.</a:t>
            </a:r>
          </a:p>
        </p:txBody>
      </p:sp>
      <p:sp>
        <p:nvSpPr>
          <p:cNvPr id="810" name="Oval 809"/>
          <p:cNvSpPr/>
          <p:nvPr/>
        </p:nvSpPr>
        <p:spPr>
          <a:xfrm>
            <a:off x="694944" y="3438144"/>
            <a:ext cx="237744" cy="23774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Text: 5"/>
          <p:cNvSpPr txBox="1"/>
          <p:nvPr/>
        </p:nvSpPr>
        <p:spPr>
          <a:xfrm>
            <a:off x="694944" y="3447287"/>
            <a:ext cx="237744" cy="2194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5</a:t>
            </a:r>
          </a:p>
        </p:txBody>
      </p:sp>
      <p:sp>
        <p:nvSpPr>
          <p:cNvPr id="812" name="Text: Measured evidence"/>
          <p:cNvSpPr txBox="1"/>
          <p:nvPr/>
        </p:nvSpPr>
        <p:spPr>
          <a:xfrm>
            <a:off x="1088136" y="3410712"/>
            <a:ext cx="205740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134E2D"/>
                </a:solidFill>
                <a:latin typeface="Arial"/>
              </a:rPr>
              <a:t>Measured evidence</a:t>
            </a:r>
          </a:p>
        </p:txBody>
      </p:sp>
      <p:sp>
        <p:nvSpPr>
          <p:cNvPr id="813" name="Text: Retained main-campaign tables, solver summaries, and thesis metho"/>
          <p:cNvSpPr txBox="1"/>
          <p:nvPr/>
        </p:nvSpPr>
        <p:spPr>
          <a:xfrm>
            <a:off x="3218688" y="3410712"/>
            <a:ext cx="5212080"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Retained main-campaign tables, solver summaries, and thesis methodology.</a:t>
            </a:r>
          </a:p>
        </p:txBody>
      </p:sp>
      <p:sp>
        <p:nvSpPr>
          <p:cNvPr id="814" name="Oval 813"/>
          <p:cNvSpPr/>
          <p:nvPr/>
        </p:nvSpPr>
        <p:spPr>
          <a:xfrm>
            <a:off x="694944" y="3886200"/>
            <a:ext cx="237744" cy="23774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Text: 6"/>
          <p:cNvSpPr txBox="1"/>
          <p:nvPr/>
        </p:nvSpPr>
        <p:spPr>
          <a:xfrm>
            <a:off x="694944" y="3895344"/>
            <a:ext cx="237744" cy="219456"/>
          </a:xfrm>
          <a:prstGeom prst="rect">
            <a:avLst/>
          </a:prstGeom>
          <a:noFill/>
        </p:spPr>
        <p:txBody>
          <a:bodyPr wrap="square" lIns="0" rIns="0" tIns="0" bIns="0" anchor="ctr">
            <a:spAutoFit/>
          </a:bodyPr>
          <a:lstStyle/>
          <a:p>
            <a:pPr algn="ctr">
              <a:lnSpc>
                <a:spcPct val="107000"/>
              </a:lnSpc>
              <a:spcBef>
                <a:spcPts val="0"/>
              </a:spcBef>
              <a:spcAft>
                <a:spcPts val="300"/>
              </a:spcAft>
              <a:buNone/>
            </a:pPr>
            <a:r>
              <a:rPr sz="900" b="1">
                <a:solidFill>
                  <a:srgbClr val="FFFFFF"/>
                </a:solidFill>
                <a:latin typeface="Arial"/>
              </a:rPr>
              <a:t>6</a:t>
            </a:r>
          </a:p>
        </p:txBody>
      </p:sp>
      <p:sp>
        <p:nvSpPr>
          <p:cNvPr id="816" name="Text: Contributed software"/>
          <p:cNvSpPr txBox="1"/>
          <p:nvPr/>
        </p:nvSpPr>
        <p:spPr>
          <a:xfrm>
            <a:off x="1088136" y="3858768"/>
            <a:ext cx="2057400" cy="265176"/>
          </a:xfrm>
          <a:prstGeom prst="rect">
            <a:avLst/>
          </a:prstGeom>
          <a:noFill/>
        </p:spPr>
        <p:txBody>
          <a:bodyPr wrap="square" lIns="0" rIns="0" tIns="0" bIns="0" anchor="t">
            <a:spAutoFit/>
          </a:bodyPr>
          <a:lstStyle/>
          <a:p>
            <a:pPr algn="l">
              <a:lnSpc>
                <a:spcPct val="107000"/>
              </a:lnSpc>
              <a:spcBef>
                <a:spcPts val="0"/>
              </a:spcBef>
              <a:spcAft>
                <a:spcPts val="300"/>
              </a:spcAft>
              <a:buNone/>
            </a:pPr>
            <a:r>
              <a:rPr sz="1200" b="1">
                <a:solidFill>
                  <a:srgbClr val="134E2D"/>
                </a:solidFill>
                <a:latin typeface="Arial"/>
              </a:rPr>
              <a:t>Contributed software</a:t>
            </a:r>
          </a:p>
        </p:txBody>
      </p:sp>
      <p:sp>
        <p:nvSpPr>
          <p:cNvPr id="817" name="Text: Benchmark suite; three oneCCL extensions; OSHMPI and SYCL aCG ext"/>
          <p:cNvSpPr txBox="1"/>
          <p:nvPr/>
        </p:nvSpPr>
        <p:spPr>
          <a:xfrm>
            <a:off x="3218688" y="3858768"/>
            <a:ext cx="5212080" cy="384048"/>
          </a:xfrm>
          <a:prstGeom prst="rect">
            <a:avLst/>
          </a:prstGeom>
          <a:noFill/>
        </p:spPr>
        <p:txBody>
          <a:bodyPr wrap="square" lIns="0" rIns="0" tIns="0" bIns="0" anchor="t">
            <a:spAutoFit/>
          </a:bodyPr>
          <a:lstStyle/>
          <a:p>
            <a:pPr algn="l">
              <a:lnSpc>
                <a:spcPct val="107000"/>
              </a:lnSpc>
              <a:spcBef>
                <a:spcPts val="0"/>
              </a:spcBef>
              <a:spcAft>
                <a:spcPts val="300"/>
              </a:spcAft>
              <a:buNone/>
            </a:pPr>
            <a:r>
              <a:rPr sz="1000" b="0">
                <a:solidFill>
                  <a:srgbClr val="2E2E2E"/>
                </a:solidFill>
                <a:latin typeface="Arial"/>
              </a:rPr>
              <a:t>Benchmark suite; three oneCCL extensions; OSHMPI and SYCL aCG extensions.</a:t>
            </a:r>
          </a:p>
        </p:txBody>
      </p:sp>
      <p:sp>
        <p:nvSpPr>
          <p:cNvPr id="818" name="Text: Full citations, artifact identifiers, and data provenance are in "/>
          <p:cNvSpPr txBox="1"/>
          <p:nvPr/>
        </p:nvSpPr>
        <p:spPr>
          <a:xfrm>
            <a:off x="594360" y="4581144"/>
            <a:ext cx="7333488" cy="246888"/>
          </a:xfrm>
          <a:prstGeom prst="rect">
            <a:avLst/>
          </a:prstGeom>
          <a:noFill/>
        </p:spPr>
        <p:txBody>
          <a:bodyPr wrap="square" lIns="0" rIns="0" tIns="0" bIns="0" anchor="t">
            <a:spAutoFit/>
          </a:bodyPr>
          <a:lstStyle/>
          <a:p>
            <a:pPr algn="l">
              <a:lnSpc>
                <a:spcPct val="107000"/>
              </a:lnSpc>
              <a:spcBef>
                <a:spcPts val="0"/>
              </a:spcBef>
              <a:spcAft>
                <a:spcPts val="300"/>
              </a:spcAft>
              <a:buNone/>
            </a:pPr>
            <a:r>
              <a:rPr sz="800" b="0">
                <a:solidFill>
                  <a:srgbClr val="134E2D"/>
                </a:solidFill>
                <a:latin typeface="Arial"/>
              </a:rPr>
              <a:t>Full citations, artifact identifiers, and data provenance are in the speaker notes and presentation/source_manifest.json.</a:t>
            </a:r>
          </a:p>
        </p:txBody>
      </p:sp>
      <p:sp>
        <p:nvSpPr>
          <p:cNvPr id="819" name="Text: A6"/>
          <p:cNvSpPr txBox="1"/>
          <p:nvPr/>
        </p:nvSpPr>
        <p:spPr>
          <a:xfrm>
            <a:off x="7982712" y="4581144"/>
            <a:ext cx="548640" cy="201168"/>
          </a:xfrm>
          <a:prstGeom prst="rect">
            <a:avLst/>
          </a:prstGeom>
          <a:noFill/>
        </p:spPr>
        <p:txBody>
          <a:bodyPr wrap="square" lIns="0" rIns="0" tIns="0" bIns="0" anchor="t">
            <a:spAutoFit/>
          </a:bodyPr>
          <a:lstStyle/>
          <a:p>
            <a:pPr algn="r">
              <a:lnSpc>
                <a:spcPct val="107000"/>
              </a:lnSpc>
              <a:spcBef>
                <a:spcPts val="0"/>
              </a:spcBef>
              <a:spcAft>
                <a:spcPts val="300"/>
              </a:spcAft>
              <a:buNone/>
            </a:pPr>
            <a:r>
              <a:rPr sz="900" b="0">
                <a:solidFill>
                  <a:srgbClr val="134E2D"/>
                </a:solidFill>
                <a:latin typeface="Arial"/>
              </a:rPr>
              <a:t>A6</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Text: Choose for the application"/>
          <p:cNvSpPr txBox="1"/>
          <p:nvPr/>
        </p:nvSpPr>
        <p:spPr>
          <a:xfrm>
            <a:off x="758952" y="832104"/>
            <a:ext cx="7626096" cy="685800"/>
          </a:xfrm>
          <a:prstGeom prst="rect">
            <a:avLst/>
          </a:prstGeom>
          <a:noFill/>
        </p:spPr>
        <p:txBody>
          <a:bodyPr wrap="square" lIns="0" rIns="0" tIns="0" bIns="0" anchor="t">
            <a:spAutoFit/>
          </a:bodyPr>
          <a:lstStyle/>
          <a:p>
            <a:pPr algn="ctr">
              <a:lnSpc>
                <a:spcPct val="107000"/>
              </a:lnSpc>
              <a:spcBef>
                <a:spcPts val="0"/>
              </a:spcBef>
              <a:spcAft>
                <a:spcPts val="300"/>
              </a:spcAft>
              <a:buNone/>
            </a:pPr>
            <a:r>
              <a:rPr sz="3400" b="1">
                <a:solidFill>
                  <a:srgbClr val="134E2D"/>
                </a:solidFill>
                <a:latin typeface="Cambria"/>
              </a:rPr>
              <a:t>Choose for the application</a:t>
            </a:r>
          </a:p>
        </p:txBody>
      </p:sp>
      <p:sp>
        <p:nvSpPr>
          <p:cNvPr id="817" name="Oval 816"/>
          <p:cNvSpPr/>
          <p:nvPr/>
        </p:nvSpPr>
        <p:spPr>
          <a:xfrm>
            <a:off x="1033271" y="1847088"/>
            <a:ext cx="329184" cy="32918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Text: 1"/>
          <p:cNvSpPr txBox="1"/>
          <p:nvPr/>
        </p:nvSpPr>
        <p:spPr>
          <a:xfrm>
            <a:off x="1033271" y="1856231"/>
            <a:ext cx="329184" cy="310896"/>
          </a:xfrm>
          <a:prstGeom prst="rect">
            <a:avLst/>
          </a:prstGeom>
          <a:noFill/>
        </p:spPr>
        <p:txBody>
          <a:bodyPr wrap="square" lIns="0" rIns="0" tIns="0" bIns="0" anchor="ctr">
            <a:spAutoFit/>
          </a:bodyPr>
          <a:lstStyle/>
          <a:p>
            <a:pPr algn="ctr">
              <a:lnSpc>
                <a:spcPct val="107000"/>
              </a:lnSpc>
              <a:spcBef>
                <a:spcPts val="0"/>
              </a:spcBef>
              <a:spcAft>
                <a:spcPts val="300"/>
              </a:spcAft>
              <a:buNone/>
            </a:pPr>
            <a:r>
              <a:rPr sz="1200" b="1">
                <a:solidFill>
                  <a:srgbClr val="FFFFFF"/>
                </a:solidFill>
                <a:latin typeface="Arial"/>
              </a:rPr>
              <a:t>1</a:t>
            </a:r>
          </a:p>
        </p:txBody>
      </p:sp>
      <p:sp>
        <p:nvSpPr>
          <p:cNvPr id="819" name="Text: Match the pattern"/>
          <p:cNvSpPr txBox="1"/>
          <p:nvPr/>
        </p:nvSpPr>
        <p:spPr>
          <a:xfrm>
            <a:off x="1536192" y="1837943"/>
            <a:ext cx="2523744"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600" b="1">
                <a:solidFill>
                  <a:srgbClr val="134E2D"/>
                </a:solidFill>
                <a:latin typeface="Arial"/>
              </a:rPr>
              <a:t>Match the pattern</a:t>
            </a:r>
          </a:p>
        </p:txBody>
      </p:sp>
      <p:sp>
        <p:nvSpPr>
          <p:cNvPr id="820" name="Text: Payloads, peers, topology, and local work"/>
          <p:cNvSpPr txBox="1"/>
          <p:nvPr/>
        </p:nvSpPr>
        <p:spPr>
          <a:xfrm>
            <a:off x="4096512" y="1865376"/>
            <a:ext cx="3886200" cy="347472"/>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2E2E2E"/>
                </a:solidFill>
                <a:latin typeface="Arial"/>
              </a:rPr>
              <a:t>Payloads, peers, topology, and local work</a:t>
            </a:r>
          </a:p>
        </p:txBody>
      </p:sp>
      <p:sp>
        <p:nvSpPr>
          <p:cNvPr id="821" name="Oval 820"/>
          <p:cNvSpPr/>
          <p:nvPr/>
        </p:nvSpPr>
        <p:spPr>
          <a:xfrm>
            <a:off x="1033271" y="2414016"/>
            <a:ext cx="329184" cy="32918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Text: 2"/>
          <p:cNvSpPr txBox="1"/>
          <p:nvPr/>
        </p:nvSpPr>
        <p:spPr>
          <a:xfrm>
            <a:off x="1033271" y="2423160"/>
            <a:ext cx="329184" cy="310896"/>
          </a:xfrm>
          <a:prstGeom prst="rect">
            <a:avLst/>
          </a:prstGeom>
          <a:noFill/>
        </p:spPr>
        <p:txBody>
          <a:bodyPr wrap="square" lIns="0" rIns="0" tIns="0" bIns="0" anchor="ctr">
            <a:spAutoFit/>
          </a:bodyPr>
          <a:lstStyle/>
          <a:p>
            <a:pPr algn="ctr">
              <a:lnSpc>
                <a:spcPct val="107000"/>
              </a:lnSpc>
              <a:spcBef>
                <a:spcPts val="0"/>
              </a:spcBef>
              <a:spcAft>
                <a:spcPts val="300"/>
              </a:spcAft>
              <a:buNone/>
            </a:pPr>
            <a:r>
              <a:rPr sz="1200" b="1">
                <a:solidFill>
                  <a:srgbClr val="FFFFFF"/>
                </a:solidFill>
                <a:latin typeface="Arial"/>
              </a:rPr>
              <a:t>2</a:t>
            </a:r>
          </a:p>
        </p:txBody>
      </p:sp>
      <p:sp>
        <p:nvSpPr>
          <p:cNvPr id="823" name="Text: Match completion"/>
          <p:cNvSpPr txBox="1"/>
          <p:nvPr/>
        </p:nvSpPr>
        <p:spPr>
          <a:xfrm>
            <a:off x="1536192" y="2404872"/>
            <a:ext cx="2523744"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600" b="1">
                <a:solidFill>
                  <a:srgbClr val="134E2D"/>
                </a:solidFill>
                <a:latin typeface="Arial"/>
              </a:rPr>
              <a:t>Match completion</a:t>
            </a:r>
          </a:p>
        </p:txBody>
      </p:sp>
      <p:sp>
        <p:nvSpPr>
          <p:cNvPr id="824" name="Text: Where the result is ready and who can use it"/>
          <p:cNvSpPr txBox="1"/>
          <p:nvPr/>
        </p:nvSpPr>
        <p:spPr>
          <a:xfrm>
            <a:off x="4096512" y="2432304"/>
            <a:ext cx="3886200" cy="347472"/>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2E2E2E"/>
                </a:solidFill>
                <a:latin typeface="Arial"/>
              </a:rPr>
              <a:t>Where the result is ready and who can use it</a:t>
            </a:r>
          </a:p>
        </p:txBody>
      </p:sp>
      <p:sp>
        <p:nvSpPr>
          <p:cNvPr id="825" name="Oval 824"/>
          <p:cNvSpPr/>
          <p:nvPr/>
        </p:nvSpPr>
        <p:spPr>
          <a:xfrm>
            <a:off x="1033271" y="2980944"/>
            <a:ext cx="329184" cy="329184"/>
          </a:xfrm>
          <a:prstGeom prst="ellipse">
            <a:avLst/>
          </a:prstGeom>
          <a:solidFill>
            <a:srgbClr val="13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Text: 3"/>
          <p:cNvSpPr txBox="1"/>
          <p:nvPr/>
        </p:nvSpPr>
        <p:spPr>
          <a:xfrm>
            <a:off x="1033271" y="2990087"/>
            <a:ext cx="329184" cy="310896"/>
          </a:xfrm>
          <a:prstGeom prst="rect">
            <a:avLst/>
          </a:prstGeom>
          <a:noFill/>
        </p:spPr>
        <p:txBody>
          <a:bodyPr wrap="square" lIns="0" rIns="0" tIns="0" bIns="0" anchor="ctr">
            <a:spAutoFit/>
          </a:bodyPr>
          <a:lstStyle/>
          <a:p>
            <a:pPr algn="ctr">
              <a:lnSpc>
                <a:spcPct val="107000"/>
              </a:lnSpc>
              <a:spcBef>
                <a:spcPts val="0"/>
              </a:spcBef>
              <a:spcAft>
                <a:spcPts val="300"/>
              </a:spcAft>
              <a:buNone/>
            </a:pPr>
            <a:r>
              <a:rPr sz="1200" b="1">
                <a:solidFill>
                  <a:srgbClr val="FFFFFF"/>
                </a:solidFill>
                <a:latin typeface="Arial"/>
              </a:rPr>
              <a:t>3</a:t>
            </a:r>
          </a:p>
        </p:txBody>
      </p:sp>
      <p:sp>
        <p:nvSpPr>
          <p:cNvPr id="827" name="Text: Validate the solver"/>
          <p:cNvSpPr txBox="1"/>
          <p:nvPr/>
        </p:nvSpPr>
        <p:spPr>
          <a:xfrm>
            <a:off x="1536192" y="2971800"/>
            <a:ext cx="2523744" cy="329184"/>
          </a:xfrm>
          <a:prstGeom prst="rect">
            <a:avLst/>
          </a:prstGeom>
          <a:noFill/>
        </p:spPr>
        <p:txBody>
          <a:bodyPr wrap="square" lIns="0" rIns="0" tIns="0" bIns="0" anchor="t">
            <a:spAutoFit/>
          </a:bodyPr>
          <a:lstStyle/>
          <a:p>
            <a:pPr algn="l">
              <a:lnSpc>
                <a:spcPct val="107000"/>
              </a:lnSpc>
              <a:spcBef>
                <a:spcPts val="0"/>
              </a:spcBef>
              <a:spcAft>
                <a:spcPts val="300"/>
              </a:spcAft>
              <a:buNone/>
            </a:pPr>
            <a:r>
              <a:rPr sz="1600" b="1">
                <a:solidFill>
                  <a:srgbClr val="134E2D"/>
                </a:solidFill>
                <a:latin typeface="Arial"/>
              </a:rPr>
              <a:t>Validate the solver</a:t>
            </a:r>
          </a:p>
        </p:txBody>
      </p:sp>
      <p:sp>
        <p:nvSpPr>
          <p:cNvPr id="828" name="Text: Measure the waiting that remains exposed"/>
          <p:cNvSpPr txBox="1"/>
          <p:nvPr/>
        </p:nvSpPr>
        <p:spPr>
          <a:xfrm>
            <a:off x="4096512" y="2999232"/>
            <a:ext cx="3886200" cy="347472"/>
          </a:xfrm>
          <a:prstGeom prst="rect">
            <a:avLst/>
          </a:prstGeom>
          <a:noFill/>
        </p:spPr>
        <p:txBody>
          <a:bodyPr wrap="square" lIns="0" rIns="0" tIns="0" bIns="0" anchor="t">
            <a:spAutoFit/>
          </a:bodyPr>
          <a:lstStyle/>
          <a:p>
            <a:pPr algn="l">
              <a:lnSpc>
                <a:spcPct val="107000"/>
              </a:lnSpc>
              <a:spcBef>
                <a:spcPts val="0"/>
              </a:spcBef>
              <a:spcAft>
                <a:spcPts val="300"/>
              </a:spcAft>
              <a:buNone/>
            </a:pPr>
            <a:r>
              <a:rPr sz="1300" b="0">
                <a:solidFill>
                  <a:srgbClr val="2E2E2E"/>
                </a:solidFill>
                <a:latin typeface="Arial"/>
              </a:rPr>
              <a:t>Measure the waiting that remains exposed</a:t>
            </a:r>
          </a:p>
        </p:txBody>
      </p:sp>
      <p:sp>
        <p:nvSpPr>
          <p:cNvPr id="829" name="Text: Thank you · Questions?"/>
          <p:cNvSpPr txBox="1"/>
          <p:nvPr/>
        </p:nvSpPr>
        <p:spPr>
          <a:xfrm>
            <a:off x="1828800" y="3813048"/>
            <a:ext cx="5486400" cy="438912"/>
          </a:xfrm>
          <a:prstGeom prst="rect">
            <a:avLst/>
          </a:prstGeom>
          <a:noFill/>
        </p:spPr>
        <p:txBody>
          <a:bodyPr wrap="square" lIns="0" rIns="0" tIns="0" bIns="0" anchor="t">
            <a:spAutoFit/>
          </a:bodyPr>
          <a:lstStyle/>
          <a:p>
            <a:pPr algn="ctr">
              <a:lnSpc>
                <a:spcPct val="107000"/>
              </a:lnSpc>
              <a:spcBef>
                <a:spcPts val="0"/>
              </a:spcBef>
              <a:spcAft>
                <a:spcPts val="300"/>
              </a:spcAft>
              <a:buNone/>
            </a:pPr>
            <a:r>
              <a:rPr sz="2300" b="1">
                <a:solidFill>
                  <a:srgbClr val="134E2D"/>
                </a:solidFill>
                <a:latin typeface="Cambria"/>
              </a:rPr>
              <a:t>Thank you · Questions?</a:t>
            </a:r>
          </a:p>
        </p:txBody>
      </p:sp>
    </p:spTree>
  </p:cSld>
  <p:clrMapOvr>
    <a:masterClrMapping/>
  </p:clrMapOvr>
</p:sld>
</file>

<file path=ppt/theme/theme1.xml><?xml version="1.0" encoding="utf-8"?>
<a:theme xmlns:a="http://schemas.openxmlformats.org/drawingml/2006/main" xmlns:r="http://schemas.openxmlformats.org/officeDocument/2006/relationships" name="Greenwashing Impact Thesis Defense by Slidesgo">
  <a:themeElements>
    <a:clrScheme name="Simple Light">
      <a:dk1>
        <a:srgbClr val="134E2D"/>
      </a:dk1>
      <a:lt1>
        <a:srgbClr val="2E2E2E"/>
      </a:lt1>
      <a:dk2>
        <a:srgbClr val="FFFFFF"/>
      </a:dk2>
      <a:lt2>
        <a:srgbClr val="07902A"/>
      </a:lt2>
      <a:accent1>
        <a:srgbClr val="7EB730"/>
      </a:accent1>
      <a:accent2>
        <a:srgbClr val="23B759"/>
      </a:accent2>
      <a:accent3>
        <a:srgbClr val="FFFFFF"/>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GPU-Initiated Communication and Application Scalability</dc:title>
  <cp:lastModifiedBy>python-pptx</cp:lastModifiedBy>
  <cp:revision>1</cp:revision>
  <dcterms:modified xsi:type="dcterms:W3CDTF">2026-10-05T22:27:38Z</dcterms:modified>
  <dc:subject>Master's thesis defense — 15 minutes</dc:subject>
  <dc:creator>Franco Nicolas Merenda</dc:creator>
  <cp:keywords>GPU communication, NVSHMEM, NCCL, MPI, oneCCL, SYCL, CG</cp:keywords>
  <dc:description>Built from thesis_style.pptx and retained thesis evidence.</dc:description>
</cp:coreProperties>
</file>